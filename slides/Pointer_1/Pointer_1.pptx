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3"/>
  </p:notesMasterIdLst>
  <p:sldIdLst>
    <p:sldId id="256" r:id="rId3"/>
    <p:sldId id="268" r:id="rId4"/>
    <p:sldId id="302" r:id="rId5"/>
    <p:sldId id="317" r:id="rId6"/>
    <p:sldId id="318" r:id="rId7"/>
    <p:sldId id="319" r:id="rId8"/>
    <p:sldId id="321" r:id="rId9"/>
    <p:sldId id="323" r:id="rId10"/>
    <p:sldId id="322" r:id="rId11"/>
    <p:sldId id="316" r:id="rId12"/>
  </p:sldIdLst>
  <p:sldSz cx="9144000" cy="5143500" type="screen16x9"/>
  <p:notesSz cx="6858000" cy="9144000"/>
  <p:embeddedFontLst>
    <p:embeddedFont>
      <p:font typeface="Eras Medium ITC" panose="020B0602030504020804" pitchFamily="34" charset="0"/>
      <p:regular r:id="rId14"/>
    </p:embeddedFont>
    <p:embeddedFont>
      <p:font typeface="Fira Code" panose="020B0809050000020004" pitchFamily="49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4" autoAdjust="0"/>
    <p:restoredTop sz="90920" autoAdjust="0"/>
  </p:normalViewPr>
  <p:slideViewPr>
    <p:cSldViewPr snapToGrid="0">
      <p:cViewPr varScale="1">
        <p:scale>
          <a:sx n="133" d="100"/>
          <a:sy n="133" d="100"/>
        </p:scale>
        <p:origin x="96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0633D6D3-71FC-F4FA-C657-A296DF80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E3F4101-3A16-6627-4C49-D5815B0BF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FCC4F662-6662-76EA-0FC7-C3D2D3270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2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315DE8A0-24CB-47E8-4C10-02C51734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979BB87-6F70-F36E-4F09-D4FFA0496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4A1EA922-8050-D243-53AC-A4AA500AC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44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06350378-B4EE-BE17-51AB-B3747213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5FB3BDD9-980A-3DA6-F51B-C9A86DF24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0C71DACE-CAB5-2CBB-78EE-4E9D1CAF8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322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E7175A0-34F4-7A57-1980-8F35A098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89DC85D2-D543-CE97-3D58-C0CF586E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6A415ED5-8B20-A10C-908F-D6FEDD504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7628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DED4C0A-B2E1-8028-18AD-5656DF7A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0828171-E043-9052-35DE-234271760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8823315C-9833-3F7E-7BBB-B3CB0E69E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8493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F827FD26-3392-96F0-8E1F-5EE87B1F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9C06DC0-47BE-E4A4-3932-A1FF3860B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DFF9CFCC-D069-48DB-94D7-62D256D47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791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3E319A7-71A1-1334-70CA-C0F832B2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BA91C89-9D91-0602-626F-D06756924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B1F8178-391D-CC6D-D2CB-6C035559D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647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79718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81687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09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41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2270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11034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72580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BD535-FD73-68B5-4BE5-860DA054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D45637-B11C-F7F6-DCA4-E0AE67DAF9EE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241D8-4EDA-5CE1-0015-3864259E023C}"/>
              </a:ext>
            </a:extLst>
          </p:cNvPr>
          <p:cNvSpPr txBox="1"/>
          <p:nvPr/>
        </p:nvSpPr>
        <p:spPr>
          <a:xfrm>
            <a:off x="427234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Pointers 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7883D40C-C45D-E65E-55F1-8C32CA9B554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170675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Pinters and Memory address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05895" y="757579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The picture shows the model of memory.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5D1F74F-26AC-B649-41DF-9B743FD77529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and Memory addresses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2052E68-90C5-A5ED-7E12-6803CFDEB8A4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CCB60C1-E6B0-EE92-1FFF-21CB6A86A0F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pic>
        <p:nvPicPr>
          <p:cNvPr id="1030" name="Picture 6" descr="6.4. Main Memory — CS160 Reader">
            <a:extLst>
              <a:ext uri="{FF2B5EF4-FFF2-40B4-BE49-F238E27FC236}">
                <a16:creationId xmlns:a16="http://schemas.microsoft.com/office/drawing/2014/main" id="{BF38675C-9279-9267-B0ED-E1A4B6749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75" y="1227663"/>
            <a:ext cx="1860000" cy="259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2F7EB4-9D19-8FC0-08D8-24AE82CAB836}"/>
              </a:ext>
            </a:extLst>
          </p:cNvPr>
          <p:cNvSpPr txBox="1"/>
          <p:nvPr/>
        </p:nvSpPr>
        <p:spPr>
          <a:xfrm>
            <a:off x="1057495" y="1481831"/>
            <a:ext cx="4767305" cy="107721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Every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content (value)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which is stored in RAM is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indexed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by an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77979-4B9C-F21C-A719-F62B25EEF7EC}"/>
              </a:ext>
            </a:extLst>
          </p:cNvPr>
          <p:cNvSpPr txBox="1"/>
          <p:nvPr/>
        </p:nvSpPr>
        <p:spPr>
          <a:xfrm>
            <a:off x="1057495" y="2557656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Those values are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accessible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by their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0109647-842A-FA0F-BCEF-39956463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0F537B3-6F71-515D-4CD0-5EB743C73B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8E71DA8-A0ED-C105-9D0B-6BDB375CF1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0DD4D-B6B7-A9E0-C955-9A628E34D7CC}"/>
              </a:ext>
            </a:extLst>
          </p:cNvPr>
          <p:cNvSpPr txBox="1"/>
          <p:nvPr/>
        </p:nvSpPr>
        <p:spPr>
          <a:xfrm>
            <a:off x="1005895" y="10711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237FED5-F25B-A809-0DB4-497AD63AD660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Operators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58031A29-370A-9986-408E-312B34422A6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0CE75D19-EC81-6B0C-E86D-2A93B917E5F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374EC-3C27-3CFA-BEBF-BF6CCCCCDA1C}"/>
              </a:ext>
            </a:extLst>
          </p:cNvPr>
          <p:cNvSpPr txBox="1"/>
          <p:nvPr/>
        </p:nvSpPr>
        <p:spPr>
          <a:xfrm>
            <a:off x="1159200" y="1162024"/>
            <a:ext cx="767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pointer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is a variable that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stores the address 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of another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variable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B93AD-DF67-89E5-7C61-D1AAD3475FC7}"/>
              </a:ext>
            </a:extLst>
          </p:cNvPr>
          <p:cNvSpPr txBox="1"/>
          <p:nvPr/>
        </p:nvSpPr>
        <p:spPr>
          <a:xfrm>
            <a:off x="1159200" y="13297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Pointers have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type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and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value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FEBBD-5D11-F844-5588-BC97B30C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800" y="2141482"/>
            <a:ext cx="3964875" cy="2127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5C091F-08E6-F2AE-74D4-D034582F1B18}"/>
              </a:ext>
            </a:extLst>
          </p:cNvPr>
          <p:cNvSpPr txBox="1"/>
          <p:nvPr/>
        </p:nvSpPr>
        <p:spPr>
          <a:xfrm>
            <a:off x="1000153" y="2324590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74342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AD5AFF4-E77B-D2B8-B009-349FE0D2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11EC1AC-DCBE-3C9C-8963-C1E66DF492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F5D96283-C24D-AEEB-C259-F52AE1B16D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D5937-7794-69FA-E8F8-B1BD6E6DB8FF}"/>
              </a:ext>
            </a:extLst>
          </p:cNvPr>
          <p:cNvSpPr txBox="1"/>
          <p:nvPr/>
        </p:nvSpPr>
        <p:spPr>
          <a:xfrm>
            <a:off x="1005895" y="10711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21FA8A12-2F5B-2747-4FEB-601A12AEA0F2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Operators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806E9A70-0E01-B636-AF27-2F94AE7D3CF0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283DBEC-60FF-5051-6267-AE657D54EC24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059D4-B0B5-56E3-C30B-87E861324D2D}"/>
              </a:ext>
            </a:extLst>
          </p:cNvPr>
          <p:cNvSpPr txBox="1"/>
          <p:nvPr/>
        </p:nvSpPr>
        <p:spPr>
          <a:xfrm>
            <a:off x="1159200" y="1329752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Let’s recap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operators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for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88D35-A56E-1DC5-F2D3-1E36944109C0}"/>
              </a:ext>
            </a:extLst>
          </p:cNvPr>
          <p:cNvSpPr txBox="1"/>
          <p:nvPr/>
        </p:nvSpPr>
        <p:spPr>
          <a:xfrm>
            <a:off x="1856953" y="1790244"/>
            <a:ext cx="7993294" cy="132343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operator: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Eras Medium ITC" panose="020B0602030504020804" pitchFamily="34" charset="0"/>
                <a:ea typeface="Fira Code"/>
                <a:cs typeface="B Nazanin" panose="00000400000000000000" pitchFamily="2" charset="-78"/>
                <a:sym typeface="Fira Code"/>
              </a:rPr>
              <a:t>&amp;</a:t>
            </a: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Dereference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Operator: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*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085C1-F5C1-AA1D-84D9-F1F207392A2D}"/>
              </a:ext>
            </a:extLst>
          </p:cNvPr>
          <p:cNvSpPr txBox="1"/>
          <p:nvPr/>
        </p:nvSpPr>
        <p:spPr>
          <a:xfrm>
            <a:off x="1225200" y="3359904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Review what you have learnt for declaring pointers.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50059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B4AE3C7B-E844-44C4-5438-4D4389BD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D91FC548-C6E8-20A2-98AF-7AE3DE296F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01528FDB-523F-60D9-EC66-72A0D466D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DE0B6-745E-45D7-5621-11A2414CBA2F}"/>
              </a:ext>
            </a:extLst>
          </p:cNvPr>
          <p:cNvSpPr txBox="1"/>
          <p:nvPr/>
        </p:nvSpPr>
        <p:spPr>
          <a:xfrm>
            <a:off x="1005895" y="1071152"/>
            <a:ext cx="4163705" cy="181588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What are the output of the following?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(first guess the output without coding it)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D0486A7-DC8E-35B7-302E-AC8D1944FC8A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Arithmetic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440A0E6F-7684-EFBD-A28B-A81C894D5D8D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FABE45E8-60BC-EE19-1E7C-8F7576967CB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F3FBA-6077-0860-5907-8F305F7FE593}"/>
              </a:ext>
            </a:extLst>
          </p:cNvPr>
          <p:cNvSpPr txBox="1"/>
          <p:nvPr/>
        </p:nvSpPr>
        <p:spPr>
          <a:xfrm>
            <a:off x="1000153" y="2324590"/>
            <a:ext cx="4248647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90CE6-9FC7-F02D-F771-172EDE77D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568" y="1596474"/>
            <a:ext cx="3610479" cy="2191056"/>
          </a:xfrm>
          <a:prstGeom prst="rect">
            <a:avLst/>
          </a:prstGeom>
        </p:spPr>
      </p:pic>
      <p:sp>
        <p:nvSpPr>
          <p:cNvPr id="8" name="Google Shape;465;p27">
            <a:extLst>
              <a:ext uri="{FF2B5EF4-FFF2-40B4-BE49-F238E27FC236}">
                <a16:creationId xmlns:a16="http://schemas.microsoft.com/office/drawing/2014/main" id="{572B2D53-BBFD-F609-F4C4-8DED2D9A173C}"/>
              </a:ext>
            </a:extLst>
          </p:cNvPr>
          <p:cNvSpPr txBox="1">
            <a:spLocks/>
          </p:cNvSpPr>
          <p:nvPr/>
        </p:nvSpPr>
        <p:spPr>
          <a:xfrm>
            <a:off x="4566025" y="7830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370294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C7DC779-ECE7-E8D5-7452-71343CC5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06E0ADD8-DF97-A77E-3E7B-F1B3B864CD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B96C66EA-0B85-3CBD-69FF-E0A85C41D1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BA291-8C3A-5F1C-9701-0BC4AC882D01}"/>
              </a:ext>
            </a:extLst>
          </p:cNvPr>
          <p:cNvSpPr txBox="1"/>
          <p:nvPr/>
        </p:nvSpPr>
        <p:spPr>
          <a:xfrm>
            <a:off x="1051400" y="911051"/>
            <a:ext cx="4221305" cy="206210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Run the given program and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justify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the result. 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Do the results make sense?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082FC996-F4B4-683A-0E66-2ABF4BA6100E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Arithmetic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BF513711-14A3-1347-11F8-18559EB95F4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C4FBF0E7-B769-FFC9-81DF-66D83E75D9B1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AE87ABCC-3872-798B-F27E-445C5B472703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D46FC-6F32-95E9-69DB-93D2FA25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158" y="1170406"/>
            <a:ext cx="3657359" cy="20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8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D71D6C0-A7FA-741E-1351-13D41BA9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C402AF2-B9F0-E273-2AD8-3370DA5675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Encoding.c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435B9D9-BF43-0A47-B091-8F90DFBCB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3A738164-6658-4E87-2FB9-31C7E8CA39F1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Array of Pointers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61DA982-477D-CEB2-4B7F-B660C27333C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45DE7606-1663-D4DE-BA32-1AB5827C4C9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AACFBE81-7901-843B-C75A-DCC3254D0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155" y="2847064"/>
            <a:ext cx="2784325" cy="13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DB51C8-6211-9EA9-0715-B4F4D8EE246A}"/>
              </a:ext>
            </a:extLst>
          </p:cNvPr>
          <p:cNvSpPr txBox="1"/>
          <p:nvPr/>
        </p:nvSpPr>
        <p:spPr>
          <a:xfrm>
            <a:off x="1051400" y="876981"/>
            <a:ext cx="4221305" cy="3231654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Complete the program to have array of pointers.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Each of pointers should point to each of defined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variables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Traverse the array and print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value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of variables and their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l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What is the difference between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 to array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and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array of pointers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698AA-7D7A-72AA-5F35-5ED4731C9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662" y="904273"/>
            <a:ext cx="2963313" cy="1515077"/>
          </a:xfrm>
          <a:prstGeom prst="rect">
            <a:avLst/>
          </a:prstGeom>
        </p:spPr>
      </p:pic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E02363CA-3E4A-E9A5-2A16-3F0F0267C031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85512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59643B0A-EEF4-6B12-C6A0-76610F92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5F6E5DE8-E3CE-2261-F379-D0D057D35B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14B461C-3C78-74FD-704B-5CF98F528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12F86-F2D2-7911-B78B-022647247E30}"/>
              </a:ext>
            </a:extLst>
          </p:cNvPr>
          <p:cNvSpPr txBox="1"/>
          <p:nvPr/>
        </p:nvSpPr>
        <p:spPr>
          <a:xfrm>
            <a:off x="1051400" y="911051"/>
            <a:ext cx="4221305" cy="255454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Predict the output of the code</a:t>
            </a: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without compiling it. 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Why dose it output such a result? </a:t>
            </a: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DB7C1AB-FE93-36B5-B465-5259FD1F9CD7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to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4D8A52B-745D-AD2D-59A1-E20F91153CD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68ADAAB-D7E2-D822-5356-2994721D059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7B621B67-AE36-1638-B427-357059D7FAEF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7090FB-6ECD-B8AD-53DA-31D1459F6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625" y="1800995"/>
            <a:ext cx="4274843" cy="227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867973E8-309B-D235-E203-A46CFF25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8B5F3C1-C0A6-E61B-F5BA-7BCF17FCEF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84876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HW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CB363D7A-E969-BCDA-AC9A-2C5E75274E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54A43F61-8DD3-1EEA-1990-B67776C0ECC5}"/>
              </a:ext>
            </a:extLst>
          </p:cNvPr>
          <p:cNvSpPr txBox="1">
            <a:spLocks/>
          </p:cNvSpPr>
          <p:nvPr/>
        </p:nvSpPr>
        <p:spPr>
          <a:xfrm>
            <a:off x="1005895" y="95486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1226E-6F79-2ACF-F863-0B8EE3F7328B}"/>
              </a:ext>
            </a:extLst>
          </p:cNvPr>
          <p:cNvSpPr txBox="1"/>
          <p:nvPr/>
        </p:nvSpPr>
        <p:spPr>
          <a:xfrm>
            <a:off x="950400" y="950886"/>
            <a:ext cx="7995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27D7923B-9E1B-B91A-362D-D18FF2A0516B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E04F1622-1905-2CA2-F30C-23BEBD4FF94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3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r>
              <a:rPr lang="fa-IR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B0FC5-DBD4-9170-45A2-50AE55E852A5}"/>
              </a:ext>
            </a:extLst>
          </p:cNvPr>
          <p:cNvSpPr txBox="1"/>
          <p:nvPr/>
        </p:nvSpPr>
        <p:spPr>
          <a:xfrm>
            <a:off x="1292400" y="1166329"/>
            <a:ext cx="765389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Assignment: 7.12 —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Card Shuffling and Dealing: Dealing Poker Hands</a:t>
            </a:r>
          </a:p>
          <a:p>
            <a:b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Source: C How to Program, 9th Edition (Deitel)</a:t>
            </a:r>
          </a:p>
          <a:p>
            <a:endParaRPr lang="en-US" sz="18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You should write functions for a-f parts.</a:t>
            </a:r>
          </a:p>
        </p:txBody>
      </p:sp>
    </p:spTree>
    <p:extLst>
      <p:ext uri="{BB962C8B-B14F-4D97-AF65-F5344CB8AC3E}">
        <p14:creationId xmlns:p14="http://schemas.microsoft.com/office/powerpoint/2010/main" val="1614182316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305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Fira Code</vt:lpstr>
      <vt:lpstr>Arial</vt:lpstr>
      <vt:lpstr>Eras Medium ITC</vt:lpstr>
      <vt:lpstr>Programming Language Workshop for Beginners by Slidesgo</vt:lpstr>
      <vt:lpstr>1_Programming Language Workshop for Beginners by Slidesgo</vt:lpstr>
      <vt:lpstr>PowerPoint Presentation</vt:lpstr>
      <vt:lpstr>Pinters and Memory address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37</cp:revision>
  <dcterms:modified xsi:type="dcterms:W3CDTF">2025-09-01T13:37:39Z</dcterms:modified>
</cp:coreProperties>
</file>