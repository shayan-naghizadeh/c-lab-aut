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256" r:id="rId2"/>
    <p:sldId id="268" r:id="rId3"/>
    <p:sldId id="317" r:id="rId4"/>
    <p:sldId id="257" r:id="rId5"/>
    <p:sldId id="315" r:id="rId6"/>
    <p:sldId id="316" r:id="rId7"/>
    <p:sldId id="311" r:id="rId8"/>
    <p:sldId id="301" r:id="rId9"/>
    <p:sldId id="302" r:id="rId10"/>
    <p:sldId id="304" r:id="rId11"/>
    <p:sldId id="312" r:id="rId12"/>
    <p:sldId id="305" r:id="rId13"/>
    <p:sldId id="313" r:id="rId14"/>
    <p:sldId id="314" r:id="rId15"/>
    <p:sldId id="303" r:id="rId16"/>
  </p:sldIdLst>
  <p:sldSz cx="9144000" cy="5143500" type="screen16x9"/>
  <p:notesSz cx="6858000" cy="9144000"/>
  <p:embeddedFontLst>
    <p:embeddedFont>
      <p:font typeface="B Nazanin" panose="00000400000000000000" pitchFamily="2" charset="-78"/>
      <p:regular r:id="rId18"/>
      <p:bold r:id="rId19"/>
    </p:embeddedFont>
    <p:embeddedFont>
      <p:font typeface="Cambria Math" panose="02040503050406030204" pitchFamily="18" charset="0"/>
      <p:regular r:id="rId20"/>
    </p:embeddedFont>
    <p:embeddedFont>
      <p:font typeface="Fira Code" panose="020B0809050000020004" pitchFamily="49" charset="0"/>
      <p:regular r:id="rId21"/>
      <p:bold r:id="rId22"/>
    </p:embeddedFont>
    <p:embeddedFont>
      <p:font typeface="Lalezar" panose="00000500000000000000" pitchFamily="2" charset="-78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2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0DBF483-6B8A-9ACF-015A-139B2716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4CE0E88F-3060-7502-443F-0145264A60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9ABDE0FE-A742-ED21-BC3C-F33BC1AB77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9778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FD255F0A-1754-C387-727C-CAB8691DF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4556672B-4B6A-89C7-83BF-17967D40A9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60574E77-1266-81E2-E205-57ADD21C77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5543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EBA7CAD5-5180-F7CF-BCF2-3A01BED2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E358CAE2-A48B-A939-7CCD-1A3EC779ED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78CBE827-BAA0-E16E-C541-FF19C84F51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5254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842DDE1C-4E98-0865-CB77-09CA5FB70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3308E42A-C71A-77B3-5C71-97F6F8CB2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3575A70-B145-DA08-1DDB-2F81CABF6A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990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1FCFDB7F-8415-BBE7-93E9-7DF0CBFE0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E5661E0C-59C7-0A0E-5949-24C143BDCF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C511FC1-86F2-AC8C-A599-8836B4BF81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3843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C986BD86-A03F-4F4B-AB60-0F5C12C06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5519F06-BEF0-905A-E155-3E2346CA15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24656811-946F-AD7F-285F-EFCCBFB5B5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647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2EAF4CD9-A39C-30B0-E93C-0E4C15F9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290524AA-CB47-E01F-57EA-703619530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F6789529-2971-DA33-A989-EF14FFAFF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4525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BACC95F-D8DD-A502-3409-502BA38AD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C1678C49-6A7D-3D35-8323-8215CA5F56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CDBF65B9-F673-6623-0867-BDC5B47F6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6896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FC6BC590-137D-66B5-B0F2-1FA3A298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C1900646-734D-5706-6A05-E267C0FC0A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763453E1-DE64-012A-7D35-B37EE1796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9580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C5A19A62-BF95-8A4F-DCA5-6D3694007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7B5AC431-433B-F799-C61E-5A7DF5E74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AB627F1E-A172-67B9-2572-34D2858566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4519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C575E54B-1A75-FDD7-21F7-2218B21AC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99031079-C4D8-0CC1-4BB2-FC58C34920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A3191301-0A1D-DF29-542D-AA16F7F00D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88495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22D04C8-845E-A9EE-7E92-A82E72607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5578B2AE-7C78-013C-692C-757063E4CF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2E987450-E7FD-1A70-7A0E-44EBFB1DB3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802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8" r:id="rId4"/>
    <p:sldLayoutId id="2147483669" r:id="rId5"/>
    <p:sldLayoutId id="214748367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#1</a:t>
            </a:r>
            <a:endParaRPr sz="1100" dirty="0"/>
          </a:p>
        </p:txBody>
      </p:sp>
      <p:sp>
        <p:nvSpPr>
          <p:cNvPr id="465" name="Google Shape;465;p27"/>
          <p:cNvSpPr txBox="1">
            <a:spLocks noGrp="1"/>
          </p:cNvSpPr>
          <p:nvPr>
            <p:ph type="subTitle" idx="1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 err="1"/>
              <a:t>Function.c</a:t>
            </a:r>
            <a:endParaRPr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7936E9-7FC1-30C1-7397-1B2AB8776D29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613" y="759349"/>
            <a:ext cx="2106820" cy="1900123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453E56-EC32-C5A9-7C2B-A7AEA24CFF8C}"/>
              </a:ext>
            </a:extLst>
          </p:cNvPr>
          <p:cNvSpPr txBox="1"/>
          <p:nvPr/>
        </p:nvSpPr>
        <p:spPr>
          <a:xfrm>
            <a:off x="3119787" y="2815859"/>
            <a:ext cx="2892474" cy="36933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fa-IR" sz="1800" b="1" dirty="0">
                <a:latin typeface="Lalezar" panose="00000500000000000000" pitchFamily="2" charset="-78"/>
                <a:cs typeface="B Nazanin" panose="00000400000000000000" pitchFamily="2" charset="-78"/>
                <a:sym typeface="Roboto Black"/>
              </a:rPr>
              <a:t>کارگاه مبانی برنامه‌نویسی </a:t>
            </a:r>
            <a:endParaRPr lang="en-US" sz="1800" b="1" dirty="0">
              <a:cs typeface="B Nazanin" panose="00000400000000000000" pitchFamily="2" charset="-78"/>
            </a:endParaRP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710124" y="542575"/>
            <a:ext cx="4853393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Loops and Repetions 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815" name="Google Shape;815;p39"/>
          <p:cNvSpPr txBox="1"/>
          <p:nvPr/>
        </p:nvSpPr>
        <p:spPr>
          <a:xfrm>
            <a:off x="710125" y="2395800"/>
            <a:ext cx="50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6"/>
                </a:solidFill>
                <a:latin typeface="Fira Code"/>
                <a:ea typeface="Fira Code"/>
                <a:cs typeface="Fira Code"/>
                <a:sym typeface="Fira Code"/>
              </a:rPr>
              <a:t>}</a:t>
            </a:r>
            <a:endParaRPr sz="3000">
              <a:solidFill>
                <a:schemeClr val="accent6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cxnSp>
        <p:nvCxnSpPr>
          <p:cNvPr id="816" name="Google Shape;816;p39"/>
          <p:cNvCxnSpPr>
            <a:endCxn id="815" idx="0"/>
          </p:cNvCxnSpPr>
          <p:nvPr/>
        </p:nvCxnSpPr>
        <p:spPr>
          <a:xfrm>
            <a:off x="963175" y="1954200"/>
            <a:ext cx="0" cy="441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5045F474-0D37-AAEA-E779-B945B904D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B4D7C22E-B710-C4AA-83A4-5607308F23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Loops in Mathematics 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044F11C4-80AD-4680-3211-15F3AA69F22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688B9FA-7C35-02B0-3F58-2474DA78DD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loop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EB8C1CBD-790B-6F9B-D992-AE4EF8AEFF8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1B23537C-EDDE-7549-5A00-E6396B849979}"/>
              </a:ext>
            </a:extLst>
          </p:cNvPr>
          <p:cNvSpPr txBox="1"/>
          <p:nvPr/>
        </p:nvSpPr>
        <p:spPr>
          <a:xfrm>
            <a:off x="1247158" y="1154707"/>
            <a:ext cx="7677101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Binomial Expansion series is very popular in mathematics, which is shown in the below. </a:t>
            </a:r>
            <a:r>
              <a:rPr lang="en-US" sz="18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(search for its application!)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583;p33">
                <a:extLst>
                  <a:ext uri="{FF2B5EF4-FFF2-40B4-BE49-F238E27FC236}">
                    <a16:creationId xmlns:a16="http://schemas.microsoft.com/office/drawing/2014/main" id="{9DE129DE-57ED-7A93-7186-D87EE94FF316}"/>
                  </a:ext>
                </a:extLst>
              </p:cNvPr>
              <p:cNvSpPr txBox="1"/>
              <p:nvPr/>
            </p:nvSpPr>
            <p:spPr>
              <a:xfrm>
                <a:off x="3555263" y="1926966"/>
                <a:ext cx="7103564" cy="944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d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𝑥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+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𝑛</m:t>
                          </m:r>
                        </m:sup>
                      </m:sSup>
                      <m:r>
                        <a:rPr lang="pt-BR" sz="20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Fira Code"/>
                          <a:cs typeface="Fira Code"/>
                          <a:sym typeface="Fira Code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</m:ctrlPr>
                        </m:naryPr>
                        <m:sub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𝑘</m:t>
                          </m:r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=</m:t>
                          </m:r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0</m:t>
                          </m:r>
                        </m:sub>
                        <m:sup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sSup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sSup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𝑛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−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mc:Choice>
        <mc:Fallback xmlns="">
          <p:sp>
            <p:nvSpPr>
              <p:cNvPr id="2" name="Google Shape;583;p33">
                <a:extLst>
                  <a:ext uri="{FF2B5EF4-FFF2-40B4-BE49-F238E27FC236}">
                    <a16:creationId xmlns:a16="http://schemas.microsoft.com/office/drawing/2014/main" id="{9DE129DE-57ED-7A93-7186-D87EE94FF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263" y="1926966"/>
                <a:ext cx="7103564" cy="944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583;p33">
            <a:extLst>
              <a:ext uri="{FF2B5EF4-FFF2-40B4-BE49-F238E27FC236}">
                <a16:creationId xmlns:a16="http://schemas.microsoft.com/office/drawing/2014/main" id="{8B9D5C64-373E-89D5-447C-3896716AA3DB}"/>
              </a:ext>
            </a:extLst>
          </p:cNvPr>
          <p:cNvSpPr txBox="1"/>
          <p:nvPr/>
        </p:nvSpPr>
        <p:spPr>
          <a:xfrm>
            <a:off x="1488311" y="3183125"/>
            <a:ext cx="7747838" cy="107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Where we see a sum notation, we need a loop!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X, a, and n should be set as input parameters. </a:t>
            </a:r>
          </a:p>
        </p:txBody>
      </p:sp>
      <p:sp>
        <p:nvSpPr>
          <p:cNvPr id="3" name="Google Shape;583;p33">
            <a:extLst>
              <a:ext uri="{FF2B5EF4-FFF2-40B4-BE49-F238E27FC236}">
                <a16:creationId xmlns:a16="http://schemas.microsoft.com/office/drawing/2014/main" id="{434BE448-723B-C67B-C211-D358334323B6}"/>
              </a:ext>
            </a:extLst>
          </p:cNvPr>
          <p:cNvSpPr txBox="1"/>
          <p:nvPr/>
        </p:nvSpPr>
        <p:spPr>
          <a:xfrm>
            <a:off x="1390387" y="2602041"/>
            <a:ext cx="69511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Try to implement the above formula using loops!</a:t>
            </a:r>
          </a:p>
        </p:txBody>
      </p:sp>
    </p:spTree>
    <p:extLst>
      <p:ext uri="{BB962C8B-B14F-4D97-AF65-F5344CB8AC3E}">
        <p14:creationId xmlns:p14="http://schemas.microsoft.com/office/powerpoint/2010/main" val="231936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Where we need loops?</a:t>
            </a:r>
            <a:r>
              <a:rPr lang="en" dirty="0">
                <a:solidFill>
                  <a:schemeClr val="accent2"/>
                </a:solidFill>
              </a:rPr>
              <a:t>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loop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BE0B1925-328B-2EDA-5EFE-724887B49975}"/>
              </a:ext>
            </a:extLst>
          </p:cNvPr>
          <p:cNvSpPr txBox="1"/>
          <p:nvPr/>
        </p:nvSpPr>
        <p:spPr>
          <a:xfrm>
            <a:off x="1219450" y="535018"/>
            <a:ext cx="6559877" cy="189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Where we need </a:t>
            </a:r>
            <a:r>
              <a:rPr lang="en-US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repetition</a:t>
            </a: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or </a:t>
            </a:r>
            <a:r>
              <a:rPr lang="en-US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automation</a:t>
            </a: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.</a:t>
            </a: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EBF48B63-1CA6-9DD1-E225-C55CD1A59D3F}"/>
              </a:ext>
            </a:extLst>
          </p:cNvPr>
          <p:cNvSpPr txBox="1"/>
          <p:nvPr/>
        </p:nvSpPr>
        <p:spPr>
          <a:xfrm>
            <a:off x="1482686" y="2916790"/>
            <a:ext cx="69511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What are the needed syntaxes for performing repetitions in C? </a:t>
            </a:r>
            <a:r>
              <a:rPr lang="en-US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Recap what you need!</a:t>
            </a: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4109CEB9-E14C-D73E-C8C7-8F01C16F2D81}"/>
              </a:ext>
            </a:extLst>
          </p:cNvPr>
          <p:cNvSpPr txBox="1"/>
          <p:nvPr/>
        </p:nvSpPr>
        <p:spPr>
          <a:xfrm>
            <a:off x="1420342" y="1878323"/>
            <a:ext cx="603340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In </a:t>
            </a:r>
            <a:r>
              <a:rPr lang="en-US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computer science</a:t>
            </a: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, most of algorithms are full of </a:t>
            </a:r>
            <a:r>
              <a:rPr lang="en-US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repetitions</a:t>
            </a: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12C1D79-5B22-0C08-E549-40AEE7C0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A4FEBA93-B6AD-99EB-733D-628C3B85C5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Checking a condition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94238F7F-8916-CDCF-D768-0A2BD47699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6B65766E-46F8-5A5A-FCB4-8AFB7DF1231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loop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5C774D99-FCD0-B85F-FEF4-9FBB1E60926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1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461B3BF7-7F33-DAD1-7885-69749E423A8E}"/>
              </a:ext>
            </a:extLst>
          </p:cNvPr>
          <p:cNvSpPr txBox="1"/>
          <p:nvPr/>
        </p:nvSpPr>
        <p:spPr>
          <a:xfrm>
            <a:off x="1482686" y="2916790"/>
            <a:ext cx="69511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4A31E41C-05DD-5F10-36FD-956E8152CA34}"/>
              </a:ext>
            </a:extLst>
          </p:cNvPr>
          <p:cNvSpPr txBox="1"/>
          <p:nvPr/>
        </p:nvSpPr>
        <p:spPr>
          <a:xfrm>
            <a:off x="1330286" y="1154707"/>
            <a:ext cx="71035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Write a program to determine whether a given number has specific characteristics.</a:t>
            </a:r>
          </a:p>
        </p:txBody>
      </p:sp>
      <p:sp>
        <p:nvSpPr>
          <p:cNvPr id="3" name="Google Shape;583;p33">
            <a:extLst>
              <a:ext uri="{FF2B5EF4-FFF2-40B4-BE49-F238E27FC236}">
                <a16:creationId xmlns:a16="http://schemas.microsoft.com/office/drawing/2014/main" id="{C80140A1-6BE8-CE1B-56CE-C573941297A5}"/>
              </a:ext>
            </a:extLst>
          </p:cNvPr>
          <p:cNvSpPr txBox="1"/>
          <p:nvPr/>
        </p:nvSpPr>
        <p:spPr>
          <a:xfrm>
            <a:off x="1236768" y="2130226"/>
            <a:ext cx="71035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The number is named </a:t>
            </a:r>
            <a:r>
              <a:rPr lang="en-US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ugly</a:t>
            </a: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if  </a:t>
            </a:r>
            <a:r>
              <a:rPr lang="en-US" sz="20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its only prime factors are 2, 3, or 5.</a:t>
            </a: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</a:p>
        </p:txBody>
      </p:sp>
      <p:sp>
        <p:nvSpPr>
          <p:cNvPr id="5" name="Google Shape;583;p33">
            <a:extLst>
              <a:ext uri="{FF2B5EF4-FFF2-40B4-BE49-F238E27FC236}">
                <a16:creationId xmlns:a16="http://schemas.microsoft.com/office/drawing/2014/main" id="{248D9CC4-7436-C354-3BDD-F511C6A62306}"/>
              </a:ext>
            </a:extLst>
          </p:cNvPr>
          <p:cNvSpPr txBox="1"/>
          <p:nvPr/>
        </p:nvSpPr>
        <p:spPr>
          <a:xfrm>
            <a:off x="1236767" y="3136552"/>
            <a:ext cx="7553941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You need to check specific factors of a number!</a:t>
            </a:r>
          </a:p>
        </p:txBody>
      </p:sp>
    </p:spTree>
    <p:extLst>
      <p:ext uri="{BB962C8B-B14F-4D97-AF65-F5344CB8AC3E}">
        <p14:creationId xmlns:p14="http://schemas.microsoft.com/office/powerpoint/2010/main" val="848930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5C63532-A56A-A2DD-6642-E77B13E38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DD87655F-4759-CC33-45F3-706B18E50F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Loops in Mathematics 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048CA374-C851-20BE-4952-F1C0C29354E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66BCC8C0-14E1-3DBE-9816-F6CEC760C0F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loop</a:t>
            </a:r>
            <a:r>
              <a:rPr lang="en" sz="1400" dirty="0">
                <a:solidFill>
                  <a:schemeClr val="accent3"/>
                </a:solidFill>
              </a:rPr>
              <a:t>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FF577399-F725-FDCA-7F92-F9668900A04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Task 2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4A204950-C2B1-7646-E286-FC6CF1F0AC1D}"/>
              </a:ext>
            </a:extLst>
          </p:cNvPr>
          <p:cNvSpPr txBox="1"/>
          <p:nvPr/>
        </p:nvSpPr>
        <p:spPr>
          <a:xfrm>
            <a:off x="1247158" y="1154707"/>
            <a:ext cx="7677101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Binomial Expansion series is very popular in mathematics, which is shown in the below. </a:t>
            </a:r>
            <a:r>
              <a:rPr lang="en-US" sz="18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(search for its application!)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583;p33">
                <a:extLst>
                  <a:ext uri="{FF2B5EF4-FFF2-40B4-BE49-F238E27FC236}">
                    <a16:creationId xmlns:a16="http://schemas.microsoft.com/office/drawing/2014/main" id="{EF383C1A-18CF-BFCD-278C-E3E74D5999DF}"/>
                  </a:ext>
                </a:extLst>
              </p:cNvPr>
              <p:cNvSpPr txBox="1"/>
              <p:nvPr/>
            </p:nvSpPr>
            <p:spPr>
              <a:xfrm>
                <a:off x="3512733" y="2332945"/>
                <a:ext cx="7103564" cy="9447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d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𝑥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+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𝑛</m:t>
                          </m:r>
                        </m:sup>
                      </m:sSup>
                      <m:r>
                        <a:rPr lang="pt-BR" sz="20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Fira Code"/>
                          <a:cs typeface="Fira Code"/>
                          <a:sym typeface="Fira Code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</m:ctrlPr>
                        </m:naryPr>
                        <m:sub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𝑘</m:t>
                          </m:r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=0</m:t>
                          </m:r>
                        </m:sub>
                        <m:sup>
                          <m:r>
                            <a:rPr lang="pt-BR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Fira Code"/>
                              <a:cs typeface="Fira Code"/>
                              <a:sym typeface="Fira Code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t-BR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Fira Code"/>
                                      <a:cs typeface="Fira Code"/>
                                      <a:sym typeface="Fira Code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sSup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</m:ctrlPr>
                            </m:sSupPr>
                            <m:e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𝑛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−</m:t>
                              </m:r>
                              <m:r>
                                <a:rPr lang="pt-BR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mc:Choice>
        <mc:Fallback xmlns="">
          <p:sp>
            <p:nvSpPr>
              <p:cNvPr id="2" name="Google Shape;583;p33">
                <a:extLst>
                  <a:ext uri="{FF2B5EF4-FFF2-40B4-BE49-F238E27FC236}">
                    <a16:creationId xmlns:a16="http://schemas.microsoft.com/office/drawing/2014/main" id="{EF383C1A-18CF-BFCD-278C-E3E74D599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733" y="2332945"/>
                <a:ext cx="7103564" cy="9447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Google Shape;583;p33">
            <a:extLst>
              <a:ext uri="{FF2B5EF4-FFF2-40B4-BE49-F238E27FC236}">
                <a16:creationId xmlns:a16="http://schemas.microsoft.com/office/drawing/2014/main" id="{77460099-C57F-80CE-D33E-F345EB0CD3BD}"/>
              </a:ext>
            </a:extLst>
          </p:cNvPr>
          <p:cNvSpPr txBox="1"/>
          <p:nvPr/>
        </p:nvSpPr>
        <p:spPr>
          <a:xfrm>
            <a:off x="1247158" y="3342930"/>
            <a:ext cx="69511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Where we see a sum notation, we need a loop!</a:t>
            </a:r>
          </a:p>
        </p:txBody>
      </p:sp>
    </p:spTree>
    <p:extLst>
      <p:ext uri="{BB962C8B-B14F-4D97-AF65-F5344CB8AC3E}">
        <p14:creationId xmlns:p14="http://schemas.microsoft.com/office/powerpoint/2010/main" val="4034432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87AE761-43CB-D5C4-A64B-AD388C797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DA96EADB-0553-E55A-5013-C6D431FD8D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Matrix multiplication</a:t>
            </a:r>
            <a:r>
              <a:rPr lang="en" dirty="0">
                <a:solidFill>
                  <a:schemeClr val="accent2"/>
                </a:solidFill>
              </a:rPr>
              <a:t>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97EBD44A-9363-E81A-5172-771D3858564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CF8CB708-7BC6-DA7B-F09D-E4DB14B6EE6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loop.c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A5139A3-62E0-6783-4D79-977BA254728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06622912-764E-52AC-48FD-9ED99B05D185}"/>
              </a:ext>
            </a:extLst>
          </p:cNvPr>
          <p:cNvSpPr txBox="1"/>
          <p:nvPr/>
        </p:nvSpPr>
        <p:spPr>
          <a:xfrm>
            <a:off x="1242487" y="712811"/>
            <a:ext cx="7901513" cy="1894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Matrix operations like multiplication are so common in the world of AI.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583;p33">
                <a:extLst>
                  <a:ext uri="{FF2B5EF4-FFF2-40B4-BE49-F238E27FC236}">
                    <a16:creationId xmlns:a16="http://schemas.microsoft.com/office/drawing/2014/main" id="{FA277F5F-E1BB-4739-0148-3166126E2617}"/>
                  </a:ext>
                </a:extLst>
              </p:cNvPr>
              <p:cNvSpPr txBox="1"/>
              <p:nvPr/>
            </p:nvSpPr>
            <p:spPr>
              <a:xfrm>
                <a:off x="1047857" y="3249039"/>
                <a:ext cx="6105848" cy="18944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Fira Code"/>
                            <a:cs typeface="Fira Code"/>
                            <a:sym typeface="Fira Code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Fira Code"/>
                                <a:cs typeface="Fira Code"/>
                                <a:sym typeface="Fira Code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⋯</m:t>
                              </m:r>
                            </m:e>
                            <m:e/>
                          </m:mr>
                          <m:mr>
                            <m:e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⋮</m:t>
                              </m:r>
                            </m:e>
                          </m:mr>
                          <m:mr>
                            <m:e/>
                            <m:e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⋯</m:t>
                              </m:r>
                            </m:e>
                            <m:e/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solidFill>
                      <a:schemeClr val="accent1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Fira Code"/>
                        <a:sym typeface="Fira Code"/>
                      </a:rPr>
                      <m:t>×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Fira Code"/>
                            <a:cs typeface="Fira Code"/>
                            <a:sym typeface="Fira Code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Fira Code"/>
                                <a:cs typeface="Fira Code"/>
                                <a:sym typeface="Fira Code"/>
                              </a:rPr>
                            </m:ctrlPr>
                          </m:mPr>
                          <m:mr>
                            <m:e/>
                            <m:e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⋯</m:t>
                              </m:r>
                            </m:e>
                            <m:e/>
                          </m:mr>
                          <m:mr>
                            <m:e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⋮</m:t>
                              </m:r>
                            </m:e>
                          </m:mr>
                          <m:mr>
                            <m:e/>
                            <m:e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⋯</m:t>
                              </m:r>
                            </m:e>
                            <m:e/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solidFill>
                      <a:schemeClr val="accent1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Fira Code"/>
                            <a:cs typeface="Fira Code"/>
                            <a:sym typeface="Fira Code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Fira Code"/>
                                <a:cs typeface="Fira Code"/>
                                <a:sym typeface="Fira Code"/>
                              </a:rPr>
                            </m:ctrlPr>
                          </m:mPr>
                          <m:mr>
                            <m:e/>
                            <m:e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⋯</m:t>
                              </m:r>
                            </m:e>
                            <m:e/>
                          </m:mr>
                          <m:mr>
                            <m:e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⋮</m:t>
                              </m:r>
                            </m:e>
                          </m:mr>
                          <m:mr>
                            <m:e/>
                            <m:e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Fira Code"/>
                                  <a:cs typeface="Fira Code"/>
                                  <a:sym typeface="Fira Code"/>
                                </a:rPr>
                                <m:t>⋯</m:t>
                              </m:r>
                            </m:e>
                            <m:e/>
                          </m:mr>
                        </m:m>
                      </m:e>
                    </m:d>
                  </m:oMath>
                </a14:m>
                <a:endParaRPr lang="en-US" sz="200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 dirty="0">
                    <a:solidFill>
                      <a:srgbClr val="92D050"/>
                    </a:solidFill>
                    <a:latin typeface="Fira Code"/>
                    <a:ea typeface="Fira Code"/>
                    <a:cs typeface="Fira Code"/>
                    <a:sym typeface="Fira Code"/>
                  </a:rPr>
                  <a:t>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dirty="0">
                  <a:solidFill>
                    <a:schemeClr val="accent1"/>
                  </a:solidFill>
                  <a:latin typeface="Fira Code"/>
                  <a:ea typeface="Fira Code"/>
                  <a:cs typeface="Fira Code"/>
                  <a:sym typeface="Fira Code"/>
                </a:endParaRPr>
              </a:p>
            </p:txBody>
          </p:sp>
        </mc:Choice>
        <mc:Fallback xmlns="">
          <p:sp>
            <p:nvSpPr>
              <p:cNvPr id="7" name="Google Shape;583;p33">
                <a:extLst>
                  <a:ext uri="{FF2B5EF4-FFF2-40B4-BE49-F238E27FC236}">
                    <a16:creationId xmlns:a16="http://schemas.microsoft.com/office/drawing/2014/main" id="{FA277F5F-E1BB-4739-0148-3166126E2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857" y="3249039"/>
                <a:ext cx="6105848" cy="18944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158E22B7-E7ED-6F01-39C3-C9B1AD79C55F}"/>
              </a:ext>
            </a:extLst>
          </p:cNvPr>
          <p:cNvSpPr txBox="1"/>
          <p:nvPr/>
        </p:nvSpPr>
        <p:spPr>
          <a:xfrm>
            <a:off x="1482686" y="2063922"/>
            <a:ext cx="6951164" cy="944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Do you know how multiplication of matrixes are done? Recap from high school. </a:t>
            </a:r>
          </a:p>
        </p:txBody>
      </p:sp>
    </p:spTree>
    <p:extLst>
      <p:ext uri="{BB962C8B-B14F-4D97-AF65-F5344CB8AC3E}">
        <p14:creationId xmlns:p14="http://schemas.microsoft.com/office/powerpoint/2010/main" val="2508165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50187AF-FDC6-B754-FBD2-F9B7FA0FA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3F68C7D2-A40A-F50A-C12F-1A89B0F88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Binary and Decimal formats</a:t>
            </a:r>
            <a:r>
              <a:rPr lang="en" dirty="0">
                <a:solidFill>
                  <a:schemeClr val="accent2"/>
                </a:solidFill>
              </a:rPr>
              <a:t>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5EE34798-7EC2-E706-B9F9-64F7C8D7E7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79358BF-3536-51AE-5DCE-A421268F17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D7E3969-DC90-73CA-05C2-2D33B2E7624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3"/>
                </a:solidFill>
              </a:rPr>
              <a:t>Task 3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1B1C0F5F-D95E-6534-9008-4271AC0CDC58}"/>
              </a:ext>
            </a:extLst>
          </p:cNvPr>
          <p:cNvSpPr txBox="1"/>
          <p:nvPr/>
        </p:nvSpPr>
        <p:spPr>
          <a:xfrm>
            <a:off x="1060931" y="1123900"/>
            <a:ext cx="7708495" cy="1714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Write a C program that takes a binary number (up to 32 bits) as input from the user and converts it to its decimal (base-10) equivalent.</a:t>
            </a:r>
          </a:p>
        </p:txBody>
      </p:sp>
      <p:sp>
        <p:nvSpPr>
          <p:cNvPr id="11" name="Google Shape;472;p28">
            <a:extLst>
              <a:ext uri="{FF2B5EF4-FFF2-40B4-BE49-F238E27FC236}">
                <a16:creationId xmlns:a16="http://schemas.microsoft.com/office/drawing/2014/main" id="{89CCD7D4-B3ED-0715-D28A-908C49C959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43250" y="2980112"/>
            <a:ext cx="5309897" cy="7196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indent="-171450">
              <a:lnSpc>
                <a:spcPct val="150000"/>
              </a:lnSpc>
            </a:pPr>
            <a:endParaRPr lang="en-US" sz="1400" dirty="0">
              <a:solidFill>
                <a:schemeClr val="accent3"/>
              </a:solidFill>
            </a:endParaRPr>
          </a:p>
          <a:p>
            <a:pPr marL="171450" indent="-171450"/>
            <a:endParaRPr lang="en-US" sz="8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endParaRPr lang="en-US" sz="800" dirty="0">
              <a:solidFill>
                <a:schemeClr val="accent3"/>
              </a:solidFill>
            </a:endParaRPr>
          </a:p>
          <a:p>
            <a:pPr marL="171450" indent="-171450"/>
            <a:endParaRPr dirty="0">
              <a:solidFill>
                <a:schemeClr val="accent3"/>
              </a:solidFill>
            </a:endParaRPr>
          </a:p>
        </p:txBody>
      </p:sp>
      <p:sp>
        <p:nvSpPr>
          <p:cNvPr id="3" name="Google Shape;583;p33">
            <a:extLst>
              <a:ext uri="{FF2B5EF4-FFF2-40B4-BE49-F238E27FC236}">
                <a16:creationId xmlns:a16="http://schemas.microsoft.com/office/drawing/2014/main" id="{98D08424-995D-5E8B-2CB6-47C52B9A6271}"/>
              </a:ext>
            </a:extLst>
          </p:cNvPr>
          <p:cNvSpPr txBox="1"/>
          <p:nvPr/>
        </p:nvSpPr>
        <p:spPr>
          <a:xfrm>
            <a:off x="1247151" y="2389545"/>
            <a:ext cx="6101868" cy="1714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You should develop a function for the conversion!</a:t>
            </a:r>
          </a:p>
        </p:txBody>
      </p:sp>
    </p:spTree>
    <p:extLst>
      <p:ext uri="{BB962C8B-B14F-4D97-AF65-F5344CB8AC3E}">
        <p14:creationId xmlns:p14="http://schemas.microsoft.com/office/powerpoint/2010/main" val="2468197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5560732-9D9B-8264-DD98-E36C9D86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34ED924-8B92-9634-7D64-E2B868C9A0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The Fibonacci Series</a:t>
            </a:r>
            <a:r>
              <a:rPr lang="en" dirty="0">
                <a:solidFill>
                  <a:schemeClr val="accent2"/>
                </a:solidFill>
              </a:rPr>
              <a:t>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28DD3817-800E-A4F3-90A5-355C4618253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E5BB27D-3DA3-86CE-D408-0AA17F27629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B056DB4F-849A-5272-DA79-04FBEE2D5DB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7509BE81-2412-6A1F-3FC4-7312972378FB}"/>
              </a:ext>
            </a:extLst>
          </p:cNvPr>
          <p:cNvSpPr txBox="1"/>
          <p:nvPr/>
        </p:nvSpPr>
        <p:spPr>
          <a:xfrm>
            <a:off x="1159638" y="1025230"/>
            <a:ext cx="5830426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Are you familiar with this sequence?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784322-330C-744E-9F4F-65AE6814C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203" y="1967172"/>
            <a:ext cx="4439797" cy="1962644"/>
          </a:xfrm>
          <a:prstGeom prst="rect">
            <a:avLst/>
          </a:prstGeom>
        </p:spPr>
      </p:pic>
      <p:sp>
        <p:nvSpPr>
          <p:cNvPr id="7" name="Google Shape;583;p33">
            <a:extLst>
              <a:ext uri="{FF2B5EF4-FFF2-40B4-BE49-F238E27FC236}">
                <a16:creationId xmlns:a16="http://schemas.microsoft.com/office/drawing/2014/main" id="{5EDB0012-86BD-FFB0-B8E9-862FB969B95C}"/>
              </a:ext>
            </a:extLst>
          </p:cNvPr>
          <p:cNvSpPr txBox="1"/>
          <p:nvPr/>
        </p:nvSpPr>
        <p:spPr>
          <a:xfrm>
            <a:off x="1159638" y="3806512"/>
            <a:ext cx="5698362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It has got many application (search for it!)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E74B22-40C9-F162-53A9-1907B9FD8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777" y="604637"/>
            <a:ext cx="1036468" cy="1038525"/>
          </a:xfrm>
          <a:prstGeom prst="rect">
            <a:avLst/>
          </a:prstGeom>
        </p:spPr>
      </p:pic>
      <p:sp>
        <p:nvSpPr>
          <p:cNvPr id="11" name="Google Shape;583;p33">
            <a:extLst>
              <a:ext uri="{FF2B5EF4-FFF2-40B4-BE49-F238E27FC236}">
                <a16:creationId xmlns:a16="http://schemas.microsoft.com/office/drawing/2014/main" id="{D5836D37-7B75-1655-D274-990D58AFE2B9}"/>
              </a:ext>
            </a:extLst>
          </p:cNvPr>
          <p:cNvSpPr txBox="1"/>
          <p:nvPr/>
        </p:nvSpPr>
        <p:spPr>
          <a:xfrm>
            <a:off x="7509026" y="1381881"/>
            <a:ext cx="1634974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Fibonacci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(1170-1250)</a:t>
            </a:r>
          </a:p>
        </p:txBody>
      </p:sp>
    </p:spTree>
    <p:extLst>
      <p:ext uri="{BB962C8B-B14F-4D97-AF65-F5344CB8AC3E}">
        <p14:creationId xmlns:p14="http://schemas.microsoft.com/office/powerpoint/2010/main" val="2218697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0E85D9A-D508-B3E2-C450-3286B5A4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8A51E955-F1AC-2599-C7A4-47DC4A6FC3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E8750547-4751-7995-A5D9-020F8825EDF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decision.c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85F35F21-1618-25F2-AA74-75E023DF6D8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22D42296-5F99-5A77-1144-D736E9B69E3D}"/>
              </a:ext>
            </a:extLst>
          </p:cNvPr>
          <p:cNvSpPr txBox="1"/>
          <p:nvPr/>
        </p:nvSpPr>
        <p:spPr>
          <a:xfrm>
            <a:off x="1143250" y="1378483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Write a program implementing the </a:t>
            </a:r>
            <a:r>
              <a:rPr lang="en-US" sz="20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Fibonacci sequence,</a:t>
            </a: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so that calculates the nth Fibonacci number.</a:t>
            </a:r>
          </a:p>
        </p:txBody>
      </p:sp>
      <p:sp>
        <p:nvSpPr>
          <p:cNvPr id="7" name="Google Shape;471;p28">
            <a:extLst>
              <a:ext uri="{FF2B5EF4-FFF2-40B4-BE49-F238E27FC236}">
                <a16:creationId xmlns:a16="http://schemas.microsoft.com/office/drawing/2014/main" id="{8B5C7E8F-4169-87FC-B94B-5A1D4073C82A}"/>
              </a:ext>
            </a:extLst>
          </p:cNvPr>
          <p:cNvSpPr txBox="1">
            <a:spLocks/>
          </p:cNvSpPr>
          <p:nvPr/>
        </p:nvSpPr>
        <p:spPr>
          <a:xfrm>
            <a:off x="1060184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The Fibonacci Series;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32A4506-2A1E-71D0-85EF-CB2BE5D0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4F714E-A154-5E96-196D-D86F12F2A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71" y="2324152"/>
            <a:ext cx="2390660" cy="2173881"/>
          </a:xfrm>
          <a:prstGeom prst="rect">
            <a:avLst/>
          </a:prstGeom>
        </p:spPr>
      </p:pic>
      <p:sp>
        <p:nvSpPr>
          <p:cNvPr id="14" name="Google Shape;583;p33">
            <a:extLst>
              <a:ext uri="{FF2B5EF4-FFF2-40B4-BE49-F238E27FC236}">
                <a16:creationId xmlns:a16="http://schemas.microsoft.com/office/drawing/2014/main" id="{764EE8A4-8814-9B77-487A-D3C340A072BE}"/>
              </a:ext>
            </a:extLst>
          </p:cNvPr>
          <p:cNvSpPr txBox="1"/>
          <p:nvPr/>
        </p:nvSpPr>
        <p:spPr>
          <a:xfrm>
            <a:off x="1167817" y="2324152"/>
            <a:ext cx="7075333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Follow the rule which is shown in the picture!</a:t>
            </a:r>
          </a:p>
        </p:txBody>
      </p:sp>
      <p:sp>
        <p:nvSpPr>
          <p:cNvPr id="15" name="Google Shape;583;p33">
            <a:extLst>
              <a:ext uri="{FF2B5EF4-FFF2-40B4-BE49-F238E27FC236}">
                <a16:creationId xmlns:a16="http://schemas.microsoft.com/office/drawing/2014/main" id="{1ABACA95-B02A-B8BD-6BAA-2BA7C7B70C15}"/>
              </a:ext>
            </a:extLst>
          </p:cNvPr>
          <p:cNvSpPr txBox="1"/>
          <p:nvPr/>
        </p:nvSpPr>
        <p:spPr>
          <a:xfrm>
            <a:off x="1143250" y="3036604"/>
            <a:ext cx="5817355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Implement both iterative and recursive versions!</a:t>
            </a:r>
          </a:p>
        </p:txBody>
      </p:sp>
    </p:spTree>
    <p:extLst>
      <p:ext uri="{BB962C8B-B14F-4D97-AF65-F5344CB8AC3E}">
        <p14:creationId xmlns:p14="http://schemas.microsoft.com/office/powerpoint/2010/main" val="3505483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C6898F5-D3E4-A236-D13A-F70AE8EE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0A7F7B59-A7E4-D1AE-5972-1CADFE24384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F27F75E4-3DC3-EEE2-2F66-9C1168B130F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1CACCF6A-9083-16D5-2284-22C4B532985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C01AFE0C-0CF3-4978-DBB1-02D4E7E89C0B}"/>
              </a:ext>
            </a:extLst>
          </p:cNvPr>
          <p:cNvSpPr txBox="1"/>
          <p:nvPr/>
        </p:nvSpPr>
        <p:spPr>
          <a:xfrm>
            <a:off x="1143250" y="1378483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" name="Google Shape;471;p28">
            <a:extLst>
              <a:ext uri="{FF2B5EF4-FFF2-40B4-BE49-F238E27FC236}">
                <a16:creationId xmlns:a16="http://schemas.microsoft.com/office/drawing/2014/main" id="{010FB26D-EE97-1C34-3F0A-FD46FF096B25}"/>
              </a:ext>
            </a:extLst>
          </p:cNvPr>
          <p:cNvSpPr txBox="1">
            <a:spLocks/>
          </p:cNvSpPr>
          <p:nvPr/>
        </p:nvSpPr>
        <p:spPr>
          <a:xfrm>
            <a:off x="1060184" y="582700"/>
            <a:ext cx="72906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 b="0" i="0" u="none" strike="noStrike" cap="non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r>
              <a:rPr lang="en-US" dirty="0">
                <a:solidFill>
                  <a:schemeClr val="accent2"/>
                </a:solidFill>
              </a:rPr>
              <a:t>The Fibonacci Series;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1C0FC48-6B9A-DB53-1140-0E7B2233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Google Shape;583;p33">
            <a:extLst>
              <a:ext uri="{FF2B5EF4-FFF2-40B4-BE49-F238E27FC236}">
                <a16:creationId xmlns:a16="http://schemas.microsoft.com/office/drawing/2014/main" id="{3392F946-AD1F-1C86-7D9F-20C77D7999A5}"/>
              </a:ext>
            </a:extLst>
          </p:cNvPr>
          <p:cNvSpPr txBox="1"/>
          <p:nvPr/>
        </p:nvSpPr>
        <p:spPr>
          <a:xfrm>
            <a:off x="912942" y="1026196"/>
            <a:ext cx="7585084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Which version is faster as the size of the input grows? Why?</a:t>
            </a:r>
          </a:p>
        </p:txBody>
      </p:sp>
      <p:pic>
        <p:nvPicPr>
          <p:cNvPr id="5122" name="Picture 2" descr="What is Fibonacci Series in C: Mathematical and Programming Interpretation  | Simplilearn">
            <a:extLst>
              <a:ext uri="{FF2B5EF4-FFF2-40B4-BE49-F238E27FC236}">
                <a16:creationId xmlns:a16="http://schemas.microsoft.com/office/drawing/2014/main" id="{B551A3B7-9669-5847-081A-B6DBB88DA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416" y="1794581"/>
            <a:ext cx="4865099" cy="231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03D2DA33-B065-A291-3C95-9FFECFE1B78C}"/>
              </a:ext>
            </a:extLst>
          </p:cNvPr>
          <p:cNvSpPr txBox="1"/>
          <p:nvPr/>
        </p:nvSpPr>
        <p:spPr>
          <a:xfrm>
            <a:off x="802774" y="3896518"/>
            <a:ext cx="8440378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Try out different size of values for the input of both versions. </a:t>
            </a:r>
          </a:p>
        </p:txBody>
      </p:sp>
    </p:spTree>
    <p:extLst>
      <p:ext uri="{BB962C8B-B14F-4D97-AF65-F5344CB8AC3E}">
        <p14:creationId xmlns:p14="http://schemas.microsoft.com/office/powerpoint/2010/main" val="2960798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9320756E-7583-EC87-938E-AC13F17D3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2EF60AD5-24C1-26B6-45CF-843580D4D5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Combination and Permutation;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DE382026-4314-60F7-48B7-A465F318BDD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0DDC9C0-E8EF-8047-695F-69870221D32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F04F849B-41E4-D461-4304-5C6912B7D8F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6146" name="Picture 2" descr="How Combinations and Permutations Differ">
            <a:extLst>
              <a:ext uri="{FF2B5EF4-FFF2-40B4-BE49-F238E27FC236}">
                <a16:creationId xmlns:a16="http://schemas.microsoft.com/office/drawing/2014/main" id="{2EE52179-1331-81E3-8505-40028C156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225" y="1489285"/>
            <a:ext cx="3441995" cy="2164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583;p33">
            <a:extLst>
              <a:ext uri="{FF2B5EF4-FFF2-40B4-BE49-F238E27FC236}">
                <a16:creationId xmlns:a16="http://schemas.microsoft.com/office/drawing/2014/main" id="{196A4EC0-4AC0-FC13-6EF6-6A37C57ADABF}"/>
              </a:ext>
            </a:extLst>
          </p:cNvPr>
          <p:cNvSpPr txBox="1"/>
          <p:nvPr/>
        </p:nvSpPr>
        <p:spPr>
          <a:xfrm>
            <a:off x="951018" y="1888759"/>
            <a:ext cx="5235516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You might be familiar with factorial concept in math!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Which is the foundation of combination and permutation.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 (As shown in the picture!)</a:t>
            </a:r>
          </a:p>
        </p:txBody>
      </p:sp>
    </p:spTree>
    <p:extLst>
      <p:ext uri="{BB962C8B-B14F-4D97-AF65-F5344CB8AC3E}">
        <p14:creationId xmlns:p14="http://schemas.microsoft.com/office/powerpoint/2010/main" val="630654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AAE5630-0D4E-F8DF-08A2-30A0C4DD9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40DE6ED3-E856-171C-D3B4-E4B39BE675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Combination and Permutation;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62CF8C2E-317A-F5D8-6BFD-1EF8CD4CBB2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CD40946-0774-C022-6D50-1AF567880B7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8CC720A0-54C1-4B4A-06F2-A6E1B8064CA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6146" name="Picture 2" descr="How Combinations and Permutations Differ">
            <a:extLst>
              <a:ext uri="{FF2B5EF4-FFF2-40B4-BE49-F238E27FC236}">
                <a16:creationId xmlns:a16="http://schemas.microsoft.com/office/drawing/2014/main" id="{8A1B0B17-1262-78CF-0A26-8BAE1AF5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070" y="1218527"/>
            <a:ext cx="2473201" cy="15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583;p33">
            <a:extLst>
              <a:ext uri="{FF2B5EF4-FFF2-40B4-BE49-F238E27FC236}">
                <a16:creationId xmlns:a16="http://schemas.microsoft.com/office/drawing/2014/main" id="{832461F6-57EC-A67C-92A2-C4274B4278A9}"/>
              </a:ext>
            </a:extLst>
          </p:cNvPr>
          <p:cNvSpPr txBox="1"/>
          <p:nvPr/>
        </p:nvSpPr>
        <p:spPr>
          <a:xfrm>
            <a:off x="1143250" y="1572296"/>
            <a:ext cx="5626052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Develop a program implementing combination and permutation.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You should have functions for calculating factorial and permutation and combination. </a:t>
            </a:r>
          </a:p>
        </p:txBody>
      </p:sp>
      <p:sp>
        <p:nvSpPr>
          <p:cNvPr id="2" name="Google Shape;473;p28">
            <a:extLst>
              <a:ext uri="{FF2B5EF4-FFF2-40B4-BE49-F238E27FC236}">
                <a16:creationId xmlns:a16="http://schemas.microsoft.com/office/drawing/2014/main" id="{85D56137-DFFF-4C12-1866-DB69C835A662}"/>
              </a:ext>
            </a:extLst>
          </p:cNvPr>
          <p:cNvSpPr txBox="1">
            <a:spLocks/>
          </p:cNvSpPr>
          <p:nvPr/>
        </p:nvSpPr>
        <p:spPr>
          <a:xfrm>
            <a:off x="1283817" y="3646397"/>
            <a:ext cx="7009465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285750" indent="-285750"/>
            <a:r>
              <a:rPr lang="en-US" dirty="0">
                <a:solidFill>
                  <a:srgbClr val="FF0000"/>
                </a:solidFill>
              </a:rPr>
              <a:t>According to the relation, notice that there are two inputs!</a:t>
            </a:r>
          </a:p>
        </p:txBody>
      </p:sp>
    </p:spTree>
    <p:extLst>
      <p:ext uri="{BB962C8B-B14F-4D97-AF65-F5344CB8AC3E}">
        <p14:creationId xmlns:p14="http://schemas.microsoft.com/office/powerpoint/2010/main" val="824880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6F8A451-A449-36B5-8F9D-427DECC6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BCBC3170-BF81-A906-80D8-81D3F9F54E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2"/>
                </a:solidFill>
              </a:rPr>
              <a:t>Combination and Permutation;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3C951D14-5F13-C58D-805A-F2075090722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F6096066-D8D2-E238-41F9-F0BBB6CA249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21ECE566-5E3A-16C7-037B-F3B881E53D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pic>
        <p:nvPicPr>
          <p:cNvPr id="6146" name="Picture 2" descr="How Combinations and Permutations Differ">
            <a:extLst>
              <a:ext uri="{FF2B5EF4-FFF2-40B4-BE49-F238E27FC236}">
                <a16:creationId xmlns:a16="http://schemas.microsoft.com/office/drawing/2014/main" id="{D145A8B2-BD09-DDC8-6533-249F096D3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7070" y="1218527"/>
            <a:ext cx="2473201" cy="1555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583;p33">
            <a:extLst>
              <a:ext uri="{FF2B5EF4-FFF2-40B4-BE49-F238E27FC236}">
                <a16:creationId xmlns:a16="http://schemas.microsoft.com/office/drawing/2014/main" id="{5DDDC6B9-B105-1373-894A-F9C3489F1A63}"/>
              </a:ext>
            </a:extLst>
          </p:cNvPr>
          <p:cNvSpPr txBox="1"/>
          <p:nvPr/>
        </p:nvSpPr>
        <p:spPr>
          <a:xfrm>
            <a:off x="1143250" y="1572296"/>
            <a:ext cx="5626052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Develop a program implementing combination and permutation.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2D050"/>
                </a:solidFill>
                <a:latin typeface="Fira Code"/>
                <a:ea typeface="Fira Code"/>
                <a:cs typeface="Fira Code"/>
                <a:sym typeface="Fira Code"/>
              </a:rPr>
              <a:t>You should have functions for calculating factorial and permutation and combination. </a:t>
            </a:r>
          </a:p>
        </p:txBody>
      </p:sp>
      <p:sp>
        <p:nvSpPr>
          <p:cNvPr id="2" name="Google Shape;473;p28">
            <a:extLst>
              <a:ext uri="{FF2B5EF4-FFF2-40B4-BE49-F238E27FC236}">
                <a16:creationId xmlns:a16="http://schemas.microsoft.com/office/drawing/2014/main" id="{8E086714-6DF5-2D61-F2F2-DD675618E524}"/>
              </a:ext>
            </a:extLst>
          </p:cNvPr>
          <p:cNvSpPr txBox="1">
            <a:spLocks/>
          </p:cNvSpPr>
          <p:nvPr/>
        </p:nvSpPr>
        <p:spPr>
          <a:xfrm>
            <a:off x="1283817" y="3646397"/>
            <a:ext cx="7009465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285750" indent="-285750"/>
            <a:r>
              <a:rPr lang="en-US" dirty="0">
                <a:solidFill>
                  <a:srgbClr val="FF0000"/>
                </a:solidFill>
              </a:rPr>
              <a:t>According to the relation, notice that there are two inputs!</a:t>
            </a:r>
          </a:p>
        </p:txBody>
      </p:sp>
    </p:spTree>
    <p:extLst>
      <p:ext uri="{BB962C8B-B14F-4D97-AF65-F5344CB8AC3E}">
        <p14:creationId xmlns:p14="http://schemas.microsoft.com/office/powerpoint/2010/main" val="3816342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9579649D-2404-F504-77EB-00A9A0AB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7A2E5FA8-E168-F0F2-6145-08DF452F53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</a:rPr>
              <a:t>Homework</a:t>
            </a:r>
            <a:r>
              <a:rPr lang="en" dirty="0">
                <a:solidFill>
                  <a:schemeClr val="accent2"/>
                </a:solidFill>
              </a:rPr>
              <a:t>;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33AF9F55-50B3-9DA2-0D70-9F216BB46C5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C6ADAF1-A1B0-656F-4C45-64AE1D5D9E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function.c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5" name="Google Shape;475;p28">
            <a:extLst>
              <a:ext uri="{FF2B5EF4-FFF2-40B4-BE49-F238E27FC236}">
                <a16:creationId xmlns:a16="http://schemas.microsoft.com/office/drawing/2014/main" id="{9553B013-4EC6-2BAE-BA7E-91CC3C8047D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0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2" name="Google Shape;583;p33">
            <a:extLst>
              <a:ext uri="{FF2B5EF4-FFF2-40B4-BE49-F238E27FC236}">
                <a16:creationId xmlns:a16="http://schemas.microsoft.com/office/drawing/2014/main" id="{E9D0E10C-7F5F-5E4D-3449-C63A4D5E1361}"/>
              </a:ext>
            </a:extLst>
          </p:cNvPr>
          <p:cNvSpPr txBox="1"/>
          <p:nvPr/>
        </p:nvSpPr>
        <p:spPr>
          <a:xfrm>
            <a:off x="1220368" y="1213684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" name="Google Shape;583;p33">
            <a:extLst>
              <a:ext uri="{FF2B5EF4-FFF2-40B4-BE49-F238E27FC236}">
                <a16:creationId xmlns:a16="http://schemas.microsoft.com/office/drawing/2014/main" id="{8EC7DDFE-9D49-9E47-78DA-9FFB4F9BA636}"/>
              </a:ext>
            </a:extLst>
          </p:cNvPr>
          <p:cNvSpPr txBox="1"/>
          <p:nvPr/>
        </p:nvSpPr>
        <p:spPr>
          <a:xfrm>
            <a:off x="1220368" y="2061498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92D05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" name="Google Shape;583;p33">
            <a:extLst>
              <a:ext uri="{FF2B5EF4-FFF2-40B4-BE49-F238E27FC236}">
                <a16:creationId xmlns:a16="http://schemas.microsoft.com/office/drawing/2014/main" id="{A2AF51F9-3A25-6F1C-F491-D6AD8270B2E4}"/>
              </a:ext>
            </a:extLst>
          </p:cNvPr>
          <p:cNvSpPr txBox="1"/>
          <p:nvPr/>
        </p:nvSpPr>
        <p:spPr>
          <a:xfrm>
            <a:off x="1220368" y="3082051"/>
            <a:ext cx="7482957" cy="102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92D05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496835941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565</Words>
  <Application>Microsoft Office PowerPoint</Application>
  <PresentationFormat>On-screen Show (16:9)</PresentationFormat>
  <Paragraphs>91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Cambria Math</vt:lpstr>
      <vt:lpstr>Lalezar</vt:lpstr>
      <vt:lpstr>Arial</vt:lpstr>
      <vt:lpstr>B Nazanin</vt:lpstr>
      <vt:lpstr>Fira Code</vt:lpstr>
      <vt:lpstr>Programming Language Workshop for Beginners by Slidesgo</vt:lpstr>
      <vt:lpstr>PowerPoint Presentation</vt:lpstr>
      <vt:lpstr>Loops and Repetions </vt:lpstr>
      <vt:lpstr>Loops in Mathematics </vt:lpstr>
      <vt:lpstr>Where we need loops?;</vt:lpstr>
      <vt:lpstr>Checking a condition</vt:lpstr>
      <vt:lpstr>Loops in Mathematics </vt:lpstr>
      <vt:lpstr>Matrix multiplication;</vt:lpstr>
      <vt:lpstr>Binary and Decimal formats;</vt:lpstr>
      <vt:lpstr>The Fibonacci Series;</vt:lpstr>
      <vt:lpstr>PowerPoint Presentation</vt:lpstr>
      <vt:lpstr>PowerPoint Presentation</vt:lpstr>
      <vt:lpstr>Combination and Permutation;</vt:lpstr>
      <vt:lpstr>Combination and Permutation;</vt:lpstr>
      <vt:lpstr>Combination and Permutation;</vt:lpstr>
      <vt:lpstr>Homework;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asus</cp:lastModifiedBy>
  <cp:revision>7</cp:revision>
  <dcterms:modified xsi:type="dcterms:W3CDTF">2025-07-24T08:43:28Z</dcterms:modified>
</cp:coreProperties>
</file>