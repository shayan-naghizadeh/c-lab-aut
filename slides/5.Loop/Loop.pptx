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9"/>
  </p:notesMasterIdLst>
  <p:sldIdLst>
    <p:sldId id="256" r:id="rId2"/>
    <p:sldId id="268" r:id="rId3"/>
    <p:sldId id="257" r:id="rId4"/>
    <p:sldId id="315" r:id="rId5"/>
    <p:sldId id="316" r:id="rId6"/>
    <p:sldId id="317" r:id="rId7"/>
    <p:sldId id="302" r:id="rId8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10"/>
    </p:embeddedFont>
    <p:embeddedFont>
      <p:font typeface="Fira Code" panose="020B0809050000020004" pitchFamily="49" charset="0"/>
      <p:regular r:id="rId11"/>
      <p:bold r:id="rId1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06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BEAB1D1-4E42-4361-B4FD-13862715D387}">
  <a:tblStyle styleId="{4BEAB1D1-4E42-4361-B4FD-13862715D38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62" d="100"/>
          <a:sy n="162" d="100"/>
        </p:scale>
        <p:origin x="14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e7b3cc9d39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2" name="Google Shape;812;ge7b3cc9d39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FD255F0A-1754-C387-727C-CAB8691DF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4556672B-4B6A-89C7-83BF-17967D40A9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60574E77-1266-81E2-E205-57ADD21C77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355432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EBA7CAD5-5180-F7CF-BCF2-3A01BED28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E358CAE2-A48B-A939-7CCD-1A3EC779ED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78CBE827-BAA0-E16E-C541-FF19C84F51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52546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40DBF483-6B8A-9ACF-015A-139B27160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4CE0E88F-3060-7502-443F-0145264A60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9ABDE0FE-A742-ED21-BC3C-F33BC1AB77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597785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C986BD86-A03F-4F4B-AB60-0F5C12C06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e7f9c668d6_0_0:notes">
            <a:extLst>
              <a:ext uri="{FF2B5EF4-FFF2-40B4-BE49-F238E27FC236}">
                <a16:creationId xmlns:a16="http://schemas.microsoft.com/office/drawing/2014/main" id="{A5519F06-BEF0-905A-E155-3E2346CA15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e7f9c668d6_0_0:notes">
            <a:extLst>
              <a:ext uri="{FF2B5EF4-FFF2-40B4-BE49-F238E27FC236}">
                <a16:creationId xmlns:a16="http://schemas.microsoft.com/office/drawing/2014/main" id="{24656811-946F-AD7F-285F-EFCCBFB5B5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06471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"/>
          <p:cNvSpPr txBox="1">
            <a:spLocks noGrp="1"/>
          </p:cNvSpPr>
          <p:nvPr>
            <p:ph type="body" idx="1"/>
          </p:nvPr>
        </p:nvSpPr>
        <p:spPr>
          <a:xfrm>
            <a:off x="1464250" y="1063175"/>
            <a:ext cx="6969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∗"/>
              <a:defRPr sz="10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6" name="Google Shape;56;p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0" name="Google Shape;60;p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4" name="Google Shape;64;p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5" name="Google Shape;65;p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"/>
          <p:cNvSpPr txBox="1">
            <a:spLocks noGrp="1"/>
          </p:cNvSpPr>
          <p:nvPr>
            <p:ph type="title"/>
          </p:nvPr>
        </p:nvSpPr>
        <p:spPr>
          <a:xfrm>
            <a:off x="710125" y="542575"/>
            <a:ext cx="3861900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">
  <p:cSld name="CUSTOM_9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1" name="Google Shape;421;p2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2" name="Google Shape;422;p2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3" name="Google Shape;423;p2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4" name="Google Shape;424;p2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8" name="Google Shape;428;p2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0" name="Google Shape;430;p2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1" name="Google Shape;431;p2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2" name="Google Shape;432;p2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CUSTOM_9_2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6" r:id="rId3"/>
    <p:sldLayoutId id="2147483658" r:id="rId4"/>
    <p:sldLayoutId id="2147483669" r:id="rId5"/>
    <p:sldLayoutId id="2147483670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27"/>
          <p:cNvSpPr txBox="1">
            <a:spLocks noGrp="1"/>
          </p:cNvSpPr>
          <p:nvPr>
            <p:ph type="subTitle" idx="1"/>
          </p:nvPr>
        </p:nvSpPr>
        <p:spPr>
          <a:xfrm>
            <a:off x="754333" y="4669206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/>
            <a:r>
              <a:rPr lang="en-US" sz="1100" dirty="0"/>
              <a:t>#1</a:t>
            </a:r>
            <a:endParaRPr sz="1100" dirty="0"/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73A6F7C9-409A-797F-AF51-72A58DC2B3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5C6CE61-D018-5700-DCF4-675D5730D63E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3784285" y="779086"/>
            <a:ext cx="1439504" cy="149896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31D1E6-7AD5-BCE0-AB30-4C08B98FD69B}"/>
              </a:ext>
            </a:extLst>
          </p:cNvPr>
          <p:cNvSpPr txBox="1"/>
          <p:nvPr/>
        </p:nvSpPr>
        <p:spPr>
          <a:xfrm>
            <a:off x="2458994" y="2468693"/>
            <a:ext cx="4226011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 err="1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Amirkabir</a:t>
            </a: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 University of Technology 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(Tehran Polytechnic)</a:t>
            </a:r>
          </a:p>
          <a:p>
            <a:pPr algn="ctr">
              <a:lnSpc>
                <a:spcPct val="150000"/>
              </a:lnSpc>
              <a:buClr>
                <a:schemeClr val="dk2"/>
              </a:buClr>
              <a:buSzPts val="1400"/>
            </a:pPr>
            <a:r>
              <a:rPr lang="en-US" sz="1200" b="1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  <a:sym typeface="Fira Code"/>
              </a:rPr>
              <a:t>Department of Computer Engineering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5634A6-239A-3A0C-37A3-73327B285D77}"/>
              </a:ext>
            </a:extLst>
          </p:cNvPr>
          <p:cNvSpPr txBox="1"/>
          <p:nvPr/>
        </p:nvSpPr>
        <p:spPr>
          <a:xfrm>
            <a:off x="4272348" y="3408151"/>
            <a:ext cx="17114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3"/>
                </a:solidFill>
                <a:latin typeface="Arial" panose="020B0604020202020204" pitchFamily="34" charset="0"/>
                <a:ea typeface="Fira Code"/>
                <a:cs typeface="Arial" panose="020B0604020202020204" pitchFamily="34" charset="0"/>
              </a:rPr>
              <a:t>Loop</a:t>
            </a:r>
          </a:p>
        </p:txBody>
      </p:sp>
      <p:sp>
        <p:nvSpPr>
          <p:cNvPr id="5" name="Google Shape;473;p28">
            <a:extLst>
              <a:ext uri="{FF2B5EF4-FFF2-40B4-BE49-F238E27FC236}">
                <a16:creationId xmlns:a16="http://schemas.microsoft.com/office/drawing/2014/main" id="{4F64728B-1273-91D0-050F-D7B5AE4F9D9B}"/>
              </a:ext>
            </a:extLst>
          </p:cNvPr>
          <p:cNvSpPr txBox="1">
            <a:spLocks/>
          </p:cNvSpPr>
          <p:nvPr/>
        </p:nvSpPr>
        <p:spPr>
          <a:xfrm>
            <a:off x="729503" y="4701324"/>
            <a:ext cx="4865100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-US" dirty="0">
                <a:solidFill>
                  <a:schemeClr val="accent3"/>
                </a:solidFill>
              </a:rPr>
              <a:t>Programming Language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39"/>
          <p:cNvSpPr txBox="1">
            <a:spLocks noGrp="1"/>
          </p:cNvSpPr>
          <p:nvPr>
            <p:ph type="title"/>
          </p:nvPr>
        </p:nvSpPr>
        <p:spPr>
          <a:xfrm>
            <a:off x="710124" y="542575"/>
            <a:ext cx="4853393" cy="14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Loops and Repetions </a:t>
            </a:r>
            <a:endParaRPr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Where we need loops?</a:t>
            </a:r>
            <a:r>
              <a:rPr lang="en" sz="2400" dirty="0">
                <a:solidFill>
                  <a:schemeClr val="accent2"/>
                </a:solidFill>
              </a:rPr>
              <a:t>;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/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loop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6" name="Google Shape;583;p33">
            <a:extLst>
              <a:ext uri="{FF2B5EF4-FFF2-40B4-BE49-F238E27FC236}">
                <a16:creationId xmlns:a16="http://schemas.microsoft.com/office/drawing/2014/main" id="{BE0B1925-328B-2EDA-5EFE-724887B49975}"/>
              </a:ext>
            </a:extLst>
          </p:cNvPr>
          <p:cNvSpPr txBox="1"/>
          <p:nvPr/>
        </p:nvSpPr>
        <p:spPr>
          <a:xfrm>
            <a:off x="1232992" y="1189311"/>
            <a:ext cx="6559877" cy="648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Where we need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repetition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 or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automation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 .</a:t>
            </a: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EBF48B63-1CA6-9DD1-E225-C55CD1A59D3F}"/>
              </a:ext>
            </a:extLst>
          </p:cNvPr>
          <p:cNvSpPr txBox="1"/>
          <p:nvPr/>
        </p:nvSpPr>
        <p:spPr>
          <a:xfrm>
            <a:off x="1232992" y="2302088"/>
            <a:ext cx="7572824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What are the needed syntaxes for performing repetitions in C?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Recap what you need!</a:t>
            </a: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4109CEB9-E14C-D73E-C8C7-8F01C16F2D81}"/>
              </a:ext>
            </a:extLst>
          </p:cNvPr>
          <p:cNvSpPr txBox="1"/>
          <p:nvPr/>
        </p:nvSpPr>
        <p:spPr>
          <a:xfrm>
            <a:off x="1232992" y="1627013"/>
            <a:ext cx="7511281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In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computer science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, most of algorithms are full of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repetitions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. 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D7051C12-CD8A-C559-758A-793D6235BDDC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>
                <a:solidFill>
                  <a:schemeClr val="accent3"/>
                </a:solidFill>
              </a:rPr>
              <a:t>1</a:t>
            </a:r>
            <a:endParaRPr lang="en"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A12C1D79-5B22-0C08-E549-40AEE7C0C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A4FEBA93-B6AD-99EB-733D-628C3B85C5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49732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Checking a condition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94238F7F-8916-CDCF-D768-0A2BD47699D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6B65766E-46F8-5A5A-FCB4-8AFB7DF1231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loop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5C774D99-FCD0-B85F-FEF4-9FBB1E609265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1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461B3BF7-7F33-DAD1-7885-69749E423A8E}"/>
              </a:ext>
            </a:extLst>
          </p:cNvPr>
          <p:cNvSpPr txBox="1"/>
          <p:nvPr/>
        </p:nvSpPr>
        <p:spPr>
          <a:xfrm>
            <a:off x="1482686" y="2916790"/>
            <a:ext cx="6951164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chemeClr val="accent1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4A31E41C-05DD-5F10-36FD-956E8152CA34}"/>
              </a:ext>
            </a:extLst>
          </p:cNvPr>
          <p:cNvSpPr txBox="1"/>
          <p:nvPr/>
        </p:nvSpPr>
        <p:spPr>
          <a:xfrm>
            <a:off x="1178647" y="1159855"/>
            <a:ext cx="7847366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Write a program to determine whether a given number has specific characteristics.</a:t>
            </a:r>
          </a:p>
        </p:txBody>
      </p:sp>
      <p:sp>
        <p:nvSpPr>
          <p:cNvPr id="3" name="Google Shape;583;p33">
            <a:extLst>
              <a:ext uri="{FF2B5EF4-FFF2-40B4-BE49-F238E27FC236}">
                <a16:creationId xmlns:a16="http://schemas.microsoft.com/office/drawing/2014/main" id="{C80140A1-6BE8-CE1B-56CE-C573941297A5}"/>
              </a:ext>
            </a:extLst>
          </p:cNvPr>
          <p:cNvSpPr txBox="1"/>
          <p:nvPr/>
        </p:nvSpPr>
        <p:spPr>
          <a:xfrm>
            <a:off x="1236767" y="2130226"/>
            <a:ext cx="7516207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The number is named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ugly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 if  </a:t>
            </a: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its only prime factors are 2, 3, or 5.</a:t>
            </a: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 </a:t>
            </a:r>
          </a:p>
        </p:txBody>
      </p:sp>
      <p:sp>
        <p:nvSpPr>
          <p:cNvPr id="5" name="Google Shape;583;p33">
            <a:extLst>
              <a:ext uri="{FF2B5EF4-FFF2-40B4-BE49-F238E27FC236}">
                <a16:creationId xmlns:a16="http://schemas.microsoft.com/office/drawing/2014/main" id="{248D9CC4-7436-C354-3BDD-F511C6A62306}"/>
              </a:ext>
            </a:extLst>
          </p:cNvPr>
          <p:cNvSpPr txBox="1"/>
          <p:nvPr/>
        </p:nvSpPr>
        <p:spPr>
          <a:xfrm>
            <a:off x="1236767" y="3136552"/>
            <a:ext cx="7553941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You need to check specific factors of a number!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64F0BEC7-07BA-613C-8191-8F7BA4B4FABF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2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8930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A5C63532-A56A-A2DD-6642-E77B13E38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DD87655F-4759-CC33-45F3-706B18E50F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Loops in Mathematics 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048CA374-C851-20BE-4952-F1C0C29354E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66BCC8C0-14E1-3DBE-9816-F6CEC760C0F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loop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FF577399-F725-FDCA-7F92-F9668900A04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4A204950-C2B1-7646-E286-FC6CF1F0AC1D}"/>
              </a:ext>
            </a:extLst>
          </p:cNvPr>
          <p:cNvSpPr txBox="1"/>
          <p:nvPr/>
        </p:nvSpPr>
        <p:spPr>
          <a:xfrm>
            <a:off x="1038286" y="1154707"/>
            <a:ext cx="7885973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Binomial Expansion series is very popular in mathematics, which is shown in the below. </a:t>
            </a: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(search for its application!)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Google Shape;583;p33">
                <a:extLst>
                  <a:ext uri="{FF2B5EF4-FFF2-40B4-BE49-F238E27FC236}">
                    <a16:creationId xmlns:a16="http://schemas.microsoft.com/office/drawing/2014/main" id="{EF383C1A-18CF-BFCD-278C-E3E74D5999DF}"/>
                  </a:ext>
                </a:extLst>
              </p:cNvPr>
              <p:cNvSpPr txBox="1"/>
              <p:nvPr/>
            </p:nvSpPr>
            <p:spPr>
              <a:xfrm>
                <a:off x="845733" y="2248818"/>
                <a:ext cx="7103564" cy="9447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d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𝑥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+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𝑎</m:t>
                              </m:r>
                            </m:e>
                          </m:d>
                        </m:e>
                        <m:sup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𝑛</m:t>
                          </m:r>
                        </m:sup>
                      </m:sSup>
                      <m:r>
                        <a:rPr lang="pt-BR" sz="20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Fira Code"/>
                          <a:cs typeface="Fira Code"/>
                          <a:sym typeface="Fira Code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</m:ctrlPr>
                        </m:naryPr>
                        <m:sub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𝑘</m:t>
                          </m:r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=0</m:t>
                          </m:r>
                        </m:sub>
                        <m:sup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dPr>
                            <m:e>
                              <m:f>
                                <m:fPr>
                                  <m:type m:val="noBar"/>
                                  <m:ctrlP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</m:ctrlPr>
                                </m:fPr>
                                <m:num>
                                  <m: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sSup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𝑘</m:t>
                              </m:r>
                            </m:sup>
                          </m:sSup>
                          <m:sSup>
                            <m:sSup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sSup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𝑛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−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𝑘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000" dirty="0">
                  <a:solidFill>
                    <a:schemeClr val="accent1"/>
                  </a:solidFill>
                  <a:latin typeface="Fira Code"/>
                  <a:ea typeface="Fira Code"/>
                  <a:cs typeface="Fira Code"/>
                  <a:sym typeface="Fira Code"/>
                </a:endParaRPr>
              </a:p>
            </p:txBody>
          </p:sp>
        </mc:Choice>
        <mc:Fallback xmlns="">
          <p:sp>
            <p:nvSpPr>
              <p:cNvPr id="2" name="Google Shape;583;p33">
                <a:extLst>
                  <a:ext uri="{FF2B5EF4-FFF2-40B4-BE49-F238E27FC236}">
                    <a16:creationId xmlns:a16="http://schemas.microsoft.com/office/drawing/2014/main" id="{EF383C1A-18CF-BFCD-278C-E3E74D5999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733" y="2248818"/>
                <a:ext cx="7103564" cy="9447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Google Shape;583;p33">
            <a:extLst>
              <a:ext uri="{FF2B5EF4-FFF2-40B4-BE49-F238E27FC236}">
                <a16:creationId xmlns:a16="http://schemas.microsoft.com/office/drawing/2014/main" id="{77460099-C57F-80CE-D33E-F345EB0CD3BD}"/>
              </a:ext>
            </a:extLst>
          </p:cNvPr>
          <p:cNvSpPr txBox="1"/>
          <p:nvPr/>
        </p:nvSpPr>
        <p:spPr>
          <a:xfrm>
            <a:off x="1247158" y="3342930"/>
            <a:ext cx="6951164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Where we see a sum notation, we need a loop!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93F60C11-CD9A-5A95-4B28-E81672C21911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3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44326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5045F474-0D37-AAEA-E779-B945B904D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B4D7C22E-B710-C4AA-83A4-5607308F23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Loops in Mathematics; </a:t>
            </a: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044F11C4-80AD-4680-3211-15F3AA69F22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688B9FA-7C35-02B0-3F58-2474DA78DD2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loop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EB8C1CBD-790B-6F9B-D992-AE4EF8AEFF86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2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1B23537C-EDDE-7549-5A00-E6396B849979}"/>
              </a:ext>
            </a:extLst>
          </p:cNvPr>
          <p:cNvSpPr txBox="1"/>
          <p:nvPr/>
        </p:nvSpPr>
        <p:spPr>
          <a:xfrm>
            <a:off x="1143250" y="1088675"/>
            <a:ext cx="7898030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Binomial Expansion series is very popular in mathematics, which is shown in the below. </a:t>
            </a: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(search for its application!)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Google Shape;583;p33">
                <a:extLst>
                  <a:ext uri="{FF2B5EF4-FFF2-40B4-BE49-F238E27FC236}">
                    <a16:creationId xmlns:a16="http://schemas.microsoft.com/office/drawing/2014/main" id="{9DE129DE-57ED-7A93-7186-D87EE94FF316}"/>
                  </a:ext>
                </a:extLst>
              </p:cNvPr>
              <p:cNvSpPr txBox="1"/>
              <p:nvPr/>
            </p:nvSpPr>
            <p:spPr>
              <a:xfrm>
                <a:off x="1014243" y="2119441"/>
                <a:ext cx="7103564" cy="9447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d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𝑥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+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𝑎</m:t>
                              </m:r>
                            </m:e>
                          </m:d>
                        </m:e>
                        <m:sup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𝑛</m:t>
                          </m:r>
                        </m:sup>
                      </m:sSup>
                      <m:r>
                        <a:rPr lang="pt-BR" sz="20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Fira Code"/>
                          <a:cs typeface="Fira Code"/>
                          <a:sym typeface="Fira Code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</m:ctrlPr>
                        </m:naryPr>
                        <m:sub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𝑘</m:t>
                          </m:r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=0</m:t>
                          </m:r>
                        </m:sub>
                        <m:sup>
                          <m:r>
                            <a:rPr lang="pt-BR" sz="20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Fira Code"/>
                              <a:cs typeface="Fira Code"/>
                              <a:sym typeface="Fira Code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dPr>
                            <m:e>
                              <m:f>
                                <m:fPr>
                                  <m:type m:val="noBar"/>
                                  <m:ctrlP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</m:ctrlPr>
                                </m:fPr>
                                <m:num>
                                  <m: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pt-BR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Fira Code"/>
                                      <a:cs typeface="Fira Code"/>
                                      <a:sym typeface="Fira Code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sSup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𝑘</m:t>
                              </m:r>
                            </m:sup>
                          </m:sSup>
                          <m:sSup>
                            <m:sSupPr>
                              <m:ctrlP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</m:ctrlPr>
                            </m:sSupPr>
                            <m:e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𝑛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−</m:t>
                              </m:r>
                              <m:r>
                                <a:rPr lang="pt-BR" sz="20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Fira Code"/>
                                  <a:cs typeface="Fira Code"/>
                                  <a:sym typeface="Fira Code"/>
                                </a:rPr>
                                <m:t>𝑘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000" dirty="0">
                  <a:solidFill>
                    <a:schemeClr val="accent1"/>
                  </a:solidFill>
                  <a:latin typeface="Fira Code"/>
                  <a:ea typeface="Fira Code"/>
                  <a:cs typeface="Fira Code"/>
                  <a:sym typeface="Fira Code"/>
                </a:endParaRPr>
              </a:p>
            </p:txBody>
          </p:sp>
        </mc:Choice>
        <mc:Fallback xmlns="">
          <p:sp>
            <p:nvSpPr>
              <p:cNvPr id="2" name="Google Shape;583;p33">
                <a:extLst>
                  <a:ext uri="{FF2B5EF4-FFF2-40B4-BE49-F238E27FC236}">
                    <a16:creationId xmlns:a16="http://schemas.microsoft.com/office/drawing/2014/main" id="{9DE129DE-57ED-7A93-7186-D87EE94FF3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4243" y="2119441"/>
                <a:ext cx="7103564" cy="9447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Google Shape;583;p33">
            <a:extLst>
              <a:ext uri="{FF2B5EF4-FFF2-40B4-BE49-F238E27FC236}">
                <a16:creationId xmlns:a16="http://schemas.microsoft.com/office/drawing/2014/main" id="{8B9D5C64-373E-89D5-447C-3896716AA3DB}"/>
              </a:ext>
            </a:extLst>
          </p:cNvPr>
          <p:cNvSpPr txBox="1"/>
          <p:nvPr/>
        </p:nvSpPr>
        <p:spPr>
          <a:xfrm>
            <a:off x="1396162" y="3538767"/>
            <a:ext cx="7747838" cy="1072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92D050"/>
                </a:solidFill>
                <a:latin typeface="Fira Code"/>
                <a:ea typeface="Fira Code"/>
                <a:cs typeface="Fira Code"/>
                <a:sym typeface="Fira Code"/>
              </a:rPr>
              <a:t>X, a, and n should be set as input parameters. </a:t>
            </a:r>
          </a:p>
        </p:txBody>
      </p:sp>
      <p:sp>
        <p:nvSpPr>
          <p:cNvPr id="3" name="Google Shape;583;p33">
            <a:extLst>
              <a:ext uri="{FF2B5EF4-FFF2-40B4-BE49-F238E27FC236}">
                <a16:creationId xmlns:a16="http://schemas.microsoft.com/office/drawing/2014/main" id="{434BE448-723B-C67B-C211-D358334323B6}"/>
              </a:ext>
            </a:extLst>
          </p:cNvPr>
          <p:cNvSpPr txBox="1"/>
          <p:nvPr/>
        </p:nvSpPr>
        <p:spPr>
          <a:xfrm>
            <a:off x="1369604" y="3044082"/>
            <a:ext cx="6951164" cy="9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rPr>
              <a:t>Try to implement the above formula using loops!</a:t>
            </a:r>
          </a:p>
        </p:txBody>
      </p:sp>
      <p:sp>
        <p:nvSpPr>
          <p:cNvPr id="4" name="Google Shape;473;p28">
            <a:extLst>
              <a:ext uri="{FF2B5EF4-FFF2-40B4-BE49-F238E27FC236}">
                <a16:creationId xmlns:a16="http://schemas.microsoft.com/office/drawing/2014/main" id="{652F057F-2CA1-8B6D-7390-C8CF39F80CD5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4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9361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75560732-9D9B-8264-DD98-E36C9D864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8">
            <a:extLst>
              <a:ext uri="{FF2B5EF4-FFF2-40B4-BE49-F238E27FC236}">
                <a16:creationId xmlns:a16="http://schemas.microsoft.com/office/drawing/2014/main" id="{534ED924-8B92-9634-7D64-E2B868C9A0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accent2"/>
                </a:solidFill>
              </a:rPr>
              <a:t>G</a:t>
            </a:r>
            <a:r>
              <a:rPr lang="en" sz="2400" dirty="0">
                <a:solidFill>
                  <a:schemeClr val="accent2"/>
                </a:solidFill>
              </a:rPr>
              <a:t>enerating Pattern;</a:t>
            </a:r>
            <a:br>
              <a:rPr lang="en" sz="2400" dirty="0">
                <a:solidFill>
                  <a:schemeClr val="accent2"/>
                </a:solidFill>
              </a:rPr>
            </a:br>
            <a:br>
              <a:rPr lang="en" sz="2400" dirty="0">
                <a:solidFill>
                  <a:schemeClr val="accent2"/>
                </a:solidFill>
              </a:rPr>
            </a:br>
            <a:br>
              <a:rPr lang="en" sz="2400" dirty="0">
                <a:solidFill>
                  <a:schemeClr val="accent2"/>
                </a:solidFill>
              </a:rPr>
            </a:br>
            <a:endParaRPr sz="2400" dirty="0">
              <a:solidFill>
                <a:schemeClr val="accent2"/>
              </a:solidFill>
            </a:endParaRPr>
          </a:p>
        </p:txBody>
      </p:sp>
      <p:sp>
        <p:nvSpPr>
          <p:cNvPr id="473" name="Google Shape;473;p28">
            <a:extLst>
              <a:ext uri="{FF2B5EF4-FFF2-40B4-BE49-F238E27FC236}">
                <a16:creationId xmlns:a16="http://schemas.microsoft.com/office/drawing/2014/main" id="{28DD3817-800E-A4F3-90A5-355C4618253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accent3"/>
                </a:solidFill>
              </a:rPr>
              <a:t>Programming Language Lab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4" name="Google Shape;474;p28">
            <a:extLst>
              <a:ext uri="{FF2B5EF4-FFF2-40B4-BE49-F238E27FC236}">
                <a16:creationId xmlns:a16="http://schemas.microsoft.com/office/drawing/2014/main" id="{1E5BB27D-3DA3-86CE-D408-0AA17F27629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loops</a:t>
            </a:r>
            <a:r>
              <a:rPr lang="en" sz="1400" dirty="0">
                <a:solidFill>
                  <a:schemeClr val="accent3"/>
                </a:solidFill>
              </a:rPr>
              <a:t>.c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475" name="Google Shape;475;p28">
            <a:extLst>
              <a:ext uri="{FF2B5EF4-FFF2-40B4-BE49-F238E27FC236}">
                <a16:creationId xmlns:a16="http://schemas.microsoft.com/office/drawing/2014/main" id="{B056DB4F-849A-5272-DA79-04FBEE2D5DB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Task 3</a:t>
            </a:r>
            <a:endParaRPr sz="1400" dirty="0">
              <a:solidFill>
                <a:schemeClr val="accent3"/>
              </a:solidFill>
            </a:endParaRPr>
          </a:p>
        </p:txBody>
      </p:sp>
      <p:sp>
        <p:nvSpPr>
          <p:cNvPr id="2" name="Google Shape;583;p33">
            <a:extLst>
              <a:ext uri="{FF2B5EF4-FFF2-40B4-BE49-F238E27FC236}">
                <a16:creationId xmlns:a16="http://schemas.microsoft.com/office/drawing/2014/main" id="{7509BE81-2412-6A1F-3FC4-7312972378FB}"/>
              </a:ext>
            </a:extLst>
          </p:cNvPr>
          <p:cNvSpPr txBox="1"/>
          <p:nvPr/>
        </p:nvSpPr>
        <p:spPr>
          <a:xfrm>
            <a:off x="1225860" y="1045687"/>
            <a:ext cx="7125380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1"/>
                </a:solidFill>
                <a:latin typeface="Fira Code"/>
                <a:ea typeface="Fira Code"/>
                <a:cs typeface="Fira Code"/>
                <a:sym typeface="Fira Code"/>
              </a:rPr>
              <a:t>Try to generate the given patterns by using loops.</a:t>
            </a:r>
          </a:p>
        </p:txBody>
      </p:sp>
      <p:sp>
        <p:nvSpPr>
          <p:cNvPr id="7" name="Google Shape;583;p33">
            <a:extLst>
              <a:ext uri="{FF2B5EF4-FFF2-40B4-BE49-F238E27FC236}">
                <a16:creationId xmlns:a16="http://schemas.microsoft.com/office/drawing/2014/main" id="{5EDB0012-86BD-FFB0-B8E9-862FB969B95C}"/>
              </a:ext>
            </a:extLst>
          </p:cNvPr>
          <p:cNvSpPr txBox="1"/>
          <p:nvPr/>
        </p:nvSpPr>
        <p:spPr>
          <a:xfrm>
            <a:off x="1159638" y="3837850"/>
            <a:ext cx="5698362" cy="102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600" dirty="0">
              <a:solidFill>
                <a:srgbClr val="92D05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6C3449-0826-6930-3BCC-16C16692306D}"/>
              </a:ext>
            </a:extLst>
          </p:cNvPr>
          <p:cNvSpPr txBox="1"/>
          <p:nvPr/>
        </p:nvSpPr>
        <p:spPr>
          <a:xfrm>
            <a:off x="4197391" y="2752975"/>
            <a:ext cx="1128835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1              1</a:t>
            </a:r>
          </a:p>
          <a:p>
            <a:r>
              <a:rPr lang="en-US" dirty="0">
                <a:solidFill>
                  <a:srgbClr val="FFC000"/>
                </a:solidFill>
              </a:rPr>
              <a:t>12          21 </a:t>
            </a:r>
          </a:p>
          <a:p>
            <a:r>
              <a:rPr lang="en-US" dirty="0">
                <a:solidFill>
                  <a:srgbClr val="FFC000"/>
                </a:solidFill>
              </a:rPr>
              <a:t>123      321</a:t>
            </a:r>
          </a:p>
          <a:p>
            <a:r>
              <a:rPr lang="en-US" dirty="0">
                <a:solidFill>
                  <a:srgbClr val="FFC000"/>
                </a:solidFill>
              </a:rPr>
              <a:t>1234  4321</a:t>
            </a:r>
          </a:p>
          <a:p>
            <a:r>
              <a:rPr lang="en-US" dirty="0">
                <a:solidFill>
                  <a:srgbClr val="FFC000"/>
                </a:solidFill>
              </a:rPr>
              <a:t>123454321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DAB1F9-54BC-9CDC-5886-32DB18E3A597}"/>
              </a:ext>
            </a:extLst>
          </p:cNvPr>
          <p:cNvSpPr txBox="1"/>
          <p:nvPr/>
        </p:nvSpPr>
        <p:spPr>
          <a:xfrm>
            <a:off x="2490896" y="2651973"/>
            <a:ext cx="130355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C000"/>
                </a:solidFill>
              </a:rPr>
              <a:t>*</a:t>
            </a:r>
          </a:p>
          <a:p>
            <a:pPr algn="ctr"/>
            <a:r>
              <a:rPr lang="en-US" dirty="0">
                <a:solidFill>
                  <a:srgbClr val="FFC000"/>
                </a:solidFill>
              </a:rPr>
              <a:t>**</a:t>
            </a:r>
          </a:p>
          <a:p>
            <a:pPr algn="ctr"/>
            <a:r>
              <a:rPr lang="en-US" dirty="0">
                <a:solidFill>
                  <a:srgbClr val="FFC000"/>
                </a:solidFill>
              </a:rPr>
              <a:t>***</a:t>
            </a:r>
          </a:p>
          <a:p>
            <a:pPr algn="ctr"/>
            <a:r>
              <a:rPr lang="en-US" dirty="0">
                <a:solidFill>
                  <a:srgbClr val="FFC000"/>
                </a:solidFill>
              </a:rPr>
              <a:t>****</a:t>
            </a:r>
          </a:p>
          <a:p>
            <a:pPr algn="ctr"/>
            <a:r>
              <a:rPr lang="en-US" dirty="0">
                <a:solidFill>
                  <a:srgbClr val="FFC000"/>
                </a:solidFill>
              </a:rPr>
              <a:t>*****</a:t>
            </a:r>
          </a:p>
          <a:p>
            <a:pPr algn="ctr"/>
            <a:r>
              <a:rPr lang="en-US" dirty="0">
                <a:solidFill>
                  <a:srgbClr val="FFC000"/>
                </a:solidFill>
              </a:rPr>
              <a:t>******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6F2A75-AD39-BAF1-81C1-809D163A9E88}"/>
              </a:ext>
            </a:extLst>
          </p:cNvPr>
          <p:cNvSpPr txBox="1"/>
          <p:nvPr/>
        </p:nvSpPr>
        <p:spPr>
          <a:xfrm>
            <a:off x="1541590" y="2608678"/>
            <a:ext cx="130355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*</a:t>
            </a:r>
          </a:p>
          <a:p>
            <a:r>
              <a:rPr lang="en-US" dirty="0">
                <a:solidFill>
                  <a:srgbClr val="FFC000"/>
                </a:solidFill>
              </a:rPr>
              <a:t>**</a:t>
            </a:r>
          </a:p>
          <a:p>
            <a:r>
              <a:rPr lang="en-US" dirty="0">
                <a:solidFill>
                  <a:srgbClr val="FFC000"/>
                </a:solidFill>
              </a:rPr>
              <a:t>***</a:t>
            </a:r>
          </a:p>
          <a:p>
            <a:r>
              <a:rPr lang="en-US" dirty="0">
                <a:solidFill>
                  <a:srgbClr val="FFC000"/>
                </a:solidFill>
              </a:rPr>
              <a:t>***</a:t>
            </a:r>
          </a:p>
          <a:p>
            <a:r>
              <a:rPr lang="en-US" dirty="0">
                <a:solidFill>
                  <a:srgbClr val="FFC000"/>
                </a:solidFill>
              </a:rPr>
              <a:t>*****</a:t>
            </a:r>
          </a:p>
          <a:p>
            <a:r>
              <a:rPr lang="en-US" dirty="0">
                <a:solidFill>
                  <a:srgbClr val="FFC000"/>
                </a:solidFill>
              </a:rPr>
              <a:t>******</a:t>
            </a:r>
          </a:p>
        </p:txBody>
      </p:sp>
      <p:sp>
        <p:nvSpPr>
          <p:cNvPr id="3" name="Google Shape;473;p28">
            <a:extLst>
              <a:ext uri="{FF2B5EF4-FFF2-40B4-BE49-F238E27FC236}">
                <a16:creationId xmlns:a16="http://schemas.microsoft.com/office/drawing/2014/main" id="{D31388A3-4ED2-3CF2-05B3-62E0E86B9F2C}"/>
              </a:ext>
            </a:extLst>
          </p:cNvPr>
          <p:cNvSpPr txBox="1">
            <a:spLocks/>
          </p:cNvSpPr>
          <p:nvPr/>
        </p:nvSpPr>
        <p:spPr>
          <a:xfrm>
            <a:off x="8433851" y="4694675"/>
            <a:ext cx="319124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>
              <a:buFont typeface="Fira Code"/>
              <a:buNone/>
            </a:pPr>
            <a:r>
              <a:rPr lang="en" sz="1100" dirty="0">
                <a:solidFill>
                  <a:schemeClr val="accent3"/>
                </a:solidFill>
              </a:rPr>
              <a:t>5</a:t>
            </a:r>
            <a:endParaRPr lang="e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697921"/>
      </p:ext>
    </p:extLst>
  </p:cSld>
  <p:clrMapOvr>
    <a:masterClrMapping/>
  </p:clrMapOvr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925</TotalTime>
  <Words>278</Words>
  <Application>Microsoft Office PowerPoint</Application>
  <PresentationFormat>On-screen Show (16:9)</PresentationFormat>
  <Paragraphs>62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Fira Code</vt:lpstr>
      <vt:lpstr>Cambria Math</vt:lpstr>
      <vt:lpstr>Programming Language Workshop for Beginners by Slidesgo</vt:lpstr>
      <vt:lpstr>PowerPoint Presentation</vt:lpstr>
      <vt:lpstr>Loops and Repetions </vt:lpstr>
      <vt:lpstr>Where we need loops?;</vt:lpstr>
      <vt:lpstr>Checking a condition</vt:lpstr>
      <vt:lpstr>Loops in Mathematics </vt:lpstr>
      <vt:lpstr>Loops in Mathematics; </vt:lpstr>
      <vt:lpstr>Generating Pattern; 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shayan naghizadeh</dc:creator>
  <cp:lastModifiedBy>shayan naghizadeh</cp:lastModifiedBy>
  <cp:revision>10</cp:revision>
  <dcterms:modified xsi:type="dcterms:W3CDTF">2025-08-07T08:30:34Z</dcterms:modified>
</cp:coreProperties>
</file>