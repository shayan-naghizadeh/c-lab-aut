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7"/>
  </p:notesMasterIdLst>
  <p:sldIdLst>
    <p:sldId id="256" r:id="rId2"/>
    <p:sldId id="268" r:id="rId3"/>
    <p:sldId id="257" r:id="rId4"/>
    <p:sldId id="315" r:id="rId5"/>
    <p:sldId id="318" r:id="rId6"/>
    <p:sldId id="319" r:id="rId7"/>
    <p:sldId id="320" r:id="rId8"/>
    <p:sldId id="321" r:id="rId9"/>
    <p:sldId id="322" r:id="rId10"/>
    <p:sldId id="323" r:id="rId11"/>
    <p:sldId id="316" r:id="rId12"/>
    <p:sldId id="317" r:id="rId13"/>
    <p:sldId id="302" r:id="rId14"/>
    <p:sldId id="324" r:id="rId15"/>
    <p:sldId id="325" r:id="rId16"/>
  </p:sldIdLst>
  <p:sldSz cx="9144000" cy="5143500" type="screen16x9"/>
  <p:notesSz cx="6858000" cy="9144000"/>
  <p:embeddedFontLst>
    <p:embeddedFont>
      <p:font typeface="Arial Rounded MT Bold" panose="020F0704030504030204" pitchFamily="34" charset="0"/>
      <p:regular r:id="rId18"/>
    </p:embeddedFont>
    <p:embeddedFont>
      <p:font typeface="Cambria Math" panose="02040503050406030204" pitchFamily="18" charset="0"/>
      <p:regular r:id="rId19"/>
    </p:embeddedFont>
    <p:embeddedFont>
      <p:font typeface="Fira Code" panose="020B0809050000020004" pitchFamily="49" charset="0"/>
      <p:regular r:id="rId20"/>
      <p:bold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506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BEAB1D1-4E42-4361-B4FD-13862715D387}">
  <a:tblStyle styleId="{4BEAB1D1-4E42-4361-B4FD-13862715D38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e7b3cc9d39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e7b3cc9d39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FD255F0A-1754-C387-727C-CAB8691DF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4556672B-4B6A-89C7-83BF-17967D40A9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60574E77-1266-81E2-E205-57ADD21C77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55432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EBA7CAD5-5180-F7CF-BCF2-3A01BED28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E358CAE2-A48B-A939-7CCD-1A3EC779ED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78CBE827-BAA0-E16E-C541-FF19C84F51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52546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40DBF483-6B8A-9ACF-015A-139B27160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4CE0E88F-3060-7502-443F-0145264A60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9ABDE0FE-A742-ED21-BC3C-F33BC1AB77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97785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C986BD86-A03F-4F4B-AB60-0F5C12C06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A5519F06-BEF0-905A-E155-3E2346CA15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24656811-946F-AD7F-285F-EFCCBFB5B5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0647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413525" y="1144250"/>
            <a:ext cx="57888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2231025" y="2765300"/>
            <a:ext cx="6202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2"/>
          </p:nvPr>
        </p:nvSpPr>
        <p:spPr>
          <a:xfrm>
            <a:off x="1788725" y="1761800"/>
            <a:ext cx="5788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" name="Google Shape;19;p2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" name="Google Shape;20;p2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" name="Google Shape;21;p2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" name="Google Shape;22;p2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" name="Google Shape;23;p2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" name="Google Shape;24;p2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" name="Google Shape;25;p2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" name="Google Shape;26;p2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" name="Google Shape;27;p2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"/>
          <p:cNvSpPr txBox="1">
            <a:spLocks noGrp="1"/>
          </p:cNvSpPr>
          <p:nvPr>
            <p:ph type="body" idx="1"/>
          </p:nvPr>
        </p:nvSpPr>
        <p:spPr>
          <a:xfrm>
            <a:off x="1464250" y="1063175"/>
            <a:ext cx="6969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∗"/>
              <a:defRPr sz="10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4" name="Google Shape;54;p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5" name="Google Shape;55;p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6" name="Google Shape;56;p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7" name="Google Shape;57;p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8" name="Google Shape;58;p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9" name="Google Shape;59;p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0" name="Google Shape;60;p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1" name="Google Shape;61;p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2" name="Google Shape;62;p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3" name="Google Shape;63;p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" name="Google Shape;64;p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6" name="Google Shape;66;p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"/>
          <p:cNvSpPr txBox="1">
            <a:spLocks noGrp="1"/>
          </p:cNvSpPr>
          <p:nvPr>
            <p:ph type="title"/>
          </p:nvPr>
        </p:nvSpPr>
        <p:spPr>
          <a:xfrm>
            <a:off x="710125" y="542575"/>
            <a:ext cx="3861900" cy="14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CUSTOM_9"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3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3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23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0" name="Google Shape;420;p23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1" name="Google Shape;421;p23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2" name="Google Shape;422;p23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3" name="Google Shape;423;p23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4" name="Google Shape;424;p23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5" name="Google Shape;425;p23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6" name="Google Shape;426;p23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7" name="Google Shape;427;p23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8" name="Google Shape;428;p23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9" name="Google Shape;429;p23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0" name="Google Shape;430;p23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1" name="Google Shape;431;p23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2" name="Google Shape;432;p23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 1">
  <p:cSld name="CUSTOM_9_2"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24"/>
          <p:cNvSpPr/>
          <p:nvPr/>
        </p:nvSpPr>
        <p:spPr>
          <a:xfrm>
            <a:off x="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2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7" name="Google Shape;437;p2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8" name="Google Shape;438;p2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9" name="Google Shape;439;p2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0" name="Google Shape;440;p2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1" name="Google Shape;441;p2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2" name="Google Shape;442;p2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3" name="Google Shape;443;p2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4" name="Google Shape;444;p2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5" name="Google Shape;445;p2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6" name="Google Shape;446;p2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7" name="Google Shape;447;p2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8" name="Google Shape;448;p2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9" name="Google Shape;449;p2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5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6" r:id="rId3"/>
    <p:sldLayoutId id="2147483658" r:id="rId4"/>
    <p:sldLayoutId id="2147483669" r:id="rId5"/>
    <p:sldLayoutId id="2147483670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7"/>
          <p:cNvSpPr txBox="1">
            <a:spLocks noGrp="1"/>
          </p:cNvSpPr>
          <p:nvPr>
            <p:ph type="subTitle" idx="1"/>
          </p:nvPr>
        </p:nvSpPr>
        <p:spPr>
          <a:xfrm>
            <a:off x="754333" y="4669206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US" sz="1100" dirty="0"/>
              <a:t>#1</a:t>
            </a:r>
            <a:endParaRPr sz="1100" dirty="0"/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73A6F7C9-409A-797F-AF51-72A58DC2B3E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5C6CE61-D018-5700-DCF4-675D5730D63E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3784285" y="779086"/>
            <a:ext cx="1439504" cy="14989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D31D1E6-7AD5-BCE0-AB30-4C08B98FD69B}"/>
              </a:ext>
            </a:extLst>
          </p:cNvPr>
          <p:cNvSpPr txBox="1"/>
          <p:nvPr/>
        </p:nvSpPr>
        <p:spPr>
          <a:xfrm>
            <a:off x="2458994" y="2468693"/>
            <a:ext cx="4226011" cy="890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Clr>
                <a:schemeClr val="dk2"/>
              </a:buClr>
              <a:buSzPts val="1400"/>
            </a:pPr>
            <a:r>
              <a:rPr lang="en-US" sz="1200" b="1" dirty="0" err="1">
                <a:solidFill>
                  <a:schemeClr val="accent3"/>
                </a:solidFill>
                <a:latin typeface="Arial" panose="020B0604020202020204" pitchFamily="34" charset="0"/>
                <a:ea typeface="Fira Code"/>
                <a:cs typeface="Arial" panose="020B0604020202020204" pitchFamily="34" charset="0"/>
                <a:sym typeface="Fira Code"/>
              </a:rPr>
              <a:t>Amirkabir</a:t>
            </a:r>
            <a:r>
              <a:rPr lang="en-US" sz="1200" b="1" dirty="0">
                <a:solidFill>
                  <a:schemeClr val="accent3"/>
                </a:solidFill>
                <a:latin typeface="Arial" panose="020B0604020202020204" pitchFamily="34" charset="0"/>
                <a:ea typeface="Fira Code"/>
                <a:cs typeface="Arial" panose="020B0604020202020204" pitchFamily="34" charset="0"/>
                <a:sym typeface="Fira Code"/>
              </a:rPr>
              <a:t> University of Technology </a:t>
            </a:r>
          </a:p>
          <a:p>
            <a:pPr algn="ctr">
              <a:lnSpc>
                <a:spcPct val="150000"/>
              </a:lnSpc>
              <a:buClr>
                <a:schemeClr val="dk2"/>
              </a:buClr>
              <a:buSzPts val="1400"/>
            </a:pPr>
            <a:r>
              <a:rPr lang="en-US" sz="1200" b="1" dirty="0">
                <a:solidFill>
                  <a:schemeClr val="accent3"/>
                </a:solidFill>
                <a:latin typeface="Arial" panose="020B0604020202020204" pitchFamily="34" charset="0"/>
                <a:ea typeface="Fira Code"/>
                <a:cs typeface="Arial" panose="020B0604020202020204" pitchFamily="34" charset="0"/>
                <a:sym typeface="Fira Code"/>
              </a:rPr>
              <a:t>(Tehran Polytechnic)</a:t>
            </a:r>
          </a:p>
          <a:p>
            <a:pPr algn="ctr">
              <a:lnSpc>
                <a:spcPct val="150000"/>
              </a:lnSpc>
              <a:buClr>
                <a:schemeClr val="dk2"/>
              </a:buClr>
              <a:buSzPts val="1400"/>
            </a:pPr>
            <a:r>
              <a:rPr lang="en-US" sz="1200" b="1" dirty="0">
                <a:solidFill>
                  <a:schemeClr val="accent3"/>
                </a:solidFill>
                <a:latin typeface="Arial" panose="020B0604020202020204" pitchFamily="34" charset="0"/>
                <a:ea typeface="Fira Code"/>
                <a:cs typeface="Arial" panose="020B0604020202020204" pitchFamily="34" charset="0"/>
                <a:sym typeface="Fira Code"/>
              </a:rPr>
              <a:t>Department of Computer Engineering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5634A6-239A-3A0C-37A3-73327B285D77}"/>
              </a:ext>
            </a:extLst>
          </p:cNvPr>
          <p:cNvSpPr txBox="1"/>
          <p:nvPr/>
        </p:nvSpPr>
        <p:spPr>
          <a:xfrm>
            <a:off x="4272348" y="3408151"/>
            <a:ext cx="17114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3"/>
                </a:solidFill>
                <a:latin typeface="Arial" panose="020B0604020202020204" pitchFamily="34" charset="0"/>
                <a:ea typeface="Fira Code"/>
                <a:cs typeface="Arial" panose="020B0604020202020204" pitchFamily="34" charset="0"/>
              </a:rPr>
              <a:t>Loop</a:t>
            </a:r>
          </a:p>
        </p:txBody>
      </p:sp>
      <p:sp>
        <p:nvSpPr>
          <p:cNvPr id="5" name="Google Shape;473;p28">
            <a:extLst>
              <a:ext uri="{FF2B5EF4-FFF2-40B4-BE49-F238E27FC236}">
                <a16:creationId xmlns:a16="http://schemas.microsoft.com/office/drawing/2014/main" id="{4F64728B-1273-91D0-050F-D7B5AE4F9D9B}"/>
              </a:ext>
            </a:extLst>
          </p:cNvPr>
          <p:cNvSpPr txBox="1">
            <a:spLocks/>
          </p:cNvSpPr>
          <p:nvPr/>
        </p:nvSpPr>
        <p:spPr>
          <a:xfrm>
            <a:off x="729503" y="4701324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39"/>
          <p:cNvSpPr txBox="1">
            <a:spLocks noGrp="1"/>
          </p:cNvSpPr>
          <p:nvPr>
            <p:ph type="title"/>
          </p:nvPr>
        </p:nvSpPr>
        <p:spPr>
          <a:xfrm>
            <a:off x="710124" y="542575"/>
            <a:ext cx="4853393" cy="14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Loops and Repetions </a:t>
            </a:r>
            <a:endParaRPr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accent2"/>
                </a:solidFill>
              </a:rPr>
              <a:t>Where we need loops?</a:t>
            </a:r>
            <a:r>
              <a:rPr lang="en" sz="2400" dirty="0">
                <a:solidFill>
                  <a:schemeClr val="accent2"/>
                </a:solidFill>
              </a:rPr>
              <a:t>;</a:t>
            </a:r>
            <a:endParaRPr sz="2400" dirty="0">
              <a:solidFill>
                <a:schemeClr val="accent2"/>
              </a:solidFill>
            </a:endParaRPr>
          </a:p>
        </p:txBody>
      </p:sp>
      <p:sp>
        <p:nvSpPr>
          <p:cNvPr id="473" name="Google Shape;473;p28"/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 Lab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/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loop</a:t>
            </a:r>
            <a:r>
              <a:rPr lang="en" sz="1400" dirty="0">
                <a:solidFill>
                  <a:schemeClr val="accent3"/>
                </a:solidFill>
              </a:rPr>
              <a:t>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/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6" name="Google Shape;583;p33">
            <a:extLst>
              <a:ext uri="{FF2B5EF4-FFF2-40B4-BE49-F238E27FC236}">
                <a16:creationId xmlns:a16="http://schemas.microsoft.com/office/drawing/2014/main" id="{BE0B1925-328B-2EDA-5EFE-724887B49975}"/>
              </a:ext>
            </a:extLst>
          </p:cNvPr>
          <p:cNvSpPr txBox="1"/>
          <p:nvPr/>
        </p:nvSpPr>
        <p:spPr>
          <a:xfrm>
            <a:off x="1232992" y="1189311"/>
            <a:ext cx="6559877" cy="648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Where we need </a:t>
            </a:r>
            <a:r>
              <a:rPr lang="en-US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repetition</a:t>
            </a:r>
            <a:r>
              <a:rPr lang="en-US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 or </a:t>
            </a:r>
            <a:r>
              <a:rPr lang="en-US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automation</a:t>
            </a:r>
            <a:r>
              <a:rPr lang="en-US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 .</a:t>
            </a:r>
          </a:p>
        </p:txBody>
      </p:sp>
      <p:sp>
        <p:nvSpPr>
          <p:cNvPr id="7" name="Google Shape;583;p33">
            <a:extLst>
              <a:ext uri="{FF2B5EF4-FFF2-40B4-BE49-F238E27FC236}">
                <a16:creationId xmlns:a16="http://schemas.microsoft.com/office/drawing/2014/main" id="{EBF48B63-1CA6-9DD1-E225-C55CD1A59D3F}"/>
              </a:ext>
            </a:extLst>
          </p:cNvPr>
          <p:cNvSpPr txBox="1"/>
          <p:nvPr/>
        </p:nvSpPr>
        <p:spPr>
          <a:xfrm>
            <a:off x="1232992" y="2302088"/>
            <a:ext cx="7572824" cy="944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What are the needed syntaxes for performing repetitions in C? </a:t>
            </a:r>
            <a:r>
              <a:rPr lang="en-US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Recap what you need!</a:t>
            </a:r>
          </a:p>
        </p:txBody>
      </p:sp>
      <p:sp>
        <p:nvSpPr>
          <p:cNvPr id="2" name="Google Shape;583;p33">
            <a:extLst>
              <a:ext uri="{FF2B5EF4-FFF2-40B4-BE49-F238E27FC236}">
                <a16:creationId xmlns:a16="http://schemas.microsoft.com/office/drawing/2014/main" id="{4109CEB9-E14C-D73E-C8C7-8F01C16F2D81}"/>
              </a:ext>
            </a:extLst>
          </p:cNvPr>
          <p:cNvSpPr txBox="1"/>
          <p:nvPr/>
        </p:nvSpPr>
        <p:spPr>
          <a:xfrm>
            <a:off x="1232992" y="1627013"/>
            <a:ext cx="7511281" cy="944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In </a:t>
            </a:r>
            <a:r>
              <a:rPr lang="en-US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computer science</a:t>
            </a:r>
            <a:r>
              <a:rPr lang="en-US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, most of algorithms are full of </a:t>
            </a:r>
            <a:r>
              <a:rPr lang="en-US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repetitions</a:t>
            </a:r>
            <a:r>
              <a:rPr lang="en-US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. </a:t>
            </a:r>
          </a:p>
        </p:txBody>
      </p:sp>
      <p:sp>
        <p:nvSpPr>
          <p:cNvPr id="3" name="Google Shape;473;p28">
            <a:extLst>
              <a:ext uri="{FF2B5EF4-FFF2-40B4-BE49-F238E27FC236}">
                <a16:creationId xmlns:a16="http://schemas.microsoft.com/office/drawing/2014/main" id="{D7051C12-CD8A-C559-758A-793D6235BDDC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sz="1100">
                <a:solidFill>
                  <a:schemeClr val="accent3"/>
                </a:solidFill>
              </a:rPr>
              <a:t>1</a:t>
            </a:r>
            <a:endParaRPr lang="en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A12C1D79-5B22-0C08-E549-40AEE7C0C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A4FEBA93-B6AD-99EB-733D-628C3B85C5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49732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accent2"/>
                </a:solidFill>
              </a:rPr>
              <a:t>Checking a condition</a:t>
            </a:r>
            <a:endParaRPr sz="2400" dirty="0">
              <a:solidFill>
                <a:schemeClr val="accent2"/>
              </a:solidFill>
            </a:endParaRPr>
          </a:p>
        </p:txBody>
      </p:sp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94238F7F-8916-CDCF-D768-0A2BD47699DC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 Lab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6B65766E-46F8-5A5A-FCB4-8AFB7DF1231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loop</a:t>
            </a:r>
            <a:r>
              <a:rPr lang="en" sz="1400" dirty="0">
                <a:solidFill>
                  <a:schemeClr val="accent3"/>
                </a:solidFill>
              </a:rPr>
              <a:t>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5C774D99-FCD0-B85F-FEF4-9FBB1E609265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Task 1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7" name="Google Shape;583;p33">
            <a:extLst>
              <a:ext uri="{FF2B5EF4-FFF2-40B4-BE49-F238E27FC236}">
                <a16:creationId xmlns:a16="http://schemas.microsoft.com/office/drawing/2014/main" id="{461B3BF7-7F33-DAD1-7885-69749E423A8E}"/>
              </a:ext>
            </a:extLst>
          </p:cNvPr>
          <p:cNvSpPr txBox="1"/>
          <p:nvPr/>
        </p:nvSpPr>
        <p:spPr>
          <a:xfrm>
            <a:off x="1482686" y="2916790"/>
            <a:ext cx="6951164" cy="944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accent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" name="Google Shape;583;p33">
            <a:extLst>
              <a:ext uri="{FF2B5EF4-FFF2-40B4-BE49-F238E27FC236}">
                <a16:creationId xmlns:a16="http://schemas.microsoft.com/office/drawing/2014/main" id="{4A31E41C-05DD-5F10-36FD-956E8152CA34}"/>
              </a:ext>
            </a:extLst>
          </p:cNvPr>
          <p:cNvSpPr txBox="1"/>
          <p:nvPr/>
        </p:nvSpPr>
        <p:spPr>
          <a:xfrm>
            <a:off x="1178647" y="1159855"/>
            <a:ext cx="7847366" cy="944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Write a program to determine whether a given number has specific characteristics.</a:t>
            </a:r>
          </a:p>
        </p:txBody>
      </p:sp>
      <p:sp>
        <p:nvSpPr>
          <p:cNvPr id="3" name="Google Shape;583;p33">
            <a:extLst>
              <a:ext uri="{FF2B5EF4-FFF2-40B4-BE49-F238E27FC236}">
                <a16:creationId xmlns:a16="http://schemas.microsoft.com/office/drawing/2014/main" id="{C80140A1-6BE8-CE1B-56CE-C573941297A5}"/>
              </a:ext>
            </a:extLst>
          </p:cNvPr>
          <p:cNvSpPr txBox="1"/>
          <p:nvPr/>
        </p:nvSpPr>
        <p:spPr>
          <a:xfrm>
            <a:off x="1236767" y="2130226"/>
            <a:ext cx="7516207" cy="944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The number is named </a:t>
            </a:r>
            <a:r>
              <a:rPr lang="en-US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ugly</a:t>
            </a:r>
            <a:r>
              <a:rPr lang="en-US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 if  </a:t>
            </a:r>
            <a:r>
              <a:rPr lang="en-US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its only prime factors are 2, 3, or 5.</a:t>
            </a:r>
            <a:r>
              <a:rPr lang="en-US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</a:p>
        </p:txBody>
      </p:sp>
      <p:sp>
        <p:nvSpPr>
          <p:cNvPr id="5" name="Google Shape;583;p33">
            <a:extLst>
              <a:ext uri="{FF2B5EF4-FFF2-40B4-BE49-F238E27FC236}">
                <a16:creationId xmlns:a16="http://schemas.microsoft.com/office/drawing/2014/main" id="{248D9CC4-7436-C354-3BDD-F511C6A62306}"/>
              </a:ext>
            </a:extLst>
          </p:cNvPr>
          <p:cNvSpPr txBox="1"/>
          <p:nvPr/>
        </p:nvSpPr>
        <p:spPr>
          <a:xfrm>
            <a:off x="1199033" y="3142452"/>
            <a:ext cx="7553941" cy="944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You need to check specific factors of a number!</a:t>
            </a:r>
          </a:p>
        </p:txBody>
      </p:sp>
      <p:sp>
        <p:nvSpPr>
          <p:cNvPr id="4" name="Google Shape;473;p28">
            <a:extLst>
              <a:ext uri="{FF2B5EF4-FFF2-40B4-BE49-F238E27FC236}">
                <a16:creationId xmlns:a16="http://schemas.microsoft.com/office/drawing/2014/main" id="{64F0BEC7-07BA-613C-8191-8F7BA4B4FABF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sz="1100" dirty="0">
                <a:solidFill>
                  <a:schemeClr val="accent3"/>
                </a:solidFill>
              </a:rPr>
              <a:t>2</a:t>
            </a:r>
            <a:endParaRPr lang="en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8930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CE8D7-985D-5FFC-0E1A-4046982F8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867" y="521975"/>
            <a:ext cx="7290600" cy="541200"/>
          </a:xfrm>
        </p:spPr>
        <p:txBody>
          <a:bodyPr/>
          <a:lstStyle/>
          <a:p>
            <a:r>
              <a:rPr lang="en-US" sz="2400" dirty="0">
                <a:solidFill>
                  <a:schemeClr val="accent2"/>
                </a:solidFill>
              </a:rPr>
              <a:t>Counter Controlled Repetition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AC7BE9-6E2F-3784-7E0E-26730247D92D}"/>
              </a:ext>
            </a:extLst>
          </p:cNvPr>
          <p:cNvSpPr txBox="1"/>
          <p:nvPr/>
        </p:nvSpPr>
        <p:spPr>
          <a:xfrm>
            <a:off x="1035337" y="1287350"/>
            <a:ext cx="795528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As you may remember, in the pseudocode session, we wrote a pseudocode to calculate the average of students' grades.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solidFill>
                <a:schemeClr val="accent1"/>
              </a:solidFill>
              <a:latin typeface="Fira Code"/>
              <a:ea typeface="Fira Code"/>
              <a:cs typeface="Fira Code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In this example, we apply counter-controlled repetition, where a variable (counter) determines how many times a set of actions should run. Since the number of repetitions is known (10 times for 10 students), this is called </a:t>
            </a:r>
            <a:r>
              <a:rPr lang="en-US" b="1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definite repetition</a:t>
            </a:r>
            <a:r>
              <a:rPr lang="en-US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.</a:t>
            </a:r>
            <a:endParaRPr lang="fa-IR" dirty="0">
              <a:solidFill>
                <a:schemeClr val="accent1"/>
              </a:solidFill>
              <a:latin typeface="Fira Code"/>
              <a:ea typeface="Fira Code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fa-IR" altLang="en-US" dirty="0">
              <a:solidFill>
                <a:schemeClr val="accent1"/>
              </a:solidFill>
              <a:latin typeface="Fira Code"/>
              <a:ea typeface="Fira Code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dirty="0">
              <a:solidFill>
                <a:schemeClr val="accent1"/>
              </a:solidFill>
              <a:latin typeface="Fira Code"/>
              <a:ea typeface="Fira Code"/>
              <a:cs typeface="Fira Code"/>
            </a:endParaRPr>
          </a:p>
        </p:txBody>
      </p:sp>
      <p:sp>
        <p:nvSpPr>
          <p:cNvPr id="3" name="Google Shape;473;p28">
            <a:extLst>
              <a:ext uri="{FF2B5EF4-FFF2-40B4-BE49-F238E27FC236}">
                <a16:creationId xmlns:a16="http://schemas.microsoft.com/office/drawing/2014/main" id="{F0DF6074-F4FE-560E-AB69-4E02BF94D464}"/>
              </a:ext>
            </a:extLst>
          </p:cNvPr>
          <p:cNvSpPr txBox="1">
            <a:spLocks/>
          </p:cNvSpPr>
          <p:nvPr/>
        </p:nvSpPr>
        <p:spPr>
          <a:xfrm>
            <a:off x="710125" y="4694725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>
                <a:solidFill>
                  <a:schemeClr val="accent3"/>
                </a:solidFill>
              </a:rPr>
              <a:t>Programming Language Lab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4" name="Google Shape;473;p28">
            <a:extLst>
              <a:ext uri="{FF2B5EF4-FFF2-40B4-BE49-F238E27FC236}">
                <a16:creationId xmlns:a16="http://schemas.microsoft.com/office/drawing/2014/main" id="{8570004D-E855-EC11-BDF0-1A32D3DD7BD2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fa-IR" sz="1100" dirty="0">
                <a:solidFill>
                  <a:schemeClr val="accent3"/>
                </a:solidFill>
              </a:rPr>
              <a:t>3</a:t>
            </a:r>
            <a:endParaRPr lang="en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6658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45337-6463-C4F4-8EE6-3017A4C89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Counter Controlled Repetition</a:t>
            </a:r>
            <a:r>
              <a:rPr lang="en-US" altLang="en-US" dirty="0">
                <a:solidFill>
                  <a:schemeClr val="accent1"/>
                </a:solidFill>
              </a:rPr>
              <a:t> </a:t>
            </a:r>
            <a:br>
              <a:rPr lang="en-US" altLang="en-US" dirty="0">
                <a:solidFill>
                  <a:schemeClr val="accent1"/>
                </a:solidFill>
              </a:rPr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CBC356-0B89-8129-F8D1-D88E51BE5E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249" y="973394"/>
            <a:ext cx="7865065" cy="3415726"/>
          </a:xfrm>
        </p:spPr>
        <p:txBody>
          <a:bodyPr/>
          <a:lstStyle/>
          <a:p>
            <a:pPr marL="4826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sz="1400" dirty="0">
                <a:solidFill>
                  <a:schemeClr val="accent1"/>
                </a:solidFill>
                <a:latin typeface="Arial Rounded MT Bold" panose="020F0704030504030204" pitchFamily="34" charset="0"/>
                <a:cs typeface="Times New Roman" panose="02020603050405020304" pitchFamily="18" charset="0"/>
              </a:rPr>
              <a:t> Set total to zero </a:t>
            </a:r>
          </a:p>
          <a:p>
            <a:pPr marL="4826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sz="1400" dirty="0">
                <a:solidFill>
                  <a:schemeClr val="accent1"/>
                </a:solidFill>
                <a:latin typeface="Arial Rounded MT Bold" panose="020F0704030504030204" pitchFamily="34" charset="0"/>
                <a:cs typeface="Times New Roman" panose="02020603050405020304" pitchFamily="18" charset="0"/>
              </a:rPr>
              <a:t> Set grade counter to one </a:t>
            </a:r>
          </a:p>
          <a:p>
            <a:pPr marL="4826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sz="1400" dirty="0">
                <a:solidFill>
                  <a:schemeClr val="accent1"/>
                </a:solidFill>
                <a:latin typeface="Arial Rounded MT Bold" panose="020F0704030504030204" pitchFamily="34" charset="0"/>
                <a:cs typeface="Times New Roman" panose="02020603050405020304" pitchFamily="18" charset="0"/>
              </a:rPr>
              <a:t> </a:t>
            </a:r>
          </a:p>
          <a:p>
            <a:pPr marL="4826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sz="1400" dirty="0">
                <a:solidFill>
                  <a:schemeClr val="accent1"/>
                </a:solidFill>
                <a:latin typeface="Arial Rounded MT Bold" panose="020F0704030504030204" pitchFamily="34" charset="0"/>
                <a:cs typeface="Times New Roman" panose="02020603050405020304" pitchFamily="18" charset="0"/>
              </a:rPr>
              <a:t> While grade counter is less than or equal to ten </a:t>
            </a:r>
          </a:p>
          <a:p>
            <a:pPr marL="4826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sz="1400" dirty="0">
                <a:solidFill>
                  <a:schemeClr val="accent1"/>
                </a:solidFill>
                <a:latin typeface="Arial Rounded MT Bold" panose="020F0704030504030204" pitchFamily="34" charset="0"/>
                <a:cs typeface="Times New Roman" panose="02020603050405020304" pitchFamily="18" charset="0"/>
              </a:rPr>
              <a:t> Input the next grade </a:t>
            </a:r>
          </a:p>
          <a:p>
            <a:pPr marL="4826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sz="1400" dirty="0">
                <a:solidFill>
                  <a:schemeClr val="accent1"/>
                </a:solidFill>
                <a:latin typeface="Arial Rounded MT Bold" panose="020F0704030504030204" pitchFamily="34" charset="0"/>
                <a:cs typeface="Times New Roman" panose="02020603050405020304" pitchFamily="18" charset="0"/>
              </a:rPr>
              <a:t> Add the grade into the total </a:t>
            </a:r>
          </a:p>
          <a:p>
            <a:pPr marL="4826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sz="1400" dirty="0">
                <a:solidFill>
                  <a:schemeClr val="accent1"/>
                </a:solidFill>
                <a:latin typeface="Arial Rounded MT Bold" panose="020F0704030504030204" pitchFamily="34" charset="0"/>
                <a:cs typeface="Times New Roman" panose="02020603050405020304" pitchFamily="18" charset="0"/>
              </a:rPr>
              <a:t> Add one to the grade counter </a:t>
            </a:r>
          </a:p>
          <a:p>
            <a:pPr marL="4826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sz="1400" dirty="0">
                <a:solidFill>
                  <a:schemeClr val="accent1"/>
                </a:solidFill>
                <a:latin typeface="Arial Rounded MT Bold" panose="020F0704030504030204" pitchFamily="34" charset="0"/>
                <a:cs typeface="Times New Roman" panose="02020603050405020304" pitchFamily="18" charset="0"/>
              </a:rPr>
              <a:t> </a:t>
            </a:r>
          </a:p>
          <a:p>
            <a:pPr marL="4826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sz="1400" dirty="0">
                <a:solidFill>
                  <a:schemeClr val="accent1"/>
                </a:solidFill>
                <a:latin typeface="Arial Rounded MT Bold" panose="020F0704030504030204" pitchFamily="34" charset="0"/>
                <a:cs typeface="Times New Roman" panose="02020603050405020304" pitchFamily="18" charset="0"/>
              </a:rPr>
              <a:t> Set the class average to the total divided by ten </a:t>
            </a:r>
          </a:p>
          <a:p>
            <a:pPr marL="4826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sz="1400" dirty="0">
                <a:solidFill>
                  <a:schemeClr val="accent1"/>
                </a:solidFill>
                <a:latin typeface="Arial Rounded MT Bold" panose="020F0704030504030204" pitchFamily="34" charset="0"/>
                <a:cs typeface="Times New Roman" panose="02020603050405020304" pitchFamily="18" charset="0"/>
              </a:rPr>
              <a:t> Print the class average</a:t>
            </a:r>
            <a:endParaRPr lang="en-US" sz="1400" dirty="0">
              <a:latin typeface="Arial Rounded MT Bold" panose="020F07040305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3426A1-ABD3-1C8B-304B-FC58A9F9C754}"/>
              </a:ext>
            </a:extLst>
          </p:cNvPr>
          <p:cNvSpPr txBox="1"/>
          <p:nvPr/>
        </p:nvSpPr>
        <p:spPr>
          <a:xfrm>
            <a:off x="-70792" y="12928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chemeClr val="dk2"/>
              </a:buClr>
              <a:buSzPts val="1400"/>
            </a:pPr>
            <a:r>
              <a:rPr lang="en-US" altLang="en-US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pseudocode.c</a:t>
            </a:r>
            <a:endParaRPr lang="en-US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" name="Google Shape;473;p28">
            <a:extLst>
              <a:ext uri="{FF2B5EF4-FFF2-40B4-BE49-F238E27FC236}">
                <a16:creationId xmlns:a16="http://schemas.microsoft.com/office/drawing/2014/main" id="{842B707D-3BD8-2C3C-7D5B-2C0A51749F55}"/>
              </a:ext>
            </a:extLst>
          </p:cNvPr>
          <p:cNvSpPr txBox="1">
            <a:spLocks/>
          </p:cNvSpPr>
          <p:nvPr/>
        </p:nvSpPr>
        <p:spPr>
          <a:xfrm>
            <a:off x="710125" y="4694725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>
                <a:solidFill>
                  <a:schemeClr val="accent3"/>
                </a:solidFill>
              </a:rPr>
              <a:t>Programming Language Lab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6" name="Google Shape;473;p28">
            <a:extLst>
              <a:ext uri="{FF2B5EF4-FFF2-40B4-BE49-F238E27FC236}">
                <a16:creationId xmlns:a16="http://schemas.microsoft.com/office/drawing/2014/main" id="{06E47856-ACDD-0CB3-22B1-35A404093754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fa-IR" sz="1100" dirty="0">
                <a:solidFill>
                  <a:schemeClr val="accent3"/>
                </a:solidFill>
              </a:rPr>
              <a:t>4</a:t>
            </a:r>
            <a:endParaRPr lang="en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2880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31FD5-58DB-B89A-B7C3-6DEBB8CBD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7710" y="100465"/>
            <a:ext cx="893253" cy="341987"/>
          </a:xfrm>
        </p:spPr>
        <p:txBody>
          <a:bodyPr/>
          <a:lstStyle/>
          <a:p>
            <a:r>
              <a:rPr lang="en-US" sz="1400" dirty="0" err="1">
                <a:solidFill>
                  <a:schemeClr val="accent3"/>
                </a:solidFill>
                <a:sym typeface="Arial"/>
              </a:rPr>
              <a:t>Code.c</a:t>
            </a:r>
            <a:endParaRPr lang="en-US" sz="1400" dirty="0">
              <a:solidFill>
                <a:schemeClr val="accent3"/>
              </a:solidFill>
              <a:sym typeface="Arial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D8AEFDB-9EF1-976D-2957-80A9A7511A7B}"/>
              </a:ext>
            </a:extLst>
          </p:cNvPr>
          <p:cNvSpPr/>
          <p:nvPr/>
        </p:nvSpPr>
        <p:spPr>
          <a:xfrm>
            <a:off x="1085479" y="682960"/>
            <a:ext cx="7675061" cy="3777580"/>
          </a:xfrm>
          <a:prstGeom prst="roundRect">
            <a:avLst>
              <a:gd name="adj" fmla="val 3080"/>
            </a:avLst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139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D9F0"/>
              </a:buClr>
              <a:buSzPts val="1400"/>
              <a:buFont typeface="Fira Code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#include 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DBA0DB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&lt;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DBA0DB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stdio.h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DBA0DB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&gt;</a:t>
            </a:r>
          </a:p>
          <a:p>
            <a:pPr marL="139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D9F0"/>
              </a:buClr>
              <a:buSzPts val="1400"/>
              <a:buFont typeface="Fira Code"/>
              <a:buNone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DBA0DB"/>
              </a:solidFill>
              <a:effectLst/>
              <a:uLnTx/>
              <a:uFillTx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Fira Code"/>
            </a:endParaRPr>
          </a:p>
          <a:p>
            <a:pPr marL="139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D9F0"/>
              </a:buClr>
              <a:buSzPts val="1400"/>
              <a:buFont typeface="Fira Code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int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DBA0DB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 main( void )</a:t>
            </a:r>
          </a:p>
          <a:p>
            <a:pPr marL="139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D9F0"/>
              </a:buClr>
              <a:buSzPts val="1400"/>
              <a:buFont typeface="Fira Code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DBA0DB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{</a:t>
            </a:r>
          </a:p>
          <a:p>
            <a:pPr marL="139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D9F0"/>
              </a:buClr>
              <a:buSzPts val="1400"/>
              <a:buFont typeface="Fira Code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int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DBA0DB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 grade; </a:t>
            </a:r>
          </a:p>
          <a:p>
            <a:pPr marL="139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D9F0"/>
              </a:buClr>
              <a:buSzPts val="1400"/>
              <a:buFont typeface="Fira Code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int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DBA0DB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 total; </a:t>
            </a:r>
          </a:p>
          <a:p>
            <a:pPr marL="139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D9F0"/>
              </a:buClr>
              <a:buSzPts val="1400"/>
              <a:buFont typeface="Fira Code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int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DBA0DB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 average; </a:t>
            </a:r>
          </a:p>
          <a:p>
            <a:pPr marL="139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D9F0"/>
              </a:buClr>
              <a:buSzPts val="1400"/>
              <a:buFont typeface="Fira Code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int 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DBA0DB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counter;    </a:t>
            </a:r>
          </a:p>
          <a:p>
            <a:pPr marL="139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D9F0"/>
              </a:buClr>
              <a:buSzPts val="1400"/>
              <a:buFont typeface="Fira Code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DBA0DB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total = 0; </a:t>
            </a:r>
          </a:p>
          <a:p>
            <a:pPr marL="139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D9F0"/>
              </a:buClr>
              <a:buSzPts val="1400"/>
              <a:buFont typeface="Fira Code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DBA0DB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counter = 1; </a:t>
            </a:r>
          </a:p>
          <a:p>
            <a:pPr marL="139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D9F0"/>
              </a:buClr>
              <a:buSzPts val="1400"/>
              <a:buFont typeface="Fira Code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while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DBA0DB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 ( counter &lt;= 10 ) { </a:t>
            </a:r>
          </a:p>
          <a:p>
            <a:pPr marL="139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D9F0"/>
              </a:buClr>
              <a:buSzPts val="1400"/>
              <a:buFont typeface="Fira Code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DBA0DB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       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printf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DBA0DB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( "Enter grade: " ); </a:t>
            </a:r>
          </a:p>
          <a:p>
            <a:pPr marL="139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D9F0"/>
              </a:buClr>
              <a:buSzPts val="1400"/>
              <a:buFont typeface="Fira Code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DBA0DB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       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scanf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DBA0DB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( "%d", &amp;grade );       </a:t>
            </a:r>
          </a:p>
          <a:p>
            <a:pPr marL="139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D9F0"/>
              </a:buClr>
              <a:buSzPts val="1400"/>
              <a:buFont typeface="Fira Code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DBA0DB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        total = total + grade; </a:t>
            </a:r>
          </a:p>
          <a:p>
            <a:pPr marL="139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D9F0"/>
              </a:buClr>
              <a:buSzPts val="1400"/>
              <a:buFont typeface="Fira Code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DBA0DB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        counter = counter + 1;       </a:t>
            </a:r>
          </a:p>
          <a:p>
            <a:pPr marL="139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D9F0"/>
              </a:buClr>
              <a:buSzPts val="1400"/>
              <a:buFont typeface="Fira Code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DBA0DB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    }</a:t>
            </a:r>
          </a:p>
          <a:p>
            <a:pPr marL="139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D9F0"/>
              </a:buClr>
              <a:buSzPts val="1400"/>
              <a:buFont typeface="Fira Code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DBA0DB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average = total / 10;</a:t>
            </a:r>
          </a:p>
          <a:p>
            <a:pPr marL="139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D9F0"/>
              </a:buClr>
              <a:buSzPts val="1400"/>
              <a:buFont typeface="Fira Code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printf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DBA0DB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( "Class average is %d\n", average ); </a:t>
            </a:r>
          </a:p>
          <a:p>
            <a:pPr marL="139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D9F0"/>
              </a:buClr>
              <a:buSzPts val="1400"/>
              <a:buFont typeface="Fira Code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DBA0DB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return 0;</a:t>
            </a:r>
          </a:p>
          <a:p>
            <a:pPr marL="139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D9F0"/>
              </a:buClr>
              <a:buSzPts val="1400"/>
              <a:buFont typeface="Fira Code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DBA0DB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}</a:t>
            </a:r>
          </a:p>
        </p:txBody>
      </p:sp>
      <p:sp>
        <p:nvSpPr>
          <p:cNvPr id="3" name="Google Shape;473;p28">
            <a:extLst>
              <a:ext uri="{FF2B5EF4-FFF2-40B4-BE49-F238E27FC236}">
                <a16:creationId xmlns:a16="http://schemas.microsoft.com/office/drawing/2014/main" id="{E0A83EFF-62B5-47F4-74B2-8D9ECC413580}"/>
              </a:ext>
            </a:extLst>
          </p:cNvPr>
          <p:cNvSpPr txBox="1">
            <a:spLocks/>
          </p:cNvSpPr>
          <p:nvPr/>
        </p:nvSpPr>
        <p:spPr>
          <a:xfrm>
            <a:off x="710125" y="4694725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>
                <a:solidFill>
                  <a:schemeClr val="accent3"/>
                </a:solidFill>
              </a:rPr>
              <a:t>Programming Language Lab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5" name="Google Shape;473;p28">
            <a:extLst>
              <a:ext uri="{FF2B5EF4-FFF2-40B4-BE49-F238E27FC236}">
                <a16:creationId xmlns:a16="http://schemas.microsoft.com/office/drawing/2014/main" id="{7697E5CA-1287-DE67-A9A6-3B18CD654852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fa-IR" sz="1100" dirty="0">
                <a:solidFill>
                  <a:schemeClr val="accent3"/>
                </a:solidFill>
              </a:rPr>
              <a:t>5</a:t>
            </a:r>
            <a:endParaRPr lang="en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3810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9C8355B-8D12-802E-A735-7EFFEA5B396B}"/>
              </a:ext>
            </a:extLst>
          </p:cNvPr>
          <p:cNvSpPr txBox="1"/>
          <p:nvPr/>
        </p:nvSpPr>
        <p:spPr>
          <a:xfrm>
            <a:off x="1019113" y="1230137"/>
            <a:ext cx="8036397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The algorithm uses two key variables: </a:t>
            </a:r>
            <a:r>
              <a:rPr lang="en-US" altLang="en-US" b="1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total</a:t>
            </a:r>
            <a:r>
              <a:rPr lang="en-US" altLang="en-US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 and </a:t>
            </a:r>
            <a:r>
              <a:rPr lang="en-US" altLang="en-US" b="1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counter</a:t>
            </a:r>
            <a:r>
              <a:rPr lang="en-US" altLang="en-US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solidFill>
                <a:schemeClr val="accent1"/>
              </a:solidFill>
              <a:latin typeface="Fira Code"/>
              <a:ea typeface="Fira Code"/>
              <a:cs typeface="Fira Code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total is used to accumulate the sum of input values.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counter keeps track of how many grades have been entered.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chemeClr val="accent1"/>
              </a:solidFill>
              <a:latin typeface="Fira Code"/>
              <a:ea typeface="Fira Code"/>
              <a:cs typeface="Fira Code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Since the counter goes from 1 to 10 (non-negative values), it is declared as an unsigned int.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lang="en-US" altLang="en-US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</a:br>
            <a:r>
              <a:rPr lang="en-US" altLang="en-US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Variables like total should always be initialized to zero before use to avoid incorrect results from leftover memory values.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solidFill>
                <a:schemeClr val="accent1"/>
              </a:solidFill>
              <a:latin typeface="Fira Code"/>
              <a:ea typeface="Fira Code"/>
              <a:cs typeface="Fira Code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Counters are typically initialized to 0 or 1, depending on the context.</a:t>
            </a:r>
            <a:br>
              <a:rPr lang="en-US" altLang="en-US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</a:br>
            <a:r>
              <a:rPr lang="en-US" altLang="en-US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If a variable is not initialized, it may contain a </a:t>
            </a:r>
            <a:r>
              <a:rPr lang="en-US" altLang="en-US" b="1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garbage</a:t>
            </a:r>
            <a:r>
              <a:rPr lang="en-US" altLang="en-US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 </a:t>
            </a:r>
            <a:r>
              <a:rPr lang="en-US" altLang="en-US" b="1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value</a:t>
            </a:r>
            <a:r>
              <a:rPr lang="en-US" altLang="en-US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 — a leftover value in memory that can cause errors.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843EF66-2442-434B-524C-827280313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113" y="553117"/>
            <a:ext cx="7291388" cy="541337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Counter Controlled Repetition</a:t>
            </a:r>
            <a:r>
              <a:rPr lang="en-US" altLang="en-US" dirty="0">
                <a:solidFill>
                  <a:schemeClr val="accent1"/>
                </a:solidFill>
              </a:rPr>
              <a:t> </a:t>
            </a:r>
            <a:br>
              <a:rPr lang="en-US" altLang="en-US" dirty="0">
                <a:solidFill>
                  <a:schemeClr val="accent1"/>
                </a:solidFill>
              </a:rPr>
            </a:br>
            <a:endParaRPr lang="en-US" dirty="0"/>
          </a:p>
        </p:txBody>
      </p:sp>
      <p:sp>
        <p:nvSpPr>
          <p:cNvPr id="2" name="Google Shape;473;p28">
            <a:extLst>
              <a:ext uri="{FF2B5EF4-FFF2-40B4-BE49-F238E27FC236}">
                <a16:creationId xmlns:a16="http://schemas.microsoft.com/office/drawing/2014/main" id="{13AB999A-27D5-146C-1925-AC19B11A008B}"/>
              </a:ext>
            </a:extLst>
          </p:cNvPr>
          <p:cNvSpPr txBox="1">
            <a:spLocks/>
          </p:cNvSpPr>
          <p:nvPr/>
        </p:nvSpPr>
        <p:spPr>
          <a:xfrm>
            <a:off x="710125" y="4694725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>
                <a:solidFill>
                  <a:schemeClr val="accent3"/>
                </a:solidFill>
              </a:rPr>
              <a:t>Programming Language Lab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3" name="Google Shape;473;p28">
            <a:extLst>
              <a:ext uri="{FF2B5EF4-FFF2-40B4-BE49-F238E27FC236}">
                <a16:creationId xmlns:a16="http://schemas.microsoft.com/office/drawing/2014/main" id="{EFCCCC41-5B0F-504D-C682-37964CA860AC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fa-IR" sz="1100" dirty="0">
                <a:solidFill>
                  <a:schemeClr val="accent3"/>
                </a:solidFill>
              </a:rPr>
              <a:t>6</a:t>
            </a:r>
            <a:endParaRPr lang="en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68645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3CE7F-6734-7ED5-6835-403F87963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Sentinel Controlled Repetition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CDBB21-9961-CB0D-07E2-2880F70226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5875" y="1123900"/>
            <a:ext cx="7857941" cy="1447849"/>
          </a:xfrm>
        </p:spPr>
        <p:txBody>
          <a:bodyPr/>
          <a:lstStyle/>
          <a:p>
            <a:pPr marL="139700" indent="0">
              <a:buNone/>
            </a:pPr>
            <a:r>
              <a:rPr lang="en-US" sz="1400" dirty="0">
                <a:solidFill>
                  <a:schemeClr val="accent1"/>
                </a:solidFill>
                <a:sym typeface="Arial"/>
              </a:rPr>
              <a:t>What should we do if the number of students is not known beforehand?</a:t>
            </a:r>
            <a:endParaRPr lang="fa-IR" sz="1400" dirty="0">
              <a:solidFill>
                <a:schemeClr val="accent1"/>
              </a:solidFill>
              <a:sym typeface="Arial"/>
            </a:endParaRPr>
          </a:p>
          <a:p>
            <a:pPr marL="139700" indent="0">
              <a:buNone/>
            </a:pPr>
            <a:endParaRPr lang="fa-IR" sz="1400" dirty="0">
              <a:solidFill>
                <a:schemeClr val="accent1"/>
              </a:solidFill>
              <a:sym typeface="Arial"/>
            </a:endParaRPr>
          </a:p>
          <a:p>
            <a:pPr marL="139700" indent="0">
              <a:buNone/>
            </a:pPr>
            <a:endParaRPr lang="fa-IR" sz="1400" dirty="0">
              <a:solidFill>
                <a:schemeClr val="accent1"/>
              </a:solidFill>
              <a:sym typeface="Arial"/>
            </a:endParaRPr>
          </a:p>
          <a:p>
            <a:pPr marL="139700" indent="0">
              <a:buNone/>
            </a:pPr>
            <a:endParaRPr lang="fa-IR" sz="1400" dirty="0">
              <a:solidFill>
                <a:schemeClr val="accent1"/>
              </a:solidFill>
              <a:sym typeface="Arial"/>
            </a:endParaRPr>
          </a:p>
          <a:p>
            <a:pPr marL="139700" indent="0">
              <a:buNone/>
            </a:pPr>
            <a:endParaRPr lang="en-US" sz="1400" dirty="0">
              <a:solidFill>
                <a:schemeClr val="accent1"/>
              </a:solidFill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B291AD-ED2A-4C74-D8F8-462B2A4B4D83}"/>
              </a:ext>
            </a:extLst>
          </p:cNvPr>
          <p:cNvSpPr txBox="1"/>
          <p:nvPr/>
        </p:nvSpPr>
        <p:spPr>
          <a:xfrm>
            <a:off x="1143250" y="1787136"/>
            <a:ext cx="785794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To solve this, we use a technique called </a:t>
            </a:r>
            <a:r>
              <a:rPr lang="en-US" altLang="en-US" b="1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sentinel-controlled repetition</a:t>
            </a:r>
            <a:r>
              <a:rPr lang="en-US" altLang="en-US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, where the user enters grades one by one, and a special value called a sentinel (e.g., -1) is entered to indicate the end of input. This value must be clearly distinct from valid grades—since grades are nonnegative, -1 works well.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3C741F-9CEC-70EE-A577-7A6167B1DDE9}"/>
              </a:ext>
            </a:extLst>
          </p:cNvPr>
          <p:cNvSpPr txBox="1"/>
          <p:nvPr/>
        </p:nvSpPr>
        <p:spPr>
          <a:xfrm>
            <a:off x="1143249" y="3035147"/>
            <a:ext cx="785794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This method is also known as </a:t>
            </a:r>
            <a:r>
              <a:rPr lang="en-US" b="1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indefinite repetition</a:t>
            </a:r>
            <a:r>
              <a:rPr lang="en-US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, because the number of repetitions is not known before the loop starts.</a:t>
            </a:r>
          </a:p>
          <a:p>
            <a:pPr algn="just"/>
            <a:r>
              <a:rPr lang="en-US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Once the sentinel is entered, the program calculates and prints the class average using the grades entered so far .</a:t>
            </a:r>
          </a:p>
        </p:txBody>
      </p:sp>
      <p:sp>
        <p:nvSpPr>
          <p:cNvPr id="4" name="Google Shape;473;p28">
            <a:extLst>
              <a:ext uri="{FF2B5EF4-FFF2-40B4-BE49-F238E27FC236}">
                <a16:creationId xmlns:a16="http://schemas.microsoft.com/office/drawing/2014/main" id="{292063DF-42D4-AF1C-5A2E-FDC979F274C9}"/>
              </a:ext>
            </a:extLst>
          </p:cNvPr>
          <p:cNvSpPr txBox="1">
            <a:spLocks/>
          </p:cNvSpPr>
          <p:nvPr/>
        </p:nvSpPr>
        <p:spPr>
          <a:xfrm>
            <a:off x="710125" y="4694725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>
                <a:solidFill>
                  <a:schemeClr val="accent3"/>
                </a:solidFill>
              </a:rPr>
              <a:t>Programming Language Lab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5" name="Google Shape;473;p28">
            <a:extLst>
              <a:ext uri="{FF2B5EF4-FFF2-40B4-BE49-F238E27FC236}">
                <a16:creationId xmlns:a16="http://schemas.microsoft.com/office/drawing/2014/main" id="{1ED381D5-7C2C-0337-6C6D-1831A5AFEE5F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fa-IR" sz="1100" dirty="0">
                <a:solidFill>
                  <a:schemeClr val="accent3"/>
                </a:solidFill>
              </a:rPr>
              <a:t>7</a:t>
            </a:r>
            <a:endParaRPr lang="en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88191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26E2CE-3CB2-7668-672E-5E4CB9DCEC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4609" y="1021879"/>
            <a:ext cx="7991907" cy="1066492"/>
          </a:xfrm>
        </p:spPr>
        <p:txBody>
          <a:bodyPr/>
          <a:lstStyle/>
          <a:p>
            <a:pPr marL="139700" indent="0">
              <a:buNone/>
            </a:pPr>
            <a:r>
              <a:rPr lang="en-US" sz="1400" dirty="0">
                <a:solidFill>
                  <a:schemeClr val="accent1"/>
                </a:solidFill>
                <a:sym typeface="Arial"/>
              </a:rPr>
              <a:t>Based on this concept, write a program that calculates and prints the class average when the number of students is not known beforehand.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456E038-78AA-B9DA-3F32-1F96743ACF42}"/>
              </a:ext>
            </a:extLst>
          </p:cNvPr>
          <p:cNvSpPr txBox="1">
            <a:spLocks/>
          </p:cNvSpPr>
          <p:nvPr/>
        </p:nvSpPr>
        <p:spPr>
          <a:xfrm>
            <a:off x="1148166" y="581716"/>
            <a:ext cx="72906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-US" dirty="0">
                <a:solidFill>
                  <a:schemeClr val="accent2"/>
                </a:solidFill>
              </a:rPr>
              <a:t>Sentinel Controlled Repetition</a:t>
            </a:r>
          </a:p>
        </p:txBody>
      </p:sp>
      <p:sp>
        <p:nvSpPr>
          <p:cNvPr id="2" name="Google Shape;473;p28">
            <a:extLst>
              <a:ext uri="{FF2B5EF4-FFF2-40B4-BE49-F238E27FC236}">
                <a16:creationId xmlns:a16="http://schemas.microsoft.com/office/drawing/2014/main" id="{C7CE87C5-29C5-12F7-1427-67843208249E}"/>
              </a:ext>
            </a:extLst>
          </p:cNvPr>
          <p:cNvSpPr txBox="1">
            <a:spLocks/>
          </p:cNvSpPr>
          <p:nvPr/>
        </p:nvSpPr>
        <p:spPr>
          <a:xfrm>
            <a:off x="710125" y="4694725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>
                <a:solidFill>
                  <a:schemeClr val="accent3"/>
                </a:solidFill>
              </a:rPr>
              <a:t>Programming Language Lab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5" name="Google Shape;473;p28">
            <a:extLst>
              <a:ext uri="{FF2B5EF4-FFF2-40B4-BE49-F238E27FC236}">
                <a16:creationId xmlns:a16="http://schemas.microsoft.com/office/drawing/2014/main" id="{91EAD7E1-87AE-38B6-1D9A-8E6BDC18A577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fa-IR" sz="1100" dirty="0">
                <a:solidFill>
                  <a:schemeClr val="accent3"/>
                </a:solidFill>
              </a:rPr>
              <a:t>8</a:t>
            </a:r>
            <a:endParaRPr lang="en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44746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A5C63532-A56A-A2DD-6642-E77B13E38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DD87655F-4759-CC33-45F3-706B18E50F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accent2"/>
                </a:solidFill>
              </a:rPr>
              <a:t>Loops in Mathematics </a:t>
            </a:r>
            <a:endParaRPr sz="2400" dirty="0">
              <a:solidFill>
                <a:schemeClr val="accent2"/>
              </a:solidFill>
            </a:endParaRPr>
          </a:p>
        </p:txBody>
      </p:sp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048CA374-C851-20BE-4952-F1C0C29354E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 Lab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66BCC8C0-14E1-3DBE-9816-F6CEC760C0F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loop</a:t>
            </a:r>
            <a:r>
              <a:rPr lang="en" sz="1400" dirty="0">
                <a:solidFill>
                  <a:schemeClr val="accent3"/>
                </a:solidFill>
              </a:rPr>
              <a:t>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FF577399-F725-FDCA-7F92-F9668900A04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Task 2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7" name="Google Shape;583;p33">
            <a:extLst>
              <a:ext uri="{FF2B5EF4-FFF2-40B4-BE49-F238E27FC236}">
                <a16:creationId xmlns:a16="http://schemas.microsoft.com/office/drawing/2014/main" id="{4A204950-C2B1-7646-E286-FC6CF1F0AC1D}"/>
              </a:ext>
            </a:extLst>
          </p:cNvPr>
          <p:cNvSpPr txBox="1"/>
          <p:nvPr/>
        </p:nvSpPr>
        <p:spPr>
          <a:xfrm>
            <a:off x="1038286" y="1154707"/>
            <a:ext cx="7885973" cy="944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Binomial Expansion series is very popular in mathematics, which is shown in the below. </a:t>
            </a:r>
            <a:r>
              <a:rPr lang="en-US" dirty="0">
                <a:solidFill>
                  <a:srgbClr val="92D050"/>
                </a:solidFill>
                <a:latin typeface="Fira Code"/>
                <a:ea typeface="Fira Code"/>
                <a:cs typeface="Fira Code"/>
                <a:sym typeface="Fira Code"/>
              </a:rPr>
              <a:t>(search for its application!)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Google Shape;583;p33">
                <a:extLst>
                  <a:ext uri="{FF2B5EF4-FFF2-40B4-BE49-F238E27FC236}">
                    <a16:creationId xmlns:a16="http://schemas.microsoft.com/office/drawing/2014/main" id="{EF383C1A-18CF-BFCD-278C-E3E74D5999DF}"/>
                  </a:ext>
                </a:extLst>
              </p:cNvPr>
              <p:cNvSpPr txBox="1"/>
              <p:nvPr/>
            </p:nvSpPr>
            <p:spPr>
              <a:xfrm>
                <a:off x="845733" y="2248818"/>
                <a:ext cx="7103564" cy="944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0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Fira Code"/>
                              <a:cs typeface="Fira Code"/>
                              <a:sym typeface="Fira Code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</m:ctrlPr>
                            </m:dPr>
                            <m:e>
                              <m: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  <m:t>𝑥</m:t>
                              </m:r>
                              <m: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  <m:t>+</m:t>
                              </m:r>
                              <m: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  <m:t>𝑎</m:t>
                              </m:r>
                            </m:e>
                          </m:d>
                        </m:e>
                        <m:sup>
                          <m:r>
                            <a:rPr lang="pt-BR" sz="20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Fira Code"/>
                              <a:cs typeface="Fira Code"/>
                              <a:sym typeface="Fira Code"/>
                            </a:rPr>
                            <m:t>𝑛</m:t>
                          </m:r>
                        </m:sup>
                      </m:sSup>
                      <m:r>
                        <a:rPr lang="pt-BR" sz="20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Fira Code"/>
                          <a:cs typeface="Fira Code"/>
                          <a:sym typeface="Fira Code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sz="20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Fira Code"/>
                              <a:cs typeface="Fira Code"/>
                              <a:sym typeface="Fira Code"/>
                            </a:rPr>
                          </m:ctrlPr>
                        </m:naryPr>
                        <m:sub>
                          <m:r>
                            <a:rPr lang="pt-BR" sz="20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Fira Code"/>
                              <a:cs typeface="Fira Code"/>
                              <a:sym typeface="Fira Code"/>
                            </a:rPr>
                            <m:t>𝑘</m:t>
                          </m:r>
                          <m:r>
                            <a:rPr lang="pt-BR" sz="20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Fira Code"/>
                              <a:cs typeface="Fira Code"/>
                              <a:sym typeface="Fira Code"/>
                            </a:rPr>
                            <m:t>=</m:t>
                          </m:r>
                          <m:r>
                            <a:rPr lang="pt-BR" sz="20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Fira Code"/>
                              <a:cs typeface="Fira Code"/>
                              <a:sym typeface="Fira Code"/>
                            </a:rPr>
                            <m:t>0</m:t>
                          </m:r>
                        </m:sub>
                        <m:sup>
                          <m:r>
                            <a:rPr lang="pt-BR" sz="20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Fira Code"/>
                              <a:cs typeface="Fira Code"/>
                              <a:sym typeface="Fira Code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t-BR" sz="20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Fira Code"/>
                                      <a:cs typeface="Fira Code"/>
                                      <a:sym typeface="Fira Code"/>
                                    </a:rPr>
                                  </m:ctrlPr>
                                </m:fPr>
                                <m:num>
                                  <m:r>
                                    <a:rPr lang="pt-BR" sz="20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Fira Code"/>
                                      <a:cs typeface="Fira Code"/>
                                      <a:sym typeface="Fira Code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t-BR" sz="20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Fira Code"/>
                                      <a:cs typeface="Fira Code"/>
                                      <a:sym typeface="Fira Code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</m:ctrlPr>
                            </m:sSupPr>
                            <m:e>
                              <m: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  <m:t>𝑘</m:t>
                              </m:r>
                            </m:sup>
                          </m:sSup>
                          <m:sSup>
                            <m:sSupPr>
                              <m:ctrlP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</m:ctrlPr>
                            </m:sSupPr>
                            <m:e>
                              <m: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  <m:t>𝑛</m:t>
                              </m:r>
                              <m: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  <m:t>−</m:t>
                              </m:r>
                              <m: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  <m:t>𝑘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000" dirty="0">
                  <a:solidFill>
                    <a:schemeClr val="accent1"/>
                  </a:solidFill>
                  <a:latin typeface="Fira Code"/>
                  <a:ea typeface="Fira Code"/>
                  <a:cs typeface="Fira Code"/>
                  <a:sym typeface="Fira Code"/>
                </a:endParaRPr>
              </a:p>
            </p:txBody>
          </p:sp>
        </mc:Choice>
        <mc:Fallback xmlns="">
          <p:sp>
            <p:nvSpPr>
              <p:cNvPr id="2" name="Google Shape;583;p33">
                <a:extLst>
                  <a:ext uri="{FF2B5EF4-FFF2-40B4-BE49-F238E27FC236}">
                    <a16:creationId xmlns:a16="http://schemas.microsoft.com/office/drawing/2014/main" id="{EF383C1A-18CF-BFCD-278C-E3E74D5999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733" y="2248818"/>
                <a:ext cx="7103564" cy="9447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Google Shape;583;p33">
            <a:extLst>
              <a:ext uri="{FF2B5EF4-FFF2-40B4-BE49-F238E27FC236}">
                <a16:creationId xmlns:a16="http://schemas.microsoft.com/office/drawing/2014/main" id="{77460099-C57F-80CE-D33E-F345EB0CD3BD}"/>
              </a:ext>
            </a:extLst>
          </p:cNvPr>
          <p:cNvSpPr txBox="1"/>
          <p:nvPr/>
        </p:nvSpPr>
        <p:spPr>
          <a:xfrm>
            <a:off x="1247158" y="3342930"/>
            <a:ext cx="6951164" cy="944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92D050"/>
                </a:solidFill>
                <a:latin typeface="Fira Code"/>
                <a:ea typeface="Fira Code"/>
                <a:cs typeface="Fira Code"/>
                <a:sym typeface="Fira Code"/>
              </a:rPr>
              <a:t>Where we see a sum notation, we need a loop!</a:t>
            </a:r>
          </a:p>
        </p:txBody>
      </p:sp>
      <p:sp>
        <p:nvSpPr>
          <p:cNvPr id="3" name="Google Shape;473;p28">
            <a:extLst>
              <a:ext uri="{FF2B5EF4-FFF2-40B4-BE49-F238E27FC236}">
                <a16:creationId xmlns:a16="http://schemas.microsoft.com/office/drawing/2014/main" id="{93F60C11-CD9A-5A95-4B28-E81672C21911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fa-IR" sz="1100" dirty="0">
                <a:solidFill>
                  <a:schemeClr val="accent3"/>
                </a:solidFill>
              </a:rPr>
              <a:t>9</a:t>
            </a:r>
            <a:endParaRPr lang="en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44326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5045F474-0D37-AAEA-E779-B945B904D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B4D7C22E-B710-C4AA-83A4-5607308F23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accent2"/>
                </a:solidFill>
              </a:rPr>
              <a:t>Loops in Mathematics; </a:t>
            </a:r>
            <a:endParaRPr sz="2400" dirty="0">
              <a:solidFill>
                <a:schemeClr val="accent2"/>
              </a:solidFill>
            </a:endParaRPr>
          </a:p>
        </p:txBody>
      </p:sp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044F11C4-80AD-4680-3211-15F3AA69F221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 Lab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1688B9FA-7C35-02B0-3F58-2474DA78DD2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loop</a:t>
            </a:r>
            <a:r>
              <a:rPr lang="en" sz="1400" dirty="0">
                <a:solidFill>
                  <a:schemeClr val="accent3"/>
                </a:solidFill>
              </a:rPr>
              <a:t>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EB8C1CBD-790B-6F9B-D992-AE4EF8AEFF86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Task 2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7" name="Google Shape;583;p33">
            <a:extLst>
              <a:ext uri="{FF2B5EF4-FFF2-40B4-BE49-F238E27FC236}">
                <a16:creationId xmlns:a16="http://schemas.microsoft.com/office/drawing/2014/main" id="{1B23537C-EDDE-7549-5A00-E6396B849979}"/>
              </a:ext>
            </a:extLst>
          </p:cNvPr>
          <p:cNvSpPr txBox="1"/>
          <p:nvPr/>
        </p:nvSpPr>
        <p:spPr>
          <a:xfrm>
            <a:off x="1143250" y="1088675"/>
            <a:ext cx="7898030" cy="944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Binomial Expansion series is very popular in mathematics, which is shown in the below. </a:t>
            </a:r>
            <a:r>
              <a:rPr lang="en-US" dirty="0">
                <a:solidFill>
                  <a:srgbClr val="92D050"/>
                </a:solidFill>
                <a:latin typeface="Fira Code"/>
                <a:ea typeface="Fira Code"/>
                <a:cs typeface="Fira Code"/>
                <a:sym typeface="Fira Code"/>
              </a:rPr>
              <a:t>(search for its application!)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Google Shape;583;p33">
                <a:extLst>
                  <a:ext uri="{FF2B5EF4-FFF2-40B4-BE49-F238E27FC236}">
                    <a16:creationId xmlns:a16="http://schemas.microsoft.com/office/drawing/2014/main" id="{9DE129DE-57ED-7A93-7186-D87EE94FF316}"/>
                  </a:ext>
                </a:extLst>
              </p:cNvPr>
              <p:cNvSpPr txBox="1"/>
              <p:nvPr/>
            </p:nvSpPr>
            <p:spPr>
              <a:xfrm>
                <a:off x="1014243" y="2119441"/>
                <a:ext cx="7103564" cy="944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0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Fira Code"/>
                              <a:cs typeface="Fira Code"/>
                              <a:sym typeface="Fira Code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</m:ctrlPr>
                            </m:dPr>
                            <m:e>
                              <m: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  <m:t>𝑥</m:t>
                              </m:r>
                              <m: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  <m:t>+</m:t>
                              </m:r>
                              <m: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  <m:t>𝑎</m:t>
                              </m:r>
                            </m:e>
                          </m:d>
                        </m:e>
                        <m:sup>
                          <m:r>
                            <a:rPr lang="pt-BR" sz="20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Fira Code"/>
                              <a:cs typeface="Fira Code"/>
                              <a:sym typeface="Fira Code"/>
                            </a:rPr>
                            <m:t>𝑛</m:t>
                          </m:r>
                        </m:sup>
                      </m:sSup>
                      <m:r>
                        <a:rPr lang="pt-BR" sz="20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Fira Code"/>
                          <a:cs typeface="Fira Code"/>
                          <a:sym typeface="Fira Code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sz="20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Fira Code"/>
                              <a:cs typeface="Fira Code"/>
                              <a:sym typeface="Fira Code"/>
                            </a:rPr>
                          </m:ctrlPr>
                        </m:naryPr>
                        <m:sub>
                          <m:r>
                            <a:rPr lang="pt-BR" sz="20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Fira Code"/>
                              <a:cs typeface="Fira Code"/>
                              <a:sym typeface="Fira Code"/>
                            </a:rPr>
                            <m:t>𝑘</m:t>
                          </m:r>
                          <m:r>
                            <a:rPr lang="pt-BR" sz="20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Fira Code"/>
                              <a:cs typeface="Fira Code"/>
                              <a:sym typeface="Fira Code"/>
                            </a:rPr>
                            <m:t>=</m:t>
                          </m:r>
                          <m:r>
                            <a:rPr lang="pt-BR" sz="20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Fira Code"/>
                              <a:cs typeface="Fira Code"/>
                              <a:sym typeface="Fira Code"/>
                            </a:rPr>
                            <m:t>0</m:t>
                          </m:r>
                        </m:sub>
                        <m:sup>
                          <m:r>
                            <a:rPr lang="pt-BR" sz="20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Fira Code"/>
                              <a:cs typeface="Fira Code"/>
                              <a:sym typeface="Fira Code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t-BR" sz="20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Fira Code"/>
                                      <a:cs typeface="Fira Code"/>
                                      <a:sym typeface="Fira Code"/>
                                    </a:rPr>
                                  </m:ctrlPr>
                                </m:fPr>
                                <m:num>
                                  <m:r>
                                    <a:rPr lang="pt-BR" sz="20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Fira Code"/>
                                      <a:cs typeface="Fira Code"/>
                                      <a:sym typeface="Fira Code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t-BR" sz="20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Fira Code"/>
                                      <a:cs typeface="Fira Code"/>
                                      <a:sym typeface="Fira Code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</m:ctrlPr>
                            </m:sSupPr>
                            <m:e>
                              <m: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  <m:t>𝑘</m:t>
                              </m:r>
                            </m:sup>
                          </m:sSup>
                          <m:sSup>
                            <m:sSupPr>
                              <m:ctrlP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</m:ctrlPr>
                            </m:sSupPr>
                            <m:e>
                              <m: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  <m:t>𝑛</m:t>
                              </m:r>
                              <m: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  <m:t>−</m:t>
                              </m:r>
                              <m: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  <m:t>𝑘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000" dirty="0">
                  <a:solidFill>
                    <a:schemeClr val="accent1"/>
                  </a:solidFill>
                  <a:latin typeface="Fira Code"/>
                  <a:ea typeface="Fira Code"/>
                  <a:cs typeface="Fira Code"/>
                  <a:sym typeface="Fira Code"/>
                </a:endParaRPr>
              </a:p>
            </p:txBody>
          </p:sp>
        </mc:Choice>
        <mc:Fallback xmlns="">
          <p:sp>
            <p:nvSpPr>
              <p:cNvPr id="2" name="Google Shape;583;p33">
                <a:extLst>
                  <a:ext uri="{FF2B5EF4-FFF2-40B4-BE49-F238E27FC236}">
                    <a16:creationId xmlns:a16="http://schemas.microsoft.com/office/drawing/2014/main" id="{9DE129DE-57ED-7A93-7186-D87EE94FF3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243" y="2119441"/>
                <a:ext cx="7103564" cy="9447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Google Shape;583;p33">
            <a:extLst>
              <a:ext uri="{FF2B5EF4-FFF2-40B4-BE49-F238E27FC236}">
                <a16:creationId xmlns:a16="http://schemas.microsoft.com/office/drawing/2014/main" id="{8B9D5C64-373E-89D5-447C-3896716AA3DB}"/>
              </a:ext>
            </a:extLst>
          </p:cNvPr>
          <p:cNvSpPr txBox="1"/>
          <p:nvPr/>
        </p:nvSpPr>
        <p:spPr>
          <a:xfrm>
            <a:off x="1396162" y="3538767"/>
            <a:ext cx="7747838" cy="1072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92D050"/>
                </a:solidFill>
                <a:latin typeface="Fira Code"/>
                <a:ea typeface="Fira Code"/>
                <a:cs typeface="Fira Code"/>
                <a:sym typeface="Fira Code"/>
              </a:rPr>
              <a:t>X, a, and n should be set as input parameters. </a:t>
            </a:r>
          </a:p>
        </p:txBody>
      </p:sp>
      <p:sp>
        <p:nvSpPr>
          <p:cNvPr id="3" name="Google Shape;583;p33">
            <a:extLst>
              <a:ext uri="{FF2B5EF4-FFF2-40B4-BE49-F238E27FC236}">
                <a16:creationId xmlns:a16="http://schemas.microsoft.com/office/drawing/2014/main" id="{434BE448-723B-C67B-C211-D358334323B6}"/>
              </a:ext>
            </a:extLst>
          </p:cNvPr>
          <p:cNvSpPr txBox="1"/>
          <p:nvPr/>
        </p:nvSpPr>
        <p:spPr>
          <a:xfrm>
            <a:off x="1369604" y="3044082"/>
            <a:ext cx="6951164" cy="944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Try to implement the above formula using loops!</a:t>
            </a:r>
          </a:p>
        </p:txBody>
      </p:sp>
      <p:sp>
        <p:nvSpPr>
          <p:cNvPr id="4" name="Google Shape;473;p28">
            <a:extLst>
              <a:ext uri="{FF2B5EF4-FFF2-40B4-BE49-F238E27FC236}">
                <a16:creationId xmlns:a16="http://schemas.microsoft.com/office/drawing/2014/main" id="{652F057F-2CA1-8B6D-7390-C8CF39F80CD5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fa-IR" sz="1100" dirty="0">
                <a:solidFill>
                  <a:schemeClr val="accent3"/>
                </a:solidFill>
              </a:rPr>
              <a:t>10</a:t>
            </a:r>
            <a:endParaRPr lang="en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93611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75560732-9D9B-8264-DD98-E36C9D864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534ED924-8B92-9634-7D64-E2B868C9A0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accent2"/>
                </a:solidFill>
              </a:rPr>
              <a:t>G</a:t>
            </a:r>
            <a:r>
              <a:rPr lang="en" sz="2400" dirty="0">
                <a:solidFill>
                  <a:schemeClr val="accent2"/>
                </a:solidFill>
              </a:rPr>
              <a:t>enerating Pattern;</a:t>
            </a:r>
            <a:br>
              <a:rPr lang="en" sz="2400" dirty="0">
                <a:solidFill>
                  <a:schemeClr val="accent2"/>
                </a:solidFill>
              </a:rPr>
            </a:br>
            <a:br>
              <a:rPr lang="en" sz="2400" dirty="0">
                <a:solidFill>
                  <a:schemeClr val="accent2"/>
                </a:solidFill>
              </a:rPr>
            </a:br>
            <a:br>
              <a:rPr lang="en" sz="2400" dirty="0">
                <a:solidFill>
                  <a:schemeClr val="accent2"/>
                </a:solidFill>
              </a:rPr>
            </a:br>
            <a:endParaRPr sz="2400" dirty="0">
              <a:solidFill>
                <a:schemeClr val="accent2"/>
              </a:solidFill>
            </a:endParaRPr>
          </a:p>
        </p:txBody>
      </p:sp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28DD3817-800E-A4F3-90A5-355C46182532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 Lab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1E5BB27D-3DA3-86CE-D408-0AA17F276291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loops</a:t>
            </a:r>
            <a:r>
              <a:rPr lang="en" sz="1400" dirty="0">
                <a:solidFill>
                  <a:schemeClr val="accent3"/>
                </a:solidFill>
              </a:rPr>
              <a:t>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B056DB4F-849A-5272-DA79-04FBEE2D5DB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Task 3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" name="Google Shape;583;p33">
            <a:extLst>
              <a:ext uri="{FF2B5EF4-FFF2-40B4-BE49-F238E27FC236}">
                <a16:creationId xmlns:a16="http://schemas.microsoft.com/office/drawing/2014/main" id="{7509BE81-2412-6A1F-3FC4-7312972378FB}"/>
              </a:ext>
            </a:extLst>
          </p:cNvPr>
          <p:cNvSpPr txBox="1"/>
          <p:nvPr/>
        </p:nvSpPr>
        <p:spPr>
          <a:xfrm>
            <a:off x="1225860" y="1045687"/>
            <a:ext cx="7125380" cy="1020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Try to generate the given patterns by using loops.</a:t>
            </a:r>
          </a:p>
        </p:txBody>
      </p:sp>
      <p:sp>
        <p:nvSpPr>
          <p:cNvPr id="7" name="Google Shape;583;p33">
            <a:extLst>
              <a:ext uri="{FF2B5EF4-FFF2-40B4-BE49-F238E27FC236}">
                <a16:creationId xmlns:a16="http://schemas.microsoft.com/office/drawing/2014/main" id="{5EDB0012-86BD-FFB0-B8E9-862FB969B95C}"/>
              </a:ext>
            </a:extLst>
          </p:cNvPr>
          <p:cNvSpPr txBox="1"/>
          <p:nvPr/>
        </p:nvSpPr>
        <p:spPr>
          <a:xfrm>
            <a:off x="1159638" y="3837850"/>
            <a:ext cx="5698362" cy="1020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>
              <a:solidFill>
                <a:srgbClr val="92D05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6C3449-0826-6930-3BCC-16C16692306D}"/>
              </a:ext>
            </a:extLst>
          </p:cNvPr>
          <p:cNvSpPr txBox="1"/>
          <p:nvPr/>
        </p:nvSpPr>
        <p:spPr>
          <a:xfrm>
            <a:off x="4197391" y="2752975"/>
            <a:ext cx="1128835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1              1</a:t>
            </a:r>
          </a:p>
          <a:p>
            <a:r>
              <a:rPr lang="en-US" dirty="0">
                <a:solidFill>
                  <a:srgbClr val="FFC000"/>
                </a:solidFill>
              </a:rPr>
              <a:t>12          21 </a:t>
            </a:r>
          </a:p>
          <a:p>
            <a:r>
              <a:rPr lang="en-US" dirty="0">
                <a:solidFill>
                  <a:srgbClr val="FFC000"/>
                </a:solidFill>
              </a:rPr>
              <a:t>123      321</a:t>
            </a:r>
          </a:p>
          <a:p>
            <a:r>
              <a:rPr lang="en-US" dirty="0">
                <a:solidFill>
                  <a:srgbClr val="FFC000"/>
                </a:solidFill>
              </a:rPr>
              <a:t>1234  4321</a:t>
            </a:r>
          </a:p>
          <a:p>
            <a:r>
              <a:rPr lang="en-US" dirty="0">
                <a:solidFill>
                  <a:srgbClr val="FFC000"/>
                </a:solidFill>
              </a:rPr>
              <a:t>123454321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DAB1F9-54BC-9CDC-5886-32DB18E3A597}"/>
              </a:ext>
            </a:extLst>
          </p:cNvPr>
          <p:cNvSpPr txBox="1"/>
          <p:nvPr/>
        </p:nvSpPr>
        <p:spPr>
          <a:xfrm>
            <a:off x="2490896" y="2651973"/>
            <a:ext cx="130355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C000"/>
                </a:solidFill>
              </a:rPr>
              <a:t>*</a:t>
            </a:r>
          </a:p>
          <a:p>
            <a:pPr algn="ctr"/>
            <a:r>
              <a:rPr lang="en-US" dirty="0">
                <a:solidFill>
                  <a:srgbClr val="FFC000"/>
                </a:solidFill>
              </a:rPr>
              <a:t>**</a:t>
            </a:r>
          </a:p>
          <a:p>
            <a:pPr algn="ctr"/>
            <a:r>
              <a:rPr lang="en-US" dirty="0">
                <a:solidFill>
                  <a:srgbClr val="FFC000"/>
                </a:solidFill>
              </a:rPr>
              <a:t>***</a:t>
            </a:r>
          </a:p>
          <a:p>
            <a:pPr algn="ctr"/>
            <a:r>
              <a:rPr lang="en-US" dirty="0">
                <a:solidFill>
                  <a:srgbClr val="FFC000"/>
                </a:solidFill>
              </a:rPr>
              <a:t>****</a:t>
            </a:r>
          </a:p>
          <a:p>
            <a:pPr algn="ctr"/>
            <a:r>
              <a:rPr lang="en-US" dirty="0">
                <a:solidFill>
                  <a:srgbClr val="FFC000"/>
                </a:solidFill>
              </a:rPr>
              <a:t>*****</a:t>
            </a:r>
          </a:p>
          <a:p>
            <a:pPr algn="ctr"/>
            <a:r>
              <a:rPr lang="en-US" dirty="0">
                <a:solidFill>
                  <a:srgbClr val="FFC000"/>
                </a:solidFill>
              </a:rPr>
              <a:t>******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6F2A75-AD39-BAF1-81C1-809D163A9E88}"/>
              </a:ext>
            </a:extLst>
          </p:cNvPr>
          <p:cNvSpPr txBox="1"/>
          <p:nvPr/>
        </p:nvSpPr>
        <p:spPr>
          <a:xfrm>
            <a:off x="1541590" y="2608678"/>
            <a:ext cx="130355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*</a:t>
            </a:r>
          </a:p>
          <a:p>
            <a:r>
              <a:rPr lang="en-US" dirty="0">
                <a:solidFill>
                  <a:srgbClr val="FFC000"/>
                </a:solidFill>
              </a:rPr>
              <a:t>**</a:t>
            </a:r>
          </a:p>
          <a:p>
            <a:r>
              <a:rPr lang="en-US" dirty="0">
                <a:solidFill>
                  <a:srgbClr val="FFC000"/>
                </a:solidFill>
              </a:rPr>
              <a:t>***</a:t>
            </a:r>
          </a:p>
          <a:p>
            <a:r>
              <a:rPr lang="en-US" dirty="0">
                <a:solidFill>
                  <a:srgbClr val="FFC000"/>
                </a:solidFill>
              </a:rPr>
              <a:t>***</a:t>
            </a:r>
          </a:p>
          <a:p>
            <a:r>
              <a:rPr lang="en-US" dirty="0">
                <a:solidFill>
                  <a:srgbClr val="FFC000"/>
                </a:solidFill>
              </a:rPr>
              <a:t>*****</a:t>
            </a:r>
          </a:p>
          <a:p>
            <a:r>
              <a:rPr lang="en-US" dirty="0">
                <a:solidFill>
                  <a:srgbClr val="FFC000"/>
                </a:solidFill>
              </a:rPr>
              <a:t>******</a:t>
            </a:r>
          </a:p>
        </p:txBody>
      </p:sp>
      <p:sp>
        <p:nvSpPr>
          <p:cNvPr id="3" name="Google Shape;473;p28">
            <a:extLst>
              <a:ext uri="{FF2B5EF4-FFF2-40B4-BE49-F238E27FC236}">
                <a16:creationId xmlns:a16="http://schemas.microsoft.com/office/drawing/2014/main" id="{D31388A3-4ED2-3CF2-05B3-62E0E86B9F2C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73886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fa-IR" sz="1100" dirty="0">
                <a:solidFill>
                  <a:schemeClr val="accent3"/>
                </a:solidFill>
              </a:rPr>
              <a:t>11</a:t>
            </a:r>
            <a:endParaRPr lang="en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6979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B5833-C218-696D-6E03-B1CDAA7B3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>
                <a:solidFill>
                  <a:schemeClr val="accent2"/>
                </a:solidFill>
              </a:rPr>
              <a:t>Homework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8B6244-CB00-BD3C-A845-3795ABC5F2E7}"/>
              </a:ext>
            </a:extLst>
          </p:cNvPr>
          <p:cNvSpPr txBox="1"/>
          <p:nvPr/>
        </p:nvSpPr>
        <p:spPr>
          <a:xfrm>
            <a:off x="1090156" y="1123900"/>
            <a:ext cx="7924058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chemeClr val="accent2"/>
                </a:solidFill>
                <a:latin typeface="Fira Code"/>
                <a:ea typeface="Fira Code"/>
                <a:cs typeface="Fira Code"/>
              </a:rPr>
              <a:t>Write a program that reads an unknown number of integer grades from the user.</a:t>
            </a:r>
            <a:endParaRPr lang="fa-IR" altLang="en-US" dirty="0">
              <a:solidFill>
                <a:schemeClr val="accent2"/>
              </a:solidFill>
              <a:latin typeface="Fira Code"/>
              <a:ea typeface="Fira Code"/>
              <a:cs typeface="Fira Code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lang="en-US" altLang="en-US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</a:br>
            <a:r>
              <a:rPr lang="en-US" altLang="en-US" dirty="0">
                <a:solidFill>
                  <a:schemeClr val="accent2"/>
                </a:solidFill>
                <a:latin typeface="Fira Code"/>
                <a:ea typeface="Fira Code"/>
                <a:cs typeface="Fira Code"/>
              </a:rPr>
              <a:t>The input ends when the user enters </a:t>
            </a:r>
            <a:r>
              <a:rPr lang="en-US" altLang="en-US" b="1" dirty="0">
                <a:solidFill>
                  <a:schemeClr val="accent2"/>
                </a:solidFill>
                <a:latin typeface="Fira Code"/>
                <a:ea typeface="Fira Code"/>
                <a:cs typeface="Fira Code"/>
              </a:rPr>
              <a:t>-1</a:t>
            </a:r>
            <a:r>
              <a:rPr lang="en-US" altLang="en-US" dirty="0">
                <a:solidFill>
                  <a:schemeClr val="accent2"/>
                </a:solidFill>
                <a:latin typeface="Fira Code"/>
                <a:ea typeface="Fira Code"/>
                <a:cs typeface="Fira Code"/>
              </a:rPr>
              <a:t>.</a:t>
            </a:r>
            <a:br>
              <a:rPr lang="en-US" altLang="en-US" dirty="0">
                <a:solidFill>
                  <a:schemeClr val="accent2"/>
                </a:solidFill>
                <a:latin typeface="Fira Code"/>
                <a:ea typeface="Fira Code"/>
                <a:cs typeface="Fira Code"/>
              </a:rPr>
            </a:br>
            <a:r>
              <a:rPr lang="en-US" altLang="en-US" dirty="0">
                <a:solidFill>
                  <a:schemeClr val="accent2"/>
                </a:solidFill>
                <a:latin typeface="Fira Code"/>
                <a:ea typeface="Fira Code"/>
                <a:cs typeface="Fira Code"/>
              </a:rPr>
              <a:t>Your task is to:</a:t>
            </a:r>
            <a:endParaRPr lang="fa-IR" altLang="en-US" dirty="0">
              <a:solidFill>
                <a:schemeClr val="accent2"/>
              </a:solidFill>
              <a:latin typeface="Fira Code"/>
              <a:ea typeface="Fira Code"/>
              <a:cs typeface="Fira Code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solidFill>
                <a:schemeClr val="accent1"/>
              </a:solidFill>
              <a:latin typeface="Fira Code"/>
              <a:ea typeface="Fira Code"/>
              <a:cs typeface="Fira Code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en-US" altLang="en-US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Calculate and print the maximum absolute difference between any two consecutive grades.</a:t>
            </a:r>
            <a:endParaRPr lang="fa-IR" altLang="en-US" dirty="0">
              <a:solidFill>
                <a:schemeClr val="accent1"/>
              </a:solidFill>
              <a:latin typeface="Fira Code"/>
              <a:ea typeface="Fira Code"/>
              <a:cs typeface="Fira Code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lang="en-US" altLang="en-US" dirty="0">
              <a:solidFill>
                <a:schemeClr val="accent1"/>
              </a:solidFill>
              <a:latin typeface="Fira Code"/>
              <a:ea typeface="Fira Code"/>
              <a:cs typeface="Fira Code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lang="en-US" altLang="en-US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Also print the two grades that caused this maximum difference.</a:t>
            </a:r>
            <a:endParaRPr lang="fa-IR" altLang="en-US" dirty="0">
              <a:solidFill>
                <a:schemeClr val="accent1"/>
              </a:solidFill>
              <a:latin typeface="Fira Code"/>
              <a:ea typeface="Fira Code"/>
              <a:cs typeface="Fira Code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endParaRPr lang="en-US" altLang="en-US" dirty="0">
              <a:solidFill>
                <a:schemeClr val="accent1"/>
              </a:solidFill>
              <a:latin typeface="Fira Code"/>
              <a:ea typeface="Fira Code"/>
              <a:cs typeface="Fira Code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chemeClr val="accent2"/>
                </a:solidFill>
                <a:latin typeface="Fira Code"/>
                <a:ea typeface="Fira Code"/>
                <a:cs typeface="Fira Code"/>
              </a:rPr>
              <a:t>If fewer than two valid grades are entered, display a message: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chemeClr val="accent2"/>
                </a:solidFill>
                <a:latin typeface="Fira Code"/>
                <a:ea typeface="Fira Code"/>
                <a:cs typeface="Fira Code"/>
              </a:rPr>
              <a:t>"Not enough data to compare grades."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C2D6E6-F019-8A0A-B79D-421B7B95C3DB}"/>
              </a:ext>
            </a:extLst>
          </p:cNvPr>
          <p:cNvSpPr txBox="1"/>
          <p:nvPr/>
        </p:nvSpPr>
        <p:spPr>
          <a:xfrm>
            <a:off x="6737063" y="158212"/>
            <a:ext cx="5068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HW1</a:t>
            </a:r>
          </a:p>
        </p:txBody>
      </p:sp>
      <p:sp>
        <p:nvSpPr>
          <p:cNvPr id="3" name="Google Shape;473;p28">
            <a:extLst>
              <a:ext uri="{FF2B5EF4-FFF2-40B4-BE49-F238E27FC236}">
                <a16:creationId xmlns:a16="http://schemas.microsoft.com/office/drawing/2014/main" id="{8634E024-01F9-5BF0-4A5A-6B5325C29410}"/>
              </a:ext>
            </a:extLst>
          </p:cNvPr>
          <p:cNvSpPr txBox="1">
            <a:spLocks/>
          </p:cNvSpPr>
          <p:nvPr/>
        </p:nvSpPr>
        <p:spPr>
          <a:xfrm>
            <a:off x="710125" y="4694725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>
                <a:solidFill>
                  <a:schemeClr val="accent3"/>
                </a:solidFill>
              </a:rPr>
              <a:t>Programming Language Lab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4" name="Google Shape;473;p28">
            <a:extLst>
              <a:ext uri="{FF2B5EF4-FFF2-40B4-BE49-F238E27FC236}">
                <a16:creationId xmlns:a16="http://schemas.microsoft.com/office/drawing/2014/main" id="{0E00B818-1811-3A25-CBA8-087C1E5D3A63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73886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fa-IR" sz="1100" dirty="0">
                <a:solidFill>
                  <a:schemeClr val="accent3"/>
                </a:solidFill>
              </a:rPr>
              <a:t>1</a:t>
            </a:r>
            <a:r>
              <a:rPr lang="en" sz="1100" dirty="0">
                <a:solidFill>
                  <a:schemeClr val="accent3"/>
                </a:solidFill>
              </a:rPr>
              <a:t>2</a:t>
            </a:r>
            <a:endParaRPr lang="en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09041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96244-A6E0-B671-5A89-E09FE1C1A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3F9B1-F672-DD39-3BBC-AE8DC655F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>
                <a:solidFill>
                  <a:schemeClr val="accent2"/>
                </a:solidFill>
              </a:rPr>
              <a:t>Homework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4FB329-0C1F-E24C-C0B3-CDD3D6501066}"/>
              </a:ext>
            </a:extLst>
          </p:cNvPr>
          <p:cNvSpPr txBox="1"/>
          <p:nvPr/>
        </p:nvSpPr>
        <p:spPr>
          <a:xfrm>
            <a:off x="6737063" y="158212"/>
            <a:ext cx="5068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HW</a:t>
            </a:r>
            <a:r>
              <a:rPr lang="fa-IR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 lang="en-US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" name="Google Shape;473;p28">
            <a:extLst>
              <a:ext uri="{FF2B5EF4-FFF2-40B4-BE49-F238E27FC236}">
                <a16:creationId xmlns:a16="http://schemas.microsoft.com/office/drawing/2014/main" id="{D199699C-11C1-DF2C-967E-56E97482567A}"/>
              </a:ext>
            </a:extLst>
          </p:cNvPr>
          <p:cNvSpPr txBox="1">
            <a:spLocks/>
          </p:cNvSpPr>
          <p:nvPr/>
        </p:nvSpPr>
        <p:spPr>
          <a:xfrm>
            <a:off x="710125" y="4694725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>
                <a:solidFill>
                  <a:schemeClr val="accent3"/>
                </a:solidFill>
              </a:rPr>
              <a:t>Programming Language Lab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4" name="Google Shape;473;p28">
            <a:extLst>
              <a:ext uri="{FF2B5EF4-FFF2-40B4-BE49-F238E27FC236}">
                <a16:creationId xmlns:a16="http://schemas.microsoft.com/office/drawing/2014/main" id="{DA0A3688-8EE5-555E-F2F0-0BF727491AE7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73886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fa-IR" sz="1100" dirty="0">
                <a:solidFill>
                  <a:schemeClr val="accent3"/>
                </a:solidFill>
              </a:rPr>
              <a:t>13</a:t>
            </a:r>
            <a:endParaRPr lang="en" dirty="0">
              <a:solidFill>
                <a:schemeClr val="accent3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C91BFF-910E-651B-47E1-A8DDE56E95AF}"/>
              </a:ext>
            </a:extLst>
          </p:cNvPr>
          <p:cNvSpPr txBox="1"/>
          <p:nvPr/>
        </p:nvSpPr>
        <p:spPr>
          <a:xfrm>
            <a:off x="1330036" y="1240611"/>
            <a:ext cx="70104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Assignment</a:t>
            </a:r>
            <a:r>
              <a:rPr lang="en-US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 - do the following:</a:t>
            </a:r>
            <a:endParaRPr lang="fa-IR" sz="14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endParaRPr lang="fa-IR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</a:endParaRPr>
          </a:p>
          <a:p>
            <a:r>
              <a:rPr lang="en-US" sz="14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4.25 </a:t>
            </a:r>
            <a:r>
              <a:rPr lang="en-US" sz="1400" dirty="0">
                <a:solidFill>
                  <a:schemeClr val="accent2"/>
                </a:solidFill>
                <a:latin typeface="Fira Code"/>
                <a:ea typeface="Fira Code"/>
                <a:cs typeface="B Nazanin" panose="00000400000000000000" pitchFamily="2" charset="-78"/>
              </a:rPr>
              <a:t>(Table of Decimal, Binary, Octal and Hexadecimal Equivalents)</a:t>
            </a:r>
          </a:p>
          <a:p>
            <a:br>
              <a:rPr lang="en-US" sz="1400" dirty="0">
                <a:solidFill>
                  <a:schemeClr val="accent2"/>
                </a:solidFill>
                <a:latin typeface="Fira Code"/>
                <a:ea typeface="Fira Code"/>
                <a:cs typeface="B Nazanin" panose="00000400000000000000" pitchFamily="2" charset="-78"/>
              </a:rPr>
            </a:br>
            <a:r>
              <a:rPr lang="en-US" sz="14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Source: C How to Program, 9th Edition (Deitel)</a:t>
            </a:r>
          </a:p>
        </p:txBody>
      </p:sp>
    </p:spTree>
    <p:extLst>
      <p:ext uri="{BB962C8B-B14F-4D97-AF65-F5344CB8AC3E}">
        <p14:creationId xmlns:p14="http://schemas.microsoft.com/office/powerpoint/2010/main" val="2573768982"/>
      </p:ext>
    </p:extLst>
  </p:cSld>
  <p:clrMapOvr>
    <a:masterClrMapping/>
  </p:clrMapOvr>
</p:sld>
</file>

<file path=ppt/theme/theme1.xml><?xml version="1.0" encoding="utf-8"?>
<a:theme xmlns:a="http://schemas.openxmlformats.org/drawingml/2006/main" name="Programming Language Workshop for Beginners by Slidesgo">
  <a:themeElements>
    <a:clrScheme name="Simple Light">
      <a:dk1>
        <a:srgbClr val="2E323B"/>
      </a:dk1>
      <a:lt1>
        <a:srgbClr val="FF5858"/>
      </a:lt1>
      <a:dk2>
        <a:srgbClr val="72D9F0"/>
      </a:dk2>
      <a:lt2>
        <a:srgbClr val="FCC642"/>
      </a:lt2>
      <a:accent1>
        <a:srgbClr val="DBA0DB"/>
      </a:accent1>
      <a:accent2>
        <a:srgbClr val="A5CF27"/>
      </a:accent2>
      <a:accent3>
        <a:srgbClr val="E7E7E7"/>
      </a:accent3>
      <a:accent4>
        <a:srgbClr val="707070"/>
      </a:accent4>
      <a:accent5>
        <a:srgbClr val="16191F"/>
      </a:accent5>
      <a:accent6>
        <a:srgbClr val="FFFFFF"/>
      </a:accent6>
      <a:hlink>
        <a:srgbClr val="FF585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1236</TotalTime>
  <Words>933</Words>
  <Application>Microsoft Office PowerPoint</Application>
  <PresentationFormat>On-screen Show (16:9)</PresentationFormat>
  <Paragraphs>151</Paragraphs>
  <Slides>15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Fira Code</vt:lpstr>
      <vt:lpstr>Arial Rounded MT Bold</vt:lpstr>
      <vt:lpstr>Arial</vt:lpstr>
      <vt:lpstr>Cambria Math</vt:lpstr>
      <vt:lpstr>Programming Language Workshop for Beginners by Slidesgo</vt:lpstr>
      <vt:lpstr>PowerPoint Presentation</vt:lpstr>
      <vt:lpstr>Loops and Repetions </vt:lpstr>
      <vt:lpstr>Where we need loops?;</vt:lpstr>
      <vt:lpstr>Checking a condition</vt:lpstr>
      <vt:lpstr>Counter Controlled Repetition</vt:lpstr>
      <vt:lpstr>Counter Controlled Repetition  </vt:lpstr>
      <vt:lpstr>Code.c</vt:lpstr>
      <vt:lpstr>Counter Controlled Repetition  </vt:lpstr>
      <vt:lpstr>Sentinel Controlled Repetition</vt:lpstr>
      <vt:lpstr>PowerPoint Presentation</vt:lpstr>
      <vt:lpstr>Loops in Mathematics </vt:lpstr>
      <vt:lpstr>Loops in Mathematics; </vt:lpstr>
      <vt:lpstr>Generating Pattern;   </vt:lpstr>
      <vt:lpstr>Homework</vt:lpstr>
      <vt:lpstr>Homework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shayan naghizadeh</dc:creator>
  <cp:lastModifiedBy>Esmaeil Khosravi</cp:lastModifiedBy>
  <cp:revision>21</cp:revision>
  <dcterms:modified xsi:type="dcterms:W3CDTF">2025-09-04T15:23:16Z</dcterms:modified>
</cp:coreProperties>
</file>