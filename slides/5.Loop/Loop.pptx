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15" r:id="rId5"/>
    <p:sldId id="318" r:id="rId6"/>
    <p:sldId id="319" r:id="rId7"/>
    <p:sldId id="320" r:id="rId8"/>
    <p:sldId id="321" r:id="rId9"/>
    <p:sldId id="322" r:id="rId10"/>
    <p:sldId id="323" r:id="rId11"/>
    <p:sldId id="316" r:id="rId12"/>
    <p:sldId id="317" r:id="rId13"/>
    <p:sldId id="302" r:id="rId14"/>
    <p:sldId id="324" r:id="rId1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7"/>
    </p:embeddedFont>
    <p:embeddedFont>
      <p:font typeface="Fira Code" panose="020B0809050000020004" pitchFamily="49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D255F0A-1754-C387-727C-CAB8691D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556672B-4B6A-89C7-83BF-17967D40A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0574E77-1266-81E2-E205-57ADD21C7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54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BA7CAD5-5180-F7CF-BCF2-3A01BED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358CAE2-A48B-A939-7CCD-1A3EC779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8CBE827-BAA0-E16E-C541-FF19C84F5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254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0DBF483-6B8A-9ACF-015A-139B2716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CE0E88F-3060-7502-443F-0145264A6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BDE0FE-A742-ED21-BC3C-F33BC1AB7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778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C6CE61-D018-5700-DCF4-675D5730D6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1D1E6-7AD5-BCE0-AB30-4C08B98FD69B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634A6-239A-3A0C-37A3-73327B285D77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Loop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F64728B-1273-91D0-050F-D7B5AE4F9D9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Loops and Repetions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Where we need loops?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232992" y="1189311"/>
            <a:ext cx="6559877" cy="648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we need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or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automation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232992" y="2302088"/>
            <a:ext cx="757282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What are the needed syntaxes for performing repetitions in C?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Recap what you need!</a:t>
            </a: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109CEB9-E14C-D73E-C8C7-8F01C16F2D81}"/>
              </a:ext>
            </a:extLst>
          </p:cNvPr>
          <p:cNvSpPr txBox="1"/>
          <p:nvPr/>
        </p:nvSpPr>
        <p:spPr>
          <a:xfrm>
            <a:off x="1232992" y="1627013"/>
            <a:ext cx="751128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computer science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most of algorithms are full of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repetitions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7051C12-CD8A-C559-758A-793D6235BDD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12C1D79-5B22-0C08-E549-40AEE7C0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4FEBA93-B6AD-99EB-733D-628C3B85C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49732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Checking a condition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4238F7F-8916-CDCF-D768-0A2BD47699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B65766E-46F8-5A5A-FCB4-8AFB7DF1231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C774D99-FCD0-B85F-FEF4-9FBB1E6092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61B3BF7-7F33-DAD1-7885-69749E423A8E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A31E41C-05DD-5F10-36FD-956E8152CA34}"/>
              </a:ext>
            </a:extLst>
          </p:cNvPr>
          <p:cNvSpPr txBox="1"/>
          <p:nvPr/>
        </p:nvSpPr>
        <p:spPr>
          <a:xfrm>
            <a:off x="1178647" y="1159855"/>
            <a:ext cx="7847366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to determine whether a given number has specific characteristics.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C80140A1-6BE8-CE1B-56CE-C573941297A5}"/>
              </a:ext>
            </a:extLst>
          </p:cNvPr>
          <p:cNvSpPr txBox="1"/>
          <p:nvPr/>
        </p:nvSpPr>
        <p:spPr>
          <a:xfrm>
            <a:off x="1236767" y="2130226"/>
            <a:ext cx="7516207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The number is named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ugly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if 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its only prime factors are 2, 3, or 5.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</p:txBody>
      </p:sp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248D9CC4-7436-C354-3BDD-F511C6A62306}"/>
              </a:ext>
            </a:extLst>
          </p:cNvPr>
          <p:cNvSpPr txBox="1"/>
          <p:nvPr/>
        </p:nvSpPr>
        <p:spPr>
          <a:xfrm>
            <a:off x="1236767" y="3136552"/>
            <a:ext cx="755394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You need to check specific factors of a number!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4F0BEC7-07BA-613C-8191-8F7BA4B4FAB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930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E8D7-985D-5FFC-0E1A-4046982F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67" y="521975"/>
            <a:ext cx="7290600" cy="54120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Counter Controlled Repetition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AC7BE9-6E2F-3784-7E0E-26730247D92D}"/>
              </a:ext>
            </a:extLst>
          </p:cNvPr>
          <p:cNvSpPr txBox="1"/>
          <p:nvPr/>
        </p:nvSpPr>
        <p:spPr>
          <a:xfrm>
            <a:off x="1035337" y="1287350"/>
            <a:ext cx="7955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As you may remember, in the pseudocode session, we wrote a pseudocode to calculate the average of students' grades.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 this example, we apply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counter-controlled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, where a variable (counter) determines how many times a set of actions should run. Since the number of repetitions is known (10 times for 10 students), this is called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endParaRPr lang="fa-IR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F0DF6074-F4FE-560E-AB69-4E02BF94D464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570004D-E855-EC11-BDF0-1A32D3DD7BD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658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45337-6463-C4F4-8EE6-3017A4C89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BC356-0B89-8129-F8D1-D88E51BE5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49" y="973394"/>
            <a:ext cx="7865065" cy="3415726"/>
          </a:xfrm>
        </p:spPr>
        <p:txBody>
          <a:bodyPr/>
          <a:lstStyle/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Set total to zero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Set grade </a:t>
            </a:r>
            <a:r>
              <a:rPr lang="en-US" sz="14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counter</a:t>
            </a: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to one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While grade </a:t>
            </a:r>
            <a:r>
              <a:rPr lang="en-US" sz="14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counter</a:t>
            </a: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is less than or equal to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Input the next grade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Add the grade into the </a:t>
            </a:r>
            <a:r>
              <a:rPr lang="en-US" sz="14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total</a:t>
            </a: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Add one to the grade </a:t>
            </a:r>
            <a:r>
              <a:rPr lang="en-US" sz="14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counter</a:t>
            </a: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Set the class average to the </a:t>
            </a:r>
            <a:r>
              <a:rPr lang="en-US" sz="14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total</a:t>
            </a: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divided by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Print the class average</a:t>
            </a:r>
            <a:endParaRPr lang="en-US" sz="1400" dirty="0"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426A1-ABD3-1C8B-304B-FC58A9F9C754}"/>
              </a:ext>
            </a:extLst>
          </p:cNvPr>
          <p:cNvSpPr txBox="1"/>
          <p:nvPr/>
        </p:nvSpPr>
        <p:spPr>
          <a:xfrm>
            <a:off x="-70792" y="1292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chemeClr val="dk2"/>
              </a:buClr>
              <a:buSzPts val="1400"/>
            </a:pPr>
            <a:r>
              <a:rPr lang="en-US" altLang="en-US" dirty="0" err="1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pseudocode.c</a:t>
            </a: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42B707D-3BD8-2C3C-7D5B-2C0A51749F55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6E47856-ACDD-0CB3-22B1-35A4040937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880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1FD5-58DB-B89A-B7C3-6DEBB8CBD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710" y="100465"/>
            <a:ext cx="893253" cy="341987"/>
          </a:xfrm>
        </p:spPr>
        <p:txBody>
          <a:bodyPr/>
          <a:lstStyle/>
          <a:p>
            <a:r>
              <a:rPr lang="en-US" sz="1400" dirty="0" err="1">
                <a:solidFill>
                  <a:schemeClr val="accent3"/>
                </a:solidFill>
                <a:sym typeface="Arial"/>
              </a:rPr>
              <a:t>Code.c</a:t>
            </a:r>
            <a:endParaRPr lang="en-US" sz="1400" dirty="0">
              <a:solidFill>
                <a:schemeClr val="accent3"/>
              </a:solidFill>
              <a:sym typeface="Aria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8AEFDB-9EF1-976D-2957-80A9A7511A7B}"/>
              </a:ext>
            </a:extLst>
          </p:cNvPr>
          <p:cNvSpPr/>
          <p:nvPr/>
        </p:nvSpPr>
        <p:spPr>
          <a:xfrm>
            <a:off x="1085479" y="682960"/>
            <a:ext cx="7675061" cy="377758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DBA0DB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 void )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{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total;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average;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counter;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total = 0;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 = 1;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while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( counter &lt;= 10 ) {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"Enter grade: "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scanf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"%d", &amp;grade );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total = total +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counter = counter + 1;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}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average = total / 10;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"Class average is %d\n", average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 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0A83EFF-62B5-47F4-74B2-8D9ECC41358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7697E5CA-1287-DE67-A9A6-3B18CD65485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810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C8355B-8D12-802E-A735-7EFFEA5B396B}"/>
              </a:ext>
            </a:extLst>
          </p:cNvPr>
          <p:cNvSpPr txBox="1"/>
          <p:nvPr/>
        </p:nvSpPr>
        <p:spPr>
          <a:xfrm>
            <a:off x="907026" y="1138154"/>
            <a:ext cx="803639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algorithm uses two key variables: 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total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and 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counter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 is used to accumulate the sum of input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 keeps track of how many grades have been entered.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Since the counter goes from 1 to 10 (non-negative values), it is declared as an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unsigned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int.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Variables like total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should always be initialized to zero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before use to avoid incorrect results from leftover memory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Counters are typically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initialized to 0 or 1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, depending on the context.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a variable is not initialized, it may contain a 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garbage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value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— a leftover value in memory that can cause errors.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843EF66-2442-434B-524C-827280313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13" y="553118"/>
            <a:ext cx="7291388" cy="137108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13AB999A-27D5-146C-1925-AC19B11A008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FCCCC41-5B0F-504D-C682-37964CA860A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86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CE7F-6734-7ED5-6835-403F8796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DBB21-9961-CB0D-07E2-2880F7022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5875" y="1123900"/>
            <a:ext cx="7857941" cy="1447849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What should we do if the number of students is not known beforehand?</a:t>
            </a: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291AD-ED2A-4C74-D8F8-462B2A4B4D83}"/>
              </a:ext>
            </a:extLst>
          </p:cNvPr>
          <p:cNvSpPr txBox="1"/>
          <p:nvPr/>
        </p:nvSpPr>
        <p:spPr>
          <a:xfrm>
            <a:off x="1143250" y="1787136"/>
            <a:ext cx="78579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To solve this, we use a technique called 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sentinel-controlled repetition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where the user enters grades one by one, and a special value called a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sentinel (e.g., -1)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is entered to indicate the end of input. This value must be clearly distinct from valid grades—since grades are nonnegative, -1 works well.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C741F-9CEC-70EE-A577-7A6167B1DDE9}"/>
              </a:ext>
            </a:extLst>
          </p:cNvPr>
          <p:cNvSpPr txBox="1"/>
          <p:nvPr/>
        </p:nvSpPr>
        <p:spPr>
          <a:xfrm>
            <a:off x="1143249" y="3035147"/>
            <a:ext cx="7857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This method is also known as </a:t>
            </a:r>
            <a:r>
              <a:rPr 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, because the number of repetitions is not known before the loop starts.</a:t>
            </a:r>
          </a:p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Once the sentinel is entered, the program calculates and prints the class average using the grades entered so far 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292063DF-42D4-AF1C-5A2E-FDC979F274C9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1ED381D5-7C2C-0337-6C6D-1831A5AFEE5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881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6E2CE-3CB2-7668-672E-5E4CB9DCEC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609" y="1021879"/>
            <a:ext cx="7991907" cy="1066492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Based on this concept, write a program that calculates and prints the class average when the number of students is not known beforehand.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56E038-78AA-B9DA-3F32-1F96743ACF42}"/>
              </a:ext>
            </a:extLst>
          </p:cNvPr>
          <p:cNvSpPr txBox="1">
            <a:spLocks/>
          </p:cNvSpPr>
          <p:nvPr/>
        </p:nvSpPr>
        <p:spPr>
          <a:xfrm>
            <a:off x="1148166" y="581716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7CE87C5-29C5-12F7-1427-67843208249E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1EAD7E1-87AE-38B6-1D9A-8E6BDC18A5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3604F-7476-D34F-BE6A-6C907076B116}"/>
              </a:ext>
            </a:extLst>
          </p:cNvPr>
          <p:cNvSpPr txBox="1"/>
          <p:nvPr/>
        </p:nvSpPr>
        <p:spPr>
          <a:xfrm>
            <a:off x="1207159" y="1949871"/>
            <a:ext cx="74353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dirty="0">
                <a:solidFill>
                  <a:srgbClr val="FF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*For further reading, please refer to </a:t>
            </a:r>
            <a:r>
              <a:rPr lang="en-US" sz="1100" b="1" dirty="0">
                <a:solidFill>
                  <a:srgbClr val="FF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How to Program</a:t>
            </a:r>
            <a:r>
              <a:rPr lang="en-US" sz="1100" dirty="0">
                <a:solidFill>
                  <a:srgbClr val="FF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by Deitel and Deitel</a:t>
            </a:r>
          </a:p>
        </p:txBody>
      </p:sp>
    </p:spTree>
    <p:extLst>
      <p:ext uri="{BB962C8B-B14F-4D97-AF65-F5344CB8AC3E}">
        <p14:creationId xmlns:p14="http://schemas.microsoft.com/office/powerpoint/2010/main" val="774474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C63532-A56A-A2DD-6642-E77B13E3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D87655F-4759-CC33-45F3-706B18E50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8CA374-C851-20BE-4952-F1C0C29354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6BCC8C0-14E1-3DBE-9816-F6CEC760C0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F577399-F725-FDCA-7F92-F9668900A0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A204950-C2B1-7646-E286-FC6CF1F0AC1D}"/>
              </a:ext>
            </a:extLst>
          </p:cNvPr>
          <p:cNvSpPr txBox="1"/>
          <p:nvPr/>
        </p:nvSpPr>
        <p:spPr>
          <a:xfrm>
            <a:off x="1038286" y="1154707"/>
            <a:ext cx="7885973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/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77460099-C57F-80CE-D33E-F345EB0CD3BD}"/>
              </a:ext>
            </a:extLst>
          </p:cNvPr>
          <p:cNvSpPr txBox="1"/>
          <p:nvPr/>
        </p:nvSpPr>
        <p:spPr>
          <a:xfrm>
            <a:off x="1247158" y="334293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Where we see a sum notation, we need a loop!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3F60C11-CD9A-5A95-4B28-E81672C2191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432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045F474-0D37-AAEA-E779-B945B904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4D7C22E-B710-C4AA-83A4-5607308F2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Mathematics;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4F11C4-80AD-4680-3211-15F3AA69F2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688B9FA-7C35-02B0-3F58-2474DA78DD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EB8C1CBD-790B-6F9B-D992-AE4EF8AEFF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1B23537C-EDDE-7549-5A00-E6396B849979}"/>
              </a:ext>
            </a:extLst>
          </p:cNvPr>
          <p:cNvSpPr txBox="1"/>
          <p:nvPr/>
        </p:nvSpPr>
        <p:spPr>
          <a:xfrm>
            <a:off x="1143250" y="1088675"/>
            <a:ext cx="7898030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/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8B9D5C64-373E-89D5-447C-3896716AA3DB}"/>
              </a:ext>
            </a:extLst>
          </p:cNvPr>
          <p:cNvSpPr txBox="1"/>
          <p:nvPr/>
        </p:nvSpPr>
        <p:spPr>
          <a:xfrm>
            <a:off x="1396162" y="3538767"/>
            <a:ext cx="7747838" cy="107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X, a, and n should be set as input parameters. 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434BE448-723B-C67B-C211-D358334323B6}"/>
              </a:ext>
            </a:extLst>
          </p:cNvPr>
          <p:cNvSpPr txBox="1"/>
          <p:nvPr/>
        </p:nvSpPr>
        <p:spPr>
          <a:xfrm>
            <a:off x="1369604" y="3044082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Try to implement the above formula using loops!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52F057F-2CA1-8B6D-7390-C8CF39F80CD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61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</a:t>
            </a:r>
            <a:r>
              <a:rPr lang="en" sz="2400" dirty="0">
                <a:solidFill>
                  <a:schemeClr val="accent2"/>
                </a:solidFill>
              </a:rPr>
              <a:t>enerating Pattern;</a:t>
            </a: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225860" y="1045687"/>
            <a:ext cx="7125380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Try to generate the given patterns by using loops.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37850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C3449-0826-6930-3BCC-16C16692306D}"/>
              </a:ext>
            </a:extLst>
          </p:cNvPr>
          <p:cNvSpPr txBox="1"/>
          <p:nvPr/>
        </p:nvSpPr>
        <p:spPr>
          <a:xfrm>
            <a:off x="4197391" y="2752975"/>
            <a:ext cx="112883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1              1</a:t>
            </a:r>
          </a:p>
          <a:p>
            <a:r>
              <a:rPr lang="en-US" dirty="0">
                <a:solidFill>
                  <a:srgbClr val="FFC000"/>
                </a:solidFill>
              </a:rPr>
              <a:t>12          21 </a:t>
            </a:r>
          </a:p>
          <a:p>
            <a:r>
              <a:rPr lang="en-US" dirty="0">
                <a:solidFill>
                  <a:srgbClr val="FFC000"/>
                </a:solidFill>
              </a:rPr>
              <a:t>123      321</a:t>
            </a:r>
          </a:p>
          <a:p>
            <a:r>
              <a:rPr lang="en-US" dirty="0">
                <a:solidFill>
                  <a:srgbClr val="FFC000"/>
                </a:solidFill>
              </a:rPr>
              <a:t>1234  4321</a:t>
            </a:r>
          </a:p>
          <a:p>
            <a:r>
              <a:rPr lang="en-US" dirty="0">
                <a:solidFill>
                  <a:srgbClr val="FFC000"/>
                </a:solidFill>
              </a:rPr>
              <a:t>123454321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AB1F9-54BC-9CDC-5886-32DB18E3A597}"/>
              </a:ext>
            </a:extLst>
          </p:cNvPr>
          <p:cNvSpPr txBox="1"/>
          <p:nvPr/>
        </p:nvSpPr>
        <p:spPr>
          <a:xfrm>
            <a:off x="2490896" y="2651973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F2A75-AD39-BAF1-81C1-809D163A9E88}"/>
              </a:ext>
            </a:extLst>
          </p:cNvPr>
          <p:cNvSpPr txBox="1"/>
          <p:nvPr/>
        </p:nvSpPr>
        <p:spPr>
          <a:xfrm>
            <a:off x="1541590" y="2608678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31388A3-4ED2-3CF2-05B3-62E0E86B9F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5833-C218-696D-6E03-B1CDAA7B3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>
                <a:solidFill>
                  <a:schemeClr val="accent2"/>
                </a:solidFill>
              </a:rPr>
              <a:t>Homework</a:t>
            </a:r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B6244-CB00-BD3C-A845-3795ABC5F2E7}"/>
              </a:ext>
            </a:extLst>
          </p:cNvPr>
          <p:cNvSpPr txBox="1"/>
          <p:nvPr/>
        </p:nvSpPr>
        <p:spPr>
          <a:xfrm>
            <a:off x="1090156" y="1123900"/>
            <a:ext cx="7924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program that reads an unknown number of integer grades from the user.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The input ends when the user enters 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-1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Your task is to: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Calculate and print the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maximum absolute difference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between any two consecutive grades.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Also print the two grades that caused this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maximum difference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fewer than two valid grades are entered, display a message: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"Not enough data to compare grades."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C2D6E6-F019-8A0A-B79D-421B7B95C3DB}"/>
              </a:ext>
            </a:extLst>
          </p:cNvPr>
          <p:cNvSpPr txBox="1"/>
          <p:nvPr/>
        </p:nvSpPr>
        <p:spPr>
          <a:xfrm>
            <a:off x="6737063" y="158212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634E024-01F9-5BF0-4A5A-6B5325C2941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E00B818-1811-3A25-CBA8-087C1E5D3A6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</a:t>
            </a: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90418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1031</TotalTime>
  <Words>910</Words>
  <Application>Microsoft Office PowerPoint</Application>
  <PresentationFormat>On-screen Show (16:9)</PresentationFormat>
  <Paragraphs>144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Fira Code</vt:lpstr>
      <vt:lpstr>Cambria Math</vt:lpstr>
      <vt:lpstr>Arial</vt:lpstr>
      <vt:lpstr>Programming Language Workshop for Beginners by Slidesgo</vt:lpstr>
      <vt:lpstr>PowerPoint Presentation</vt:lpstr>
      <vt:lpstr>Loops and Repetions </vt:lpstr>
      <vt:lpstr>Where we need loops?;</vt:lpstr>
      <vt:lpstr>Checking a condition</vt:lpstr>
      <vt:lpstr>Counter Controlled Repetition</vt:lpstr>
      <vt:lpstr>Counter Controlled Repetition  </vt:lpstr>
      <vt:lpstr>Code.c</vt:lpstr>
      <vt:lpstr>Counter Controlled Repetition  </vt:lpstr>
      <vt:lpstr>Sentinel Controlled Repetition</vt:lpstr>
      <vt:lpstr>PowerPoint Presentation</vt:lpstr>
      <vt:lpstr>Loops in Mathematics </vt:lpstr>
      <vt:lpstr>Loops in Mathematics; </vt:lpstr>
      <vt:lpstr>Generating Pattern;   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22</cp:revision>
  <dcterms:modified xsi:type="dcterms:W3CDTF">2025-08-11T16:00:10Z</dcterms:modified>
</cp:coreProperties>
</file>