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6"/>
  </p:notesMasterIdLst>
  <p:sldIdLst>
    <p:sldId id="256" r:id="rId2"/>
    <p:sldId id="268" r:id="rId3"/>
    <p:sldId id="257" r:id="rId4"/>
    <p:sldId id="315" r:id="rId5"/>
    <p:sldId id="318" r:id="rId6"/>
    <p:sldId id="319" r:id="rId7"/>
    <p:sldId id="320" r:id="rId8"/>
    <p:sldId id="321" r:id="rId9"/>
    <p:sldId id="322" r:id="rId10"/>
    <p:sldId id="323" r:id="rId11"/>
    <p:sldId id="316" r:id="rId12"/>
    <p:sldId id="317" r:id="rId13"/>
    <p:sldId id="302" r:id="rId14"/>
    <p:sldId id="324" r:id="rId15"/>
  </p:sldIdLst>
  <p:sldSz cx="9144000" cy="5143500" type="screen16x9"/>
  <p:notesSz cx="6858000" cy="9144000"/>
  <p:embeddedFontLst>
    <p:embeddedFont>
      <p:font typeface="Arial Rounded MT Bold" panose="020F0704030504030204" pitchFamily="34" charset="0"/>
      <p:regular r:id="rId17"/>
    </p:embeddedFont>
    <p:embeddedFont>
      <p:font typeface="Cambria Math" panose="02040503050406030204" pitchFamily="18" charset="0"/>
      <p:regular r:id="rId18"/>
    </p:embeddedFont>
    <p:embeddedFont>
      <p:font typeface="Fira Code" panose="020B0809050000020004" pitchFamily="49" charset="0"/>
      <p:regular r:id="rId19"/>
      <p:bold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D255F0A-1754-C387-727C-CAB8691D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556672B-4B6A-89C7-83BF-17967D40A9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0574E77-1266-81E2-E205-57ADD21C77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543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BA7CAD5-5180-F7CF-BCF2-3A01BED2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358CAE2-A48B-A939-7CCD-1A3EC779ED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8CBE827-BAA0-E16E-C541-FF19C84F5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254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0DBF483-6B8A-9ACF-015A-139B2716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CE0E88F-3060-7502-443F-0145264A6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ABDE0FE-A742-ED21-BC3C-F33BC1AB77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9778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C6CE61-D018-5700-DCF4-675D5730D63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1D1E6-7AD5-BCE0-AB30-4C08B98FD69B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5634A6-239A-3A0C-37A3-73327B285D77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Loop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F64728B-1273-91D0-050F-D7B5AE4F9D9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Loops and Repetions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Where we need loops?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232992" y="1189311"/>
            <a:ext cx="6559877" cy="648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we need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or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automation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232992" y="2302088"/>
            <a:ext cx="757282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What are the needed syntaxes for performing repetitions in C?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Recap what you need!</a:t>
            </a: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109CEB9-E14C-D73E-C8C7-8F01C16F2D81}"/>
              </a:ext>
            </a:extLst>
          </p:cNvPr>
          <p:cNvSpPr txBox="1"/>
          <p:nvPr/>
        </p:nvSpPr>
        <p:spPr>
          <a:xfrm>
            <a:off x="1232992" y="1627013"/>
            <a:ext cx="751128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In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computer science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, most of algorithms are full of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repetitions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7051C12-CD8A-C559-758A-793D6235BDD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12C1D79-5B22-0C08-E549-40AEE7C0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4FEBA93-B6AD-99EB-733D-628C3B85C5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49732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Checking a condition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4238F7F-8916-CDCF-D768-0A2BD47699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B65766E-46F8-5A5A-FCB4-8AFB7DF1231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5C774D99-FCD0-B85F-FEF4-9FBB1E60926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61B3BF7-7F33-DAD1-7885-69749E423A8E}"/>
              </a:ext>
            </a:extLst>
          </p:cNvPr>
          <p:cNvSpPr txBox="1"/>
          <p:nvPr/>
        </p:nvSpPr>
        <p:spPr>
          <a:xfrm>
            <a:off x="1482686" y="291679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A31E41C-05DD-5F10-36FD-956E8152CA34}"/>
              </a:ext>
            </a:extLst>
          </p:cNvPr>
          <p:cNvSpPr txBox="1"/>
          <p:nvPr/>
        </p:nvSpPr>
        <p:spPr>
          <a:xfrm>
            <a:off x="1178647" y="1159855"/>
            <a:ext cx="7847366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to determine whether a given number has specific characteristics.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C80140A1-6BE8-CE1B-56CE-C573941297A5}"/>
              </a:ext>
            </a:extLst>
          </p:cNvPr>
          <p:cNvSpPr txBox="1"/>
          <p:nvPr/>
        </p:nvSpPr>
        <p:spPr>
          <a:xfrm>
            <a:off x="1236767" y="2130226"/>
            <a:ext cx="7516207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The number is named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ugly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if 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its only prime factors are 2, 3, or 5.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</p:txBody>
      </p:sp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248D9CC4-7436-C354-3BDD-F511C6A62306}"/>
              </a:ext>
            </a:extLst>
          </p:cNvPr>
          <p:cNvSpPr txBox="1"/>
          <p:nvPr/>
        </p:nvSpPr>
        <p:spPr>
          <a:xfrm>
            <a:off x="1236767" y="3136552"/>
            <a:ext cx="755394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You need to check specific factors of a number!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4F0BEC7-07BA-613C-8191-8F7BA4B4FAB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930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CE8D7-985D-5FFC-0E1A-4046982F8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867" y="521975"/>
            <a:ext cx="7290600" cy="541200"/>
          </a:xfrm>
        </p:spPr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Counter Controlled Repetition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AC7BE9-6E2F-3784-7E0E-26730247D92D}"/>
              </a:ext>
            </a:extLst>
          </p:cNvPr>
          <p:cNvSpPr txBox="1"/>
          <p:nvPr/>
        </p:nvSpPr>
        <p:spPr>
          <a:xfrm>
            <a:off x="1035337" y="1287350"/>
            <a:ext cx="795528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As you may remember, in the pseudocode session, we wrote a pseudocode to calculate the average of students' grades.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 this example, we apply counter-controlled repetition, where a variable (counter) determines how many times a set of actions should run. Since the number of repetitions is known (10 times for 10 students), this is called </a:t>
            </a:r>
            <a:r>
              <a:rPr 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definite 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  <a:endParaRPr lang="fa-IR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fa-IR" altLang="en-US" dirty="0">
              <a:solidFill>
                <a:schemeClr val="accent1"/>
              </a:solidFill>
              <a:latin typeface="Fira Code"/>
              <a:ea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F0DF6074-F4FE-560E-AB69-4E02BF94D464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570004D-E855-EC11-BDF0-1A32D3DD7BD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658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45337-6463-C4F4-8EE6-3017A4C89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Counter Controlled Repetition</a:t>
            </a:r>
            <a:r>
              <a:rPr lang="en-US" altLang="en-US" dirty="0">
                <a:solidFill>
                  <a:schemeClr val="accent1"/>
                </a:solidFill>
              </a:rPr>
              <a:t> </a:t>
            </a:r>
            <a:br>
              <a:rPr lang="en-US" altLang="en-US" dirty="0">
                <a:solidFill>
                  <a:schemeClr val="accent1"/>
                </a:solidFill>
              </a:rPr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BC356-0B89-8129-F8D1-D88E51BE5E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249" y="973394"/>
            <a:ext cx="7865065" cy="3415726"/>
          </a:xfrm>
        </p:spPr>
        <p:txBody>
          <a:bodyPr/>
          <a:lstStyle/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Set total to zero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Set grade counter to one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While grade counter is less than or equal to ten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Input the next grade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Add the grade into the total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Add one to the grade counter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Set the class average to the total divided by ten </a:t>
            </a:r>
          </a:p>
          <a:p>
            <a:pPr marL="4826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+mj-lt"/>
              <a:buAutoNum type="arabicPeriod"/>
            </a:pPr>
            <a:r>
              <a:rPr lang="en-US" sz="1400" dirty="0">
                <a:solidFill>
                  <a:schemeClr val="accent1"/>
                </a:solidFill>
                <a:latin typeface="Arial Rounded MT Bold" panose="020F0704030504030204" pitchFamily="34" charset="0"/>
                <a:cs typeface="Times New Roman" panose="02020603050405020304" pitchFamily="18" charset="0"/>
              </a:rPr>
              <a:t> Print the class average</a:t>
            </a:r>
            <a:endParaRPr lang="en-US" sz="1400" dirty="0">
              <a:latin typeface="Arial Rounded MT Bold" panose="020F07040305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426A1-ABD3-1C8B-304B-FC58A9F9C754}"/>
              </a:ext>
            </a:extLst>
          </p:cNvPr>
          <p:cNvSpPr txBox="1"/>
          <p:nvPr/>
        </p:nvSpPr>
        <p:spPr>
          <a:xfrm>
            <a:off x="-70792" y="12928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chemeClr val="dk2"/>
              </a:buClr>
              <a:buSzPts val="1400"/>
            </a:pPr>
            <a:r>
              <a:rPr lang="en-US" altLang="en-US" dirty="0" err="1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pseudocode.c</a:t>
            </a:r>
            <a:endParaRPr lang="en-US" dirty="0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842B707D-3BD8-2C3C-7D5B-2C0A51749F55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6" name="Google Shape;473;p28">
            <a:extLst>
              <a:ext uri="{FF2B5EF4-FFF2-40B4-BE49-F238E27FC236}">
                <a16:creationId xmlns:a16="http://schemas.microsoft.com/office/drawing/2014/main" id="{06E47856-ACDD-0CB3-22B1-35A404093754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2880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31FD5-58DB-B89A-B7C3-6DEBB8CBD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7710" y="100465"/>
            <a:ext cx="893253" cy="341987"/>
          </a:xfrm>
        </p:spPr>
        <p:txBody>
          <a:bodyPr/>
          <a:lstStyle/>
          <a:p>
            <a:r>
              <a:rPr lang="en-US" sz="1400" dirty="0" err="1">
                <a:solidFill>
                  <a:schemeClr val="accent3"/>
                </a:solidFill>
                <a:sym typeface="Arial"/>
              </a:rPr>
              <a:t>Code.c</a:t>
            </a:r>
            <a:endParaRPr lang="en-US" sz="1400" dirty="0">
              <a:solidFill>
                <a:schemeClr val="accent3"/>
              </a:solidFill>
              <a:sym typeface="Arial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8AEFDB-9EF1-976D-2957-80A9A7511A7B}"/>
              </a:ext>
            </a:extLst>
          </p:cNvPr>
          <p:cNvSpPr/>
          <p:nvPr/>
        </p:nvSpPr>
        <p:spPr>
          <a:xfrm>
            <a:off x="1085479" y="682960"/>
            <a:ext cx="7675061" cy="3777580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#include 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&lt;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stdio.h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&gt;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DBA0DB"/>
              </a:solidFill>
              <a:effectLst/>
              <a:uLnTx/>
              <a:uFillTx/>
              <a:latin typeface="Fira Code" panose="020B0809050000020004" pitchFamily="49" charset="0"/>
              <a:ea typeface="Fira Code" panose="020B0809050000020004" pitchFamily="49" charset="0"/>
              <a:cs typeface="Fira Code" panose="020B0809050000020004" pitchFamily="49" charset="0"/>
              <a:sym typeface="Fira Code"/>
            </a:endParaRP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main( void )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{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grade;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total;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average;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int 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counter;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total = 0;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counter = 1;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while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( counter &lt;= 10 ) {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printf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"Enter grade: " );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scanf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"%d", &amp;grade );   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total = total + grade;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    counter = counter + 1;      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    }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average = total / 10;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printf</a:t>
            </a: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( "Class average is %d\n", average ); 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return 0;</a:t>
            </a:r>
          </a:p>
          <a:p>
            <a:pPr marL="139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2D9F0"/>
              </a:buClr>
              <a:buSzPts val="1400"/>
              <a:buFont typeface="Fira Code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DBA0DB"/>
                </a:solidFill>
                <a:effectLst/>
                <a:uLnTx/>
                <a:uFillTx/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  <a:sym typeface="Fira Code"/>
              </a:rPr>
              <a:t>}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0A83EFF-62B5-47F4-74B2-8D9ECC413580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7697E5CA-1287-DE67-A9A6-3B18CD654852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3810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C8355B-8D12-802E-A735-7EFFEA5B396B}"/>
              </a:ext>
            </a:extLst>
          </p:cNvPr>
          <p:cNvSpPr txBox="1"/>
          <p:nvPr/>
        </p:nvSpPr>
        <p:spPr>
          <a:xfrm>
            <a:off x="1019113" y="1230137"/>
            <a:ext cx="8036397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algorithm uses two key variables: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total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and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total is used to accumulate the sum of input values.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 keeps track of how many grades have been entered.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Since the counter goes from 1 to 10 (non-negative values), it is declared as an unsigned int.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Variables like total should always be initialized to zero before use to avoid incorrect results from leftover memory values.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Counters are typically initialized to 0 or 1, depending on the context.</a:t>
            </a: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a variable is not initialized, it may contain a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garbage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value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 — a leftover value in memory that can cause errors.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843EF66-2442-434B-524C-827280313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13" y="553117"/>
            <a:ext cx="7291388" cy="541337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Counter Controlled Repetition</a:t>
            </a:r>
            <a:r>
              <a:rPr lang="en-US" altLang="en-US" dirty="0">
                <a:solidFill>
                  <a:schemeClr val="accent1"/>
                </a:solidFill>
              </a:rPr>
              <a:t> </a:t>
            </a:r>
            <a:br>
              <a:rPr lang="en-US" altLang="en-US" dirty="0">
                <a:solidFill>
                  <a:schemeClr val="accent1"/>
                </a:solidFill>
              </a:rPr>
            </a:br>
            <a:endParaRPr lang="en-US" dirty="0"/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13AB999A-27D5-146C-1925-AC19B11A008B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EFCCCC41-5B0F-504D-C682-37964CA860A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6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6864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3CE7F-6734-7ED5-6835-403F87963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Sentinel Controlled Repetition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CDBB21-9961-CB0D-07E2-2880F7022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25875" y="1123900"/>
            <a:ext cx="7857941" cy="1447849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  <a:sym typeface="Arial"/>
              </a:rPr>
              <a:t>What should we do if the number of students is not known beforehand?</a:t>
            </a: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fa-IR" sz="1400" dirty="0">
              <a:solidFill>
                <a:schemeClr val="accent1"/>
              </a:solidFill>
              <a:sym typeface="Arial"/>
            </a:endParaRPr>
          </a:p>
          <a:p>
            <a:pPr marL="139700" indent="0">
              <a:buNone/>
            </a:pPr>
            <a:endParaRPr lang="en-US" sz="1400" dirty="0">
              <a:solidFill>
                <a:schemeClr val="accent1"/>
              </a:solidFill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B291AD-ED2A-4C74-D8F8-462B2A4B4D83}"/>
              </a:ext>
            </a:extLst>
          </p:cNvPr>
          <p:cNvSpPr txBox="1"/>
          <p:nvPr/>
        </p:nvSpPr>
        <p:spPr>
          <a:xfrm>
            <a:off x="1143250" y="1787136"/>
            <a:ext cx="785794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just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To solve this, we use a technique called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sentinel-controlled repetition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, where the user enters grades one by one, and a special value called a sentinel (e.g., -1) is entered to indicate the end of input. This value must be clearly distinct from valid grades—since grades are nonnegative, -1 works well.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C741F-9CEC-70EE-A577-7A6167B1DDE9}"/>
              </a:ext>
            </a:extLst>
          </p:cNvPr>
          <p:cNvSpPr txBox="1"/>
          <p:nvPr/>
        </p:nvSpPr>
        <p:spPr>
          <a:xfrm>
            <a:off x="1143249" y="3035147"/>
            <a:ext cx="78579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This method is also known as </a:t>
            </a:r>
            <a:r>
              <a:rPr 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indefinite 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, because the number of repetitions is not known before the loop starts.</a:t>
            </a:r>
          </a:p>
          <a:p>
            <a:pPr algn="just"/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Once the sentinel is entered, the program calculates and prints the class average using the grades entered so far .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292063DF-42D4-AF1C-5A2E-FDC979F274C9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1ED381D5-7C2C-0337-6C6D-1831A5AFEE5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7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8819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26E2CE-3CB2-7668-672E-5E4CB9DCEC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4609" y="1021879"/>
            <a:ext cx="7991907" cy="1066492"/>
          </a:xfrm>
        </p:spPr>
        <p:txBody>
          <a:bodyPr/>
          <a:lstStyle/>
          <a:p>
            <a:pPr marL="139700" indent="0">
              <a:buNone/>
            </a:pPr>
            <a:r>
              <a:rPr lang="en-US" sz="1400" dirty="0">
                <a:solidFill>
                  <a:schemeClr val="accent1"/>
                </a:solidFill>
                <a:sym typeface="Arial"/>
              </a:rPr>
              <a:t>Based on this concept, write a program that calculates and prints the class average when the number of students is not known beforehand.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56E038-78AA-B9DA-3F32-1F96743ACF42}"/>
              </a:ext>
            </a:extLst>
          </p:cNvPr>
          <p:cNvSpPr txBox="1">
            <a:spLocks/>
          </p:cNvSpPr>
          <p:nvPr/>
        </p:nvSpPr>
        <p:spPr>
          <a:xfrm>
            <a:off x="1148166" y="581716"/>
            <a:ext cx="7290600" cy="5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-US" dirty="0">
                <a:solidFill>
                  <a:schemeClr val="accent2"/>
                </a:solidFill>
              </a:rPr>
              <a:t>Sentinel Controlled Repetition</a:t>
            </a:r>
          </a:p>
        </p:txBody>
      </p:sp>
      <p:sp>
        <p:nvSpPr>
          <p:cNvPr id="2" name="Google Shape;473;p28">
            <a:extLst>
              <a:ext uri="{FF2B5EF4-FFF2-40B4-BE49-F238E27FC236}">
                <a16:creationId xmlns:a16="http://schemas.microsoft.com/office/drawing/2014/main" id="{C7CE87C5-29C5-12F7-1427-67843208249E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91EAD7E1-87AE-38B6-1D9A-8E6BDC18A577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8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74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5C63532-A56A-A2DD-6642-E77B13E38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D87655F-4759-CC33-45F3-706B18E50F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Loops in Mathematics 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8CA374-C851-20BE-4952-F1C0C29354E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6BCC8C0-14E1-3DBE-9816-F6CEC760C0F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F577399-F725-FDCA-7F92-F9668900A0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A204950-C2B1-7646-E286-FC6CF1F0AC1D}"/>
              </a:ext>
            </a:extLst>
          </p:cNvPr>
          <p:cNvSpPr txBox="1"/>
          <p:nvPr/>
        </p:nvSpPr>
        <p:spPr>
          <a:xfrm>
            <a:off x="1038286" y="1154707"/>
            <a:ext cx="7885973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/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77460099-C57F-80CE-D33E-F345EB0CD3BD}"/>
              </a:ext>
            </a:extLst>
          </p:cNvPr>
          <p:cNvSpPr txBox="1"/>
          <p:nvPr/>
        </p:nvSpPr>
        <p:spPr>
          <a:xfrm>
            <a:off x="1247158" y="334293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Where we see a sum notation, we need a loop!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93F60C11-CD9A-5A95-4B28-E81672C2191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9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432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045F474-0D37-AAEA-E779-B945B904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4D7C22E-B710-C4AA-83A4-5607308F23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Loops in Mathematics; 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4F11C4-80AD-4680-3211-15F3AA69F22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688B9FA-7C35-02B0-3F58-2474DA78DD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EB8C1CBD-790B-6F9B-D992-AE4EF8AEFF8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1B23537C-EDDE-7549-5A00-E6396B849979}"/>
              </a:ext>
            </a:extLst>
          </p:cNvPr>
          <p:cNvSpPr txBox="1"/>
          <p:nvPr/>
        </p:nvSpPr>
        <p:spPr>
          <a:xfrm>
            <a:off x="1143250" y="1088675"/>
            <a:ext cx="7898030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/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8B9D5C64-373E-89D5-447C-3896716AA3DB}"/>
              </a:ext>
            </a:extLst>
          </p:cNvPr>
          <p:cNvSpPr txBox="1"/>
          <p:nvPr/>
        </p:nvSpPr>
        <p:spPr>
          <a:xfrm>
            <a:off x="1396162" y="3538767"/>
            <a:ext cx="7747838" cy="107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X, a, and n should be set as input parameters. 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434BE448-723B-C67B-C211-D358334323B6}"/>
              </a:ext>
            </a:extLst>
          </p:cNvPr>
          <p:cNvSpPr txBox="1"/>
          <p:nvPr/>
        </p:nvSpPr>
        <p:spPr>
          <a:xfrm>
            <a:off x="1369604" y="3044082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Try to implement the above formula using loops!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52F057F-2CA1-8B6D-7390-C8CF39F80CD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10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61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G</a:t>
            </a:r>
            <a:r>
              <a:rPr lang="en" sz="2400" dirty="0">
                <a:solidFill>
                  <a:schemeClr val="accent2"/>
                </a:solidFill>
              </a:rPr>
              <a:t>enerating Pattern;</a:t>
            </a:r>
            <a:br>
              <a:rPr lang="en" sz="2400" dirty="0">
                <a:solidFill>
                  <a:schemeClr val="accent2"/>
                </a:solidFill>
              </a:rPr>
            </a:br>
            <a:br>
              <a:rPr lang="en" sz="2400" dirty="0">
                <a:solidFill>
                  <a:schemeClr val="accent2"/>
                </a:solidFill>
              </a:rPr>
            </a:br>
            <a:br>
              <a:rPr lang="en" sz="2400" dirty="0">
                <a:solidFill>
                  <a:schemeClr val="accent2"/>
                </a:solidFill>
              </a:rPr>
            </a:b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225860" y="1045687"/>
            <a:ext cx="7125380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Try to generate the given patterns by using loops.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37850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C3449-0826-6930-3BCC-16C16692306D}"/>
              </a:ext>
            </a:extLst>
          </p:cNvPr>
          <p:cNvSpPr txBox="1"/>
          <p:nvPr/>
        </p:nvSpPr>
        <p:spPr>
          <a:xfrm>
            <a:off x="4197391" y="2752975"/>
            <a:ext cx="112883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1              1</a:t>
            </a:r>
          </a:p>
          <a:p>
            <a:r>
              <a:rPr lang="en-US" dirty="0">
                <a:solidFill>
                  <a:srgbClr val="FFC000"/>
                </a:solidFill>
              </a:rPr>
              <a:t>12          21 </a:t>
            </a:r>
          </a:p>
          <a:p>
            <a:r>
              <a:rPr lang="en-US" dirty="0">
                <a:solidFill>
                  <a:srgbClr val="FFC000"/>
                </a:solidFill>
              </a:rPr>
              <a:t>123      321</a:t>
            </a:r>
          </a:p>
          <a:p>
            <a:r>
              <a:rPr lang="en-US" dirty="0">
                <a:solidFill>
                  <a:srgbClr val="FFC000"/>
                </a:solidFill>
              </a:rPr>
              <a:t>1234  4321</a:t>
            </a:r>
          </a:p>
          <a:p>
            <a:r>
              <a:rPr lang="en-US" dirty="0">
                <a:solidFill>
                  <a:srgbClr val="FFC000"/>
                </a:solidFill>
              </a:rPr>
              <a:t>123454321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DAB1F9-54BC-9CDC-5886-32DB18E3A597}"/>
              </a:ext>
            </a:extLst>
          </p:cNvPr>
          <p:cNvSpPr txBox="1"/>
          <p:nvPr/>
        </p:nvSpPr>
        <p:spPr>
          <a:xfrm>
            <a:off x="2490896" y="2651973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6F2A75-AD39-BAF1-81C1-809D163A9E88}"/>
              </a:ext>
            </a:extLst>
          </p:cNvPr>
          <p:cNvSpPr txBox="1"/>
          <p:nvPr/>
        </p:nvSpPr>
        <p:spPr>
          <a:xfrm>
            <a:off x="1541590" y="2608678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31388A3-4ED2-3CF2-05B3-62E0E86B9F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73886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11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B5833-C218-696D-6E03-B1CDAA7B3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accent2"/>
                </a:solidFill>
              </a:rPr>
              <a:t>Homework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B6244-CB00-BD3C-A845-3795ABC5F2E7}"/>
              </a:ext>
            </a:extLst>
          </p:cNvPr>
          <p:cNvSpPr txBox="1"/>
          <p:nvPr/>
        </p:nvSpPr>
        <p:spPr>
          <a:xfrm>
            <a:off x="1090156" y="1123900"/>
            <a:ext cx="792405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Write a program that reads an unknown number of integer grades from the user.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The input ends when the user enters </a:t>
            </a:r>
            <a:r>
              <a:rPr lang="en-US" altLang="en-US" b="1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-1</a:t>
            </a: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.</a:t>
            </a:r>
            <a:b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</a:b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Your task is to: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Calculate and print the maximum absolute difference between any two consecutive grades.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Also print the two grades that caused this maximum difference.</a:t>
            </a:r>
            <a:endParaRPr lang="fa-IR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endParaRPr lang="en-US" altLang="en-US" dirty="0">
              <a:solidFill>
                <a:schemeClr val="accent1"/>
              </a:solidFill>
              <a:latin typeface="Fira Code"/>
              <a:ea typeface="Fira Code"/>
              <a:cs typeface="Fira Code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If fewer than two valid grades are entered, display a message: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</a:rPr>
              <a:t>"Not enough data to compare grades."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C2D6E6-F019-8A0A-B79D-421B7B95C3DB}"/>
              </a:ext>
            </a:extLst>
          </p:cNvPr>
          <p:cNvSpPr txBox="1"/>
          <p:nvPr/>
        </p:nvSpPr>
        <p:spPr>
          <a:xfrm>
            <a:off x="6737063" y="158212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HW1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8634E024-01F9-5BF0-4A5A-6B5325C29410}"/>
              </a:ext>
            </a:extLst>
          </p:cNvPr>
          <p:cNvSpPr txBox="1">
            <a:spLocks/>
          </p:cNvSpPr>
          <p:nvPr/>
        </p:nvSpPr>
        <p:spPr>
          <a:xfrm>
            <a:off x="710125" y="4694725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>
                <a:solidFill>
                  <a:schemeClr val="accent3"/>
                </a:solidFill>
              </a:rPr>
              <a:t>Programming Language Lab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0E00B818-1811-3A25-CBA8-087C1E5D3A63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73886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fa-IR" sz="1100" dirty="0">
                <a:solidFill>
                  <a:schemeClr val="accent3"/>
                </a:solidFill>
              </a:rPr>
              <a:t>1</a:t>
            </a: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0904189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</TotalTime>
  <Words>894</Words>
  <Application>Microsoft Office PowerPoint</Application>
  <PresentationFormat>On-screen Show (16:9)</PresentationFormat>
  <Paragraphs>143</Paragraphs>
  <Slides>14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Cambria Math</vt:lpstr>
      <vt:lpstr>Arial Rounded MT Bold</vt:lpstr>
      <vt:lpstr>Fira Code</vt:lpstr>
      <vt:lpstr>Programming Language Workshop for Beginners by Slidesgo</vt:lpstr>
      <vt:lpstr>PowerPoint Presentation</vt:lpstr>
      <vt:lpstr>Loops and Repetions </vt:lpstr>
      <vt:lpstr>Where we need loops?;</vt:lpstr>
      <vt:lpstr>Checking a condition</vt:lpstr>
      <vt:lpstr>Counter Controlled Repetition</vt:lpstr>
      <vt:lpstr>Counter Controlled Repetition  </vt:lpstr>
      <vt:lpstr>Code.c</vt:lpstr>
      <vt:lpstr>Counter Controlled Repetition  </vt:lpstr>
      <vt:lpstr>Sentinel Controlled Repetition</vt:lpstr>
      <vt:lpstr>PowerPoint Presentation</vt:lpstr>
      <vt:lpstr>Loops in Mathematics </vt:lpstr>
      <vt:lpstr>Loops in Mathematics; </vt:lpstr>
      <vt:lpstr>Generating Pattern;   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Esmaeil Khosravi</cp:lastModifiedBy>
  <cp:revision>19</cp:revision>
  <dcterms:modified xsi:type="dcterms:W3CDTF">2025-08-07T15:22:31Z</dcterms:modified>
</cp:coreProperties>
</file>