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68" r:id="rId3"/>
    <p:sldId id="257" r:id="rId4"/>
    <p:sldId id="311" r:id="rId5"/>
    <p:sldId id="301" r:id="rId6"/>
    <p:sldId id="302" r:id="rId7"/>
    <p:sldId id="304" r:id="rId8"/>
    <p:sldId id="312" r:id="rId9"/>
    <p:sldId id="305" r:id="rId10"/>
    <p:sldId id="313" r:id="rId1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Fira Code" panose="020B0809050000020004" pitchFamily="49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1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842DDE1C-4E98-0865-CB77-09CA5FB7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308E42A-C71A-77B3-5C71-97F6F8CB2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3575A70-B145-DA08-1DDB-2F81CABF6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990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1FCFDB7F-8415-BBE7-93E9-7DF0CBFE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5661E0C-59C7-0A0E-5949-24C143BDC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C511FC1-86F2-AC8C-A599-8836B4BF81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843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986BD86-A03F-4F4B-AB60-0F5C12C0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5519F06-BEF0-905A-E155-3E2346CA1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4656811-946F-AD7F-285F-EFCCBFB5B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647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EAF4CD9-A39C-30B0-E93C-0E4C15F9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290524AA-CB47-E01F-57EA-703619530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6789529-2971-DA33-A989-EF14FFAFF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4525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BACC95F-D8DD-A502-3409-502BA38A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1678C49-6A7D-3D35-8323-8215CA5F5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CDBF65B9-F673-6623-0867-BDC5B47F6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896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C6BC590-137D-66B5-B0F2-1FA3A298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1900646-734D-5706-6A05-E267C0FC0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763453E1-DE64-012A-7D35-B37EE1796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580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5A19A62-BF95-8A4F-DCA5-6D369400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7B5AC431-433B-F799-C61E-5A7DF5E74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AB627F1E-A172-67B9-2572-34D285856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4519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69" r:id="rId5"/>
    <p:sldLayoutId id="21474836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7D918C-E0AC-FDBE-0A5B-BBBF853694C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BAAFEF-2D9E-F2CE-7133-52BC8A24DCB9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BBED3-F08C-3E20-661F-A0EDA0FFFE9B}"/>
              </a:ext>
            </a:extLst>
          </p:cNvPr>
          <p:cNvSpPr txBox="1"/>
          <p:nvPr/>
        </p:nvSpPr>
        <p:spPr>
          <a:xfrm>
            <a:off x="4183857" y="3408151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Function</a:t>
            </a: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4565DFF7-02E5-DF80-F84F-AE9E4ED4AF1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4" y="542575"/>
            <a:ext cx="4853393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 Implementation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What is function?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BE0B1925-328B-2EDA-5EFE-724887B49975}"/>
              </a:ext>
            </a:extLst>
          </p:cNvPr>
          <p:cNvSpPr txBox="1"/>
          <p:nvPr/>
        </p:nvSpPr>
        <p:spPr>
          <a:xfrm>
            <a:off x="1143249" y="1014851"/>
            <a:ext cx="6307287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You probably know the concept of function in math.</a:t>
            </a: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EBF48B63-1CA6-9DD1-E225-C55CD1A59D3F}"/>
              </a:ext>
            </a:extLst>
          </p:cNvPr>
          <p:cNvSpPr txBox="1"/>
          <p:nvPr/>
        </p:nvSpPr>
        <p:spPr>
          <a:xfrm>
            <a:off x="1302533" y="2680882"/>
            <a:ext cx="7576772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How could we implement functions in programming?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FA206E-E2F6-CCF9-52F1-EC27A64C137D}"/>
                  </a:ext>
                </a:extLst>
              </p:cNvPr>
              <p:cNvSpPr txBox="1"/>
              <p:nvPr/>
            </p:nvSpPr>
            <p:spPr>
              <a:xfrm>
                <a:off x="7725643" y="1952611"/>
                <a:ext cx="67775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FA206E-E2F6-CCF9-52F1-EC27A64C1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643" y="1952611"/>
                <a:ext cx="677750" cy="215444"/>
              </a:xfrm>
              <a:prstGeom prst="rect">
                <a:avLst/>
              </a:prstGeom>
              <a:blipFill>
                <a:blip r:embed="rId3"/>
                <a:stretch>
                  <a:fillRect l="-16071" t="-25000" r="-10714" b="-4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F0E70D9-D601-1768-A00F-75B8C2612527}"/>
              </a:ext>
            </a:extLst>
          </p:cNvPr>
          <p:cNvSpPr txBox="1"/>
          <p:nvPr/>
        </p:nvSpPr>
        <p:spPr>
          <a:xfrm>
            <a:off x="7357720" y="1691001"/>
            <a:ext cx="1286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 in Math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4AE99-B53D-96CB-4B32-72369468FBC7}"/>
              </a:ext>
            </a:extLst>
          </p:cNvPr>
          <p:cNvSpPr txBox="1"/>
          <p:nvPr/>
        </p:nvSpPr>
        <p:spPr>
          <a:xfrm>
            <a:off x="7357721" y="2302707"/>
            <a:ext cx="6430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966F9-A97A-8DB5-63DB-4E9F35B2F86B}"/>
              </a:ext>
            </a:extLst>
          </p:cNvPr>
          <p:cNvSpPr txBox="1"/>
          <p:nvPr/>
        </p:nvSpPr>
        <p:spPr>
          <a:xfrm>
            <a:off x="8139292" y="2258102"/>
            <a:ext cx="1286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Input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0EF63FB-406B-C17E-7CF8-56DF537EAA61}"/>
              </a:ext>
            </a:extLst>
          </p:cNvPr>
          <p:cNvCxnSpPr>
            <a:stCxn id="5" idx="1"/>
            <a:endCxn id="2" idx="1"/>
          </p:cNvCxnSpPr>
          <p:nvPr/>
        </p:nvCxnSpPr>
        <p:spPr>
          <a:xfrm rot="10800000" flipH="1">
            <a:off x="7357721" y="2060333"/>
            <a:ext cx="367922" cy="369332"/>
          </a:xfrm>
          <a:prstGeom prst="curvedConnector3">
            <a:avLst>
              <a:gd name="adj1" fmla="val -62133"/>
            </a:avLst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2B03C25F-D6D0-B29B-9E47-F67551BBA125}"/>
              </a:ext>
            </a:extLst>
          </p:cNvPr>
          <p:cNvCxnSpPr>
            <a:cxnSpLocks/>
            <a:stCxn id="8" idx="1"/>
            <a:endCxn id="2" idx="3"/>
          </p:cNvCxnSpPr>
          <p:nvPr/>
        </p:nvCxnSpPr>
        <p:spPr>
          <a:xfrm rot="10800000" flipH="1">
            <a:off x="8139291" y="2060333"/>
            <a:ext cx="264101" cy="328574"/>
          </a:xfrm>
          <a:prstGeom prst="curvedConnector5">
            <a:avLst>
              <a:gd name="adj1" fmla="val -86558"/>
              <a:gd name="adj2" fmla="val 53512"/>
              <a:gd name="adj3" fmla="val 186558"/>
            </a:avLst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ED1FD636-A210-B0E0-3223-1D7CC350035B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87AE761-43CB-D5C4-A64B-AD388C79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A96EADB-0553-E55A-5013-C6D431FD8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What is function?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7EBD44A-9363-E81A-5172-771D385856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F8CB708-7BC6-DA7B-F09D-E4DB14B6EE6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A5139A3-62E0-6783-4D79-977BA254728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06622912-764E-52AC-48FD-9ED99B05D185}"/>
              </a:ext>
            </a:extLst>
          </p:cNvPr>
          <p:cNvSpPr txBox="1"/>
          <p:nvPr/>
        </p:nvSpPr>
        <p:spPr>
          <a:xfrm>
            <a:off x="1143249" y="1014852"/>
            <a:ext cx="5636805" cy="1349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Recap the general syntax of defining a function in C as depicted in the given picture. </a:t>
            </a: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FA277F5F-E1BB-4739-0148-3166126E2617}"/>
              </a:ext>
            </a:extLst>
          </p:cNvPr>
          <p:cNvSpPr txBox="1"/>
          <p:nvPr/>
        </p:nvSpPr>
        <p:spPr>
          <a:xfrm>
            <a:off x="1253419" y="3282347"/>
            <a:ext cx="6105848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What are the built-in functions(methods!) in C?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C0982A-0F1A-BD48-BD09-6828385ABBFB}"/>
              </a:ext>
            </a:extLst>
          </p:cNvPr>
          <p:cNvCxnSpPr/>
          <p:nvPr/>
        </p:nvCxnSpPr>
        <p:spPr>
          <a:xfrm>
            <a:off x="7492906" y="2973352"/>
            <a:ext cx="2025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A5EB454-FA43-B862-FAF7-25024933A8CD}"/>
              </a:ext>
            </a:extLst>
          </p:cNvPr>
          <p:cNvSpPr/>
          <p:nvPr/>
        </p:nvSpPr>
        <p:spPr>
          <a:xfrm>
            <a:off x="6599321" y="1828800"/>
            <a:ext cx="709861" cy="2155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9DA9CB-3F49-8658-6716-338D9C7AC0BA}"/>
              </a:ext>
            </a:extLst>
          </p:cNvPr>
          <p:cNvGrpSpPr/>
          <p:nvPr/>
        </p:nvGrpSpPr>
        <p:grpSpPr>
          <a:xfrm>
            <a:off x="6545179" y="1861153"/>
            <a:ext cx="2785575" cy="1888652"/>
            <a:chOff x="6406551" y="1547752"/>
            <a:chExt cx="2785575" cy="188865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8299D0-F24D-C94B-7825-6215D86A69CF}"/>
                </a:ext>
              </a:extLst>
            </p:cNvPr>
            <p:cNvSpPr txBox="1"/>
            <p:nvPr/>
          </p:nvSpPr>
          <p:spPr>
            <a:xfrm>
              <a:off x="6545179" y="2352174"/>
              <a:ext cx="26469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int sum ( int a, int b );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27B02C3-7DC3-7ABC-A2A9-81539FC16F86}"/>
                </a:ext>
              </a:extLst>
            </p:cNvPr>
            <p:cNvCxnSpPr/>
            <p:nvPr/>
          </p:nvCxnSpPr>
          <p:spPr>
            <a:xfrm>
              <a:off x="6641432" y="2659951"/>
              <a:ext cx="1443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D602F83-E9A7-6112-CBF1-E5FF3F9293F4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95" y="2418348"/>
              <a:ext cx="2827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5F4185E-4DD5-E195-D1EE-2CE8A8D16F97}"/>
                </a:ext>
              </a:extLst>
            </p:cNvPr>
            <p:cNvCxnSpPr/>
            <p:nvPr/>
          </p:nvCxnSpPr>
          <p:spPr>
            <a:xfrm>
              <a:off x="7561847" y="2418348"/>
              <a:ext cx="1323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2DC3973-47CA-7831-F3B0-725E1E649E8A}"/>
                </a:ext>
              </a:extLst>
            </p:cNvPr>
            <p:cNvCxnSpPr/>
            <p:nvPr/>
          </p:nvCxnSpPr>
          <p:spPr>
            <a:xfrm>
              <a:off x="8199521" y="2666939"/>
              <a:ext cx="1503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CE30276-A52D-A498-E4EE-1B37EAA489E8}"/>
                </a:ext>
              </a:extLst>
            </p:cNvPr>
            <p:cNvCxnSpPr/>
            <p:nvPr/>
          </p:nvCxnSpPr>
          <p:spPr>
            <a:xfrm>
              <a:off x="6707605" y="2659951"/>
              <a:ext cx="0" cy="3298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D1259A2-28B4-B2A7-E897-084F7898F950}"/>
                </a:ext>
              </a:extLst>
            </p:cNvPr>
            <p:cNvCxnSpPr/>
            <p:nvPr/>
          </p:nvCxnSpPr>
          <p:spPr>
            <a:xfrm>
              <a:off x="7455568" y="2659951"/>
              <a:ext cx="0" cy="3298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5D468CC-5E67-992A-739C-9E5005C46E5D}"/>
                </a:ext>
              </a:extLst>
            </p:cNvPr>
            <p:cNvCxnSpPr/>
            <p:nvPr/>
          </p:nvCxnSpPr>
          <p:spPr>
            <a:xfrm>
              <a:off x="8279732" y="2666939"/>
              <a:ext cx="0" cy="3298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09DF10D-A1D4-81A9-ED6A-2DD903F1F784}"/>
                </a:ext>
              </a:extLst>
            </p:cNvPr>
            <p:cNvCxnSpPr/>
            <p:nvPr/>
          </p:nvCxnSpPr>
          <p:spPr>
            <a:xfrm flipV="1">
              <a:off x="7026442" y="2051384"/>
              <a:ext cx="0" cy="3669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C2CC6C0-E33A-B64C-D6F2-1C9A54332DDC}"/>
                </a:ext>
              </a:extLst>
            </p:cNvPr>
            <p:cNvCxnSpPr/>
            <p:nvPr/>
          </p:nvCxnSpPr>
          <p:spPr>
            <a:xfrm flipV="1">
              <a:off x="7630026" y="2051384"/>
              <a:ext cx="0" cy="3669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7FF4B21-4E85-E165-7FC7-557CD07922AF}"/>
                </a:ext>
              </a:extLst>
            </p:cNvPr>
            <p:cNvSpPr txBox="1"/>
            <p:nvPr/>
          </p:nvSpPr>
          <p:spPr>
            <a:xfrm>
              <a:off x="6406551" y="2996835"/>
              <a:ext cx="60785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Return</a:t>
              </a:r>
            </a:p>
            <a:p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 Type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7D6AA97-B4E9-5CE5-645B-79545F5DD55B}"/>
                </a:ext>
              </a:extLst>
            </p:cNvPr>
            <p:cNvSpPr txBox="1"/>
            <p:nvPr/>
          </p:nvSpPr>
          <p:spPr>
            <a:xfrm>
              <a:off x="7026442" y="3005517"/>
              <a:ext cx="88036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Parameter </a:t>
              </a:r>
            </a:p>
            <a:p>
              <a:pPr algn="ctr"/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Type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9341A8-AC8F-EEC1-B532-12A0427D576A}"/>
                </a:ext>
              </a:extLst>
            </p:cNvPr>
            <p:cNvSpPr txBox="1"/>
            <p:nvPr/>
          </p:nvSpPr>
          <p:spPr>
            <a:xfrm>
              <a:off x="6568602" y="1547752"/>
              <a:ext cx="7264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Function</a:t>
              </a:r>
            </a:p>
            <a:p>
              <a:pPr algn="ctr"/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Name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AD1F2F9-936E-F425-CCBC-FBA2DAC0F005}"/>
                </a:ext>
              </a:extLst>
            </p:cNvPr>
            <p:cNvSpPr txBox="1"/>
            <p:nvPr/>
          </p:nvSpPr>
          <p:spPr>
            <a:xfrm>
              <a:off x="7210737" y="1570689"/>
              <a:ext cx="88036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Parameter </a:t>
              </a:r>
            </a:p>
            <a:p>
              <a:pPr algn="ctr"/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Name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57AD5DA-E1B9-184B-5759-DF032665458E}"/>
                </a:ext>
              </a:extLst>
            </p:cNvPr>
            <p:cNvSpPr txBox="1"/>
            <p:nvPr/>
          </p:nvSpPr>
          <p:spPr>
            <a:xfrm>
              <a:off x="7921971" y="2967729"/>
              <a:ext cx="8258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Ending </a:t>
              </a:r>
            </a:p>
            <a:p>
              <a:pPr algn="ctr"/>
              <a:r>
                <a:rPr lang="en-US" sz="11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Statement</a:t>
              </a:r>
            </a:p>
          </p:txBody>
        </p:sp>
      </p:grpSp>
      <p:sp>
        <p:nvSpPr>
          <p:cNvPr id="29" name="Google Shape;473;p28">
            <a:extLst>
              <a:ext uri="{FF2B5EF4-FFF2-40B4-BE49-F238E27FC236}">
                <a16:creationId xmlns:a16="http://schemas.microsoft.com/office/drawing/2014/main" id="{B1B33952-42DC-C106-C507-9BDE4FC0961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16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50187AF-FDC6-B754-FBD2-F9B7FA0F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3F68C7D2-A40A-F50A-C12F-1A89B0F88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Binary and Decimal formats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5EE34798-7EC2-E706-B9F9-64F7C8D7E7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79358BF-3536-51AE-5DCE-A421268F17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D7E3969-DC90-73CA-05C2-2D33B2E762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1B1C0F5F-D95E-6534-9008-4271AC0CDC58}"/>
              </a:ext>
            </a:extLst>
          </p:cNvPr>
          <p:cNvSpPr txBox="1"/>
          <p:nvPr/>
        </p:nvSpPr>
        <p:spPr>
          <a:xfrm>
            <a:off x="1060931" y="1123900"/>
            <a:ext cx="7782280" cy="1714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C program that takes a binary number (up to 32 bits) as input from the user and converts it to its decimal (base-10) equivalent.</a:t>
            </a:r>
          </a:p>
        </p:txBody>
      </p:sp>
      <p:sp>
        <p:nvSpPr>
          <p:cNvPr id="11" name="Google Shape;472;p28">
            <a:extLst>
              <a:ext uri="{FF2B5EF4-FFF2-40B4-BE49-F238E27FC236}">
                <a16:creationId xmlns:a16="http://schemas.microsoft.com/office/drawing/2014/main" id="{89CCD7D4-B3ED-0715-D28A-908C49C95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250" y="2980112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98D08424-995D-5E8B-2CB6-47C52B9A6271}"/>
              </a:ext>
            </a:extLst>
          </p:cNvPr>
          <p:cNvSpPr txBox="1"/>
          <p:nvPr/>
        </p:nvSpPr>
        <p:spPr>
          <a:xfrm>
            <a:off x="1268416" y="2389545"/>
            <a:ext cx="6101868" cy="1714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You should develop a function for the conversion!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5CFEE1CA-73AF-3EC3-8C1F-0DAD888CBD4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19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5560732-9D9B-8264-DD98-E36C9D86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34ED924-8B92-9634-7D64-E2B868C9A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The Fibonacci Series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28DD3817-800E-A4F3-90A5-355C461825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E5BB27D-3DA3-86CE-D408-0AA17F27629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056DB4F-849A-5272-DA79-04FBEE2D5DB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7509BE81-2412-6A1F-3FC4-7312972378FB}"/>
              </a:ext>
            </a:extLst>
          </p:cNvPr>
          <p:cNvSpPr txBox="1"/>
          <p:nvPr/>
        </p:nvSpPr>
        <p:spPr>
          <a:xfrm>
            <a:off x="1159638" y="1025230"/>
            <a:ext cx="5830426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Are you familiar with this sequence?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84322-330C-744E-9F4F-65AE6814C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203" y="1967172"/>
            <a:ext cx="4439797" cy="1962644"/>
          </a:xfrm>
          <a:prstGeom prst="rect">
            <a:avLst/>
          </a:prstGeom>
        </p:spPr>
      </p:pic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5EDB0012-86BD-FFB0-B8E9-862FB969B95C}"/>
              </a:ext>
            </a:extLst>
          </p:cNvPr>
          <p:cNvSpPr txBox="1"/>
          <p:nvPr/>
        </p:nvSpPr>
        <p:spPr>
          <a:xfrm>
            <a:off x="1159638" y="3806512"/>
            <a:ext cx="5698362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It has got many application (search for it!)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E74B22-40C9-F162-53A9-1907B9FD8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777" y="604637"/>
            <a:ext cx="1036468" cy="1038525"/>
          </a:xfrm>
          <a:prstGeom prst="rect">
            <a:avLst/>
          </a:prstGeom>
        </p:spPr>
      </p:pic>
      <p:sp>
        <p:nvSpPr>
          <p:cNvPr id="11" name="Google Shape;583;p33">
            <a:extLst>
              <a:ext uri="{FF2B5EF4-FFF2-40B4-BE49-F238E27FC236}">
                <a16:creationId xmlns:a16="http://schemas.microsoft.com/office/drawing/2014/main" id="{D5836D37-7B75-1655-D274-990D58AFE2B9}"/>
              </a:ext>
            </a:extLst>
          </p:cNvPr>
          <p:cNvSpPr txBox="1"/>
          <p:nvPr/>
        </p:nvSpPr>
        <p:spPr>
          <a:xfrm>
            <a:off x="7509026" y="1381881"/>
            <a:ext cx="1634974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Fibonacci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(1170-1250)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0CB2F702-A110-8FFF-5EBF-C6FF2BC153B9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4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697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0E85D9A-D508-B3E2-C450-3286B5A4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8A51E955-F1AC-2599-C7A4-47DC4A6FC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8750547-4751-7995-A5D9-020F8825EDF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5F35F21-1618-25F2-AA74-75E023DF6D8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22D42296-5F99-5A77-1144-D736E9B69E3D}"/>
              </a:ext>
            </a:extLst>
          </p:cNvPr>
          <p:cNvSpPr txBox="1"/>
          <p:nvPr/>
        </p:nvSpPr>
        <p:spPr>
          <a:xfrm>
            <a:off x="1143250" y="1378483"/>
            <a:ext cx="7875643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program implementing the </a:t>
            </a: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Fibonacci sequence,</a:t>
            </a: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so that calculates the nth Fibonacci number.</a:t>
            </a:r>
          </a:p>
        </p:txBody>
      </p:sp>
      <p:sp>
        <p:nvSpPr>
          <p:cNvPr id="7" name="Google Shape;471;p28">
            <a:extLst>
              <a:ext uri="{FF2B5EF4-FFF2-40B4-BE49-F238E27FC236}">
                <a16:creationId xmlns:a16="http://schemas.microsoft.com/office/drawing/2014/main" id="{8B5C7E8F-4169-87FC-B94B-5A1D4073C82A}"/>
              </a:ext>
            </a:extLst>
          </p:cNvPr>
          <p:cNvSpPr txBox="1">
            <a:spLocks/>
          </p:cNvSpPr>
          <p:nvPr/>
        </p:nvSpPr>
        <p:spPr>
          <a:xfrm>
            <a:off x="1060184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The Fibonacci Series;</a:t>
            </a:r>
          </a:p>
        </p:txBody>
      </p:sp>
      <p:sp>
        <p:nvSpPr>
          <p:cNvPr id="14" name="Google Shape;583;p33">
            <a:extLst>
              <a:ext uri="{FF2B5EF4-FFF2-40B4-BE49-F238E27FC236}">
                <a16:creationId xmlns:a16="http://schemas.microsoft.com/office/drawing/2014/main" id="{764EE8A4-8814-9B77-487A-D3C340A072BE}"/>
              </a:ext>
            </a:extLst>
          </p:cNvPr>
          <p:cNvSpPr txBox="1"/>
          <p:nvPr/>
        </p:nvSpPr>
        <p:spPr>
          <a:xfrm>
            <a:off x="925417" y="2324152"/>
            <a:ext cx="7075333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Follow the rule which is shown in the picture!</a:t>
            </a:r>
          </a:p>
        </p:txBody>
      </p:sp>
      <p:sp>
        <p:nvSpPr>
          <p:cNvPr id="15" name="Google Shape;583;p33">
            <a:extLst>
              <a:ext uri="{FF2B5EF4-FFF2-40B4-BE49-F238E27FC236}">
                <a16:creationId xmlns:a16="http://schemas.microsoft.com/office/drawing/2014/main" id="{1ABACA95-B02A-B8BD-6BAA-2BA7C7B70C15}"/>
              </a:ext>
            </a:extLst>
          </p:cNvPr>
          <p:cNvSpPr txBox="1"/>
          <p:nvPr/>
        </p:nvSpPr>
        <p:spPr>
          <a:xfrm>
            <a:off x="1143250" y="3036604"/>
            <a:ext cx="5817355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Implement both iterative and recursive versions!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58A8D-24C9-1CE5-7C9B-E6598D23F70C}"/>
              </a:ext>
            </a:extLst>
          </p:cNvPr>
          <p:cNvSpPr txBox="1"/>
          <p:nvPr/>
        </p:nvSpPr>
        <p:spPr>
          <a:xfrm>
            <a:off x="7374383" y="3058962"/>
            <a:ext cx="143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0 1 1 2 3 5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F585711A-F297-8657-3FAA-38713C4738A1}"/>
              </a:ext>
            </a:extLst>
          </p:cNvPr>
          <p:cNvSpPr/>
          <p:nvPr/>
        </p:nvSpPr>
        <p:spPr>
          <a:xfrm>
            <a:off x="7480382" y="2902482"/>
            <a:ext cx="194679" cy="412319"/>
          </a:xfrm>
          <a:prstGeom prst="arc">
            <a:avLst>
              <a:gd name="adj1" fmla="val 10696472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18B0D0-868E-A275-D53C-08F8F7F66280}"/>
              </a:ext>
            </a:extLst>
          </p:cNvPr>
          <p:cNvCxnSpPr/>
          <p:nvPr/>
        </p:nvCxnSpPr>
        <p:spPr>
          <a:xfrm flipV="1">
            <a:off x="7562973" y="2625213"/>
            <a:ext cx="0" cy="277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F76FD8F-9389-CF75-4E3D-7AF15B28A998}"/>
              </a:ext>
            </a:extLst>
          </p:cNvPr>
          <p:cNvSpPr txBox="1"/>
          <p:nvPr/>
        </p:nvSpPr>
        <p:spPr>
          <a:xfrm>
            <a:off x="7285519" y="2413068"/>
            <a:ext cx="1430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Default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1FFB1F-A61B-9E9A-E9ED-E1FA10DC6487}"/>
              </a:ext>
            </a:extLst>
          </p:cNvPr>
          <p:cNvSpPr txBox="1"/>
          <p:nvPr/>
        </p:nvSpPr>
        <p:spPr>
          <a:xfrm>
            <a:off x="7396386" y="3304747"/>
            <a:ext cx="16225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0 + 1 = 1</a:t>
            </a:r>
          </a:p>
          <a:p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1 + 1 = 2</a:t>
            </a:r>
          </a:p>
          <a:p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    1 + 2 = 3</a:t>
            </a:r>
          </a:p>
          <a:p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          2 + 3 = 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46AB6-9283-F5D7-D9E0-3DB18F31EA83}"/>
              </a:ext>
            </a:extLst>
          </p:cNvPr>
          <p:cNvSpPr txBox="1"/>
          <p:nvPr/>
        </p:nvSpPr>
        <p:spPr>
          <a:xfrm>
            <a:off x="7079360" y="2208074"/>
            <a:ext cx="14304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Fibonacci Series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21A74F-1B84-1BA1-61CF-E754A70DDBA6}"/>
              </a:ext>
            </a:extLst>
          </p:cNvPr>
          <p:cNvSpPr/>
          <p:nvPr/>
        </p:nvSpPr>
        <p:spPr>
          <a:xfrm>
            <a:off x="6858000" y="2208074"/>
            <a:ext cx="2160893" cy="201586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473;p28">
            <a:extLst>
              <a:ext uri="{FF2B5EF4-FFF2-40B4-BE49-F238E27FC236}">
                <a16:creationId xmlns:a16="http://schemas.microsoft.com/office/drawing/2014/main" id="{121C87EF-BDED-B315-4041-67503447B1B9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5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48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C6898F5-D3E4-A236-D13A-F70AE8EE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A7F7B59-A7E4-D1AE-5972-1CADFE2438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27F75E4-3DC3-EEE2-2F66-9C1168B130F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1CACCF6A-9083-16D5-2284-22C4B532985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C01AFE0C-0CF3-4978-DBB1-02D4E7E89C0B}"/>
              </a:ext>
            </a:extLst>
          </p:cNvPr>
          <p:cNvSpPr txBox="1"/>
          <p:nvPr/>
        </p:nvSpPr>
        <p:spPr>
          <a:xfrm>
            <a:off x="1143250" y="1378483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" name="Google Shape;471;p28">
            <a:extLst>
              <a:ext uri="{FF2B5EF4-FFF2-40B4-BE49-F238E27FC236}">
                <a16:creationId xmlns:a16="http://schemas.microsoft.com/office/drawing/2014/main" id="{010FB26D-EE97-1C34-3F0A-FD46FF096B25}"/>
              </a:ext>
            </a:extLst>
          </p:cNvPr>
          <p:cNvSpPr txBox="1">
            <a:spLocks/>
          </p:cNvSpPr>
          <p:nvPr/>
        </p:nvSpPr>
        <p:spPr>
          <a:xfrm>
            <a:off x="1060184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The Fibonacci Series;</a:t>
            </a:r>
          </a:p>
        </p:txBody>
      </p:sp>
      <p:sp>
        <p:nvSpPr>
          <p:cNvPr id="11" name="Google Shape;583;p33">
            <a:extLst>
              <a:ext uri="{FF2B5EF4-FFF2-40B4-BE49-F238E27FC236}">
                <a16:creationId xmlns:a16="http://schemas.microsoft.com/office/drawing/2014/main" id="{3392F946-AD1F-1C86-7D9F-20C77D7999A5}"/>
              </a:ext>
            </a:extLst>
          </p:cNvPr>
          <p:cNvSpPr txBox="1"/>
          <p:nvPr/>
        </p:nvSpPr>
        <p:spPr>
          <a:xfrm>
            <a:off x="912942" y="925754"/>
            <a:ext cx="7585084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Which version is faster as the size of the input grows? Why?</a:t>
            </a:r>
          </a:p>
        </p:txBody>
      </p:sp>
      <p:pic>
        <p:nvPicPr>
          <p:cNvPr id="5122" name="Picture 2" descr="What is Fibonacci Series in C: Mathematical and Programming Interpretation  | Simplilearn">
            <a:extLst>
              <a:ext uri="{FF2B5EF4-FFF2-40B4-BE49-F238E27FC236}">
                <a16:creationId xmlns:a16="http://schemas.microsoft.com/office/drawing/2014/main" id="{B551A3B7-9669-5847-081A-B6DBB88DA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416" y="1794581"/>
            <a:ext cx="4599259" cy="214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03D2DA33-B065-A291-3C95-9FFECFE1B78C}"/>
              </a:ext>
            </a:extLst>
          </p:cNvPr>
          <p:cNvSpPr txBox="1"/>
          <p:nvPr/>
        </p:nvSpPr>
        <p:spPr>
          <a:xfrm>
            <a:off x="802774" y="3896518"/>
            <a:ext cx="8440378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Try out different size of values for the input of both versions. 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ABB8A928-06F3-75FF-0E55-CF39CD492595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6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79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9320756E-7583-EC87-938E-AC13F17D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2EF60AD5-24C1-26B6-45CF-843580D4D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</a:rPr>
              <a:t>Combination and Permutation;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DE382026-4314-60F7-48B7-A465F318BDD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0DDC9C0-E8EF-8047-695F-69870221D3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04F849B-41E4-D461-4304-5C6912B7D8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3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Google Shape;583;p33">
            <a:extLst>
              <a:ext uri="{FF2B5EF4-FFF2-40B4-BE49-F238E27FC236}">
                <a16:creationId xmlns:a16="http://schemas.microsoft.com/office/drawing/2014/main" id="{196A4EC0-4AC0-FC13-6EF6-6A37C57ADABF}"/>
              </a:ext>
            </a:extLst>
          </p:cNvPr>
          <p:cNvSpPr txBox="1"/>
          <p:nvPr/>
        </p:nvSpPr>
        <p:spPr>
          <a:xfrm>
            <a:off x="1244836" y="1428577"/>
            <a:ext cx="7651391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You might be familiar with factorial concept in math!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algn="just"/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Which is the foundation of combination and permutation.             </a:t>
            </a: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(As shown in the picture!)</a:t>
            </a:r>
            <a:endParaRPr lang="en-US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62006F-17D6-D7E6-AED1-030E3DE818DA}"/>
                  </a:ext>
                </a:extLst>
              </p:cNvPr>
              <p:cNvSpPr txBox="1"/>
              <p:nvPr/>
            </p:nvSpPr>
            <p:spPr>
              <a:xfrm>
                <a:off x="6777210" y="2863117"/>
                <a:ext cx="1415772" cy="4415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62006F-17D6-D7E6-AED1-030E3DE81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210" y="2863117"/>
                <a:ext cx="1415772" cy="441531"/>
              </a:xfrm>
              <a:prstGeom prst="rect">
                <a:avLst/>
              </a:prstGeom>
              <a:blipFill>
                <a:blip r:embed="rId4"/>
                <a:stretch>
                  <a:fillRect l="-2155" t="-1389" r="-215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02235CF0-6541-95E3-2888-292BC07BCE0E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7</a:t>
            </a:r>
            <a:endParaRPr lang="en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C37BA-9679-1C05-7126-27512DA9B192}"/>
                  </a:ext>
                </a:extLst>
              </p:cNvPr>
              <p:cNvSpPr txBox="1"/>
              <p:nvPr/>
            </p:nvSpPr>
            <p:spPr>
              <a:xfrm>
                <a:off x="6777210" y="3538192"/>
                <a:ext cx="1415772" cy="4415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C37BA-9679-1C05-7126-27512DA9B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210" y="3538192"/>
                <a:ext cx="1415772" cy="441531"/>
              </a:xfrm>
              <a:prstGeom prst="rect">
                <a:avLst/>
              </a:prstGeom>
              <a:blipFill>
                <a:blip r:embed="rId5"/>
                <a:stretch>
                  <a:fillRect l="-2155" r="-2155" b="-16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FD56EB8-9BA4-4915-D2D1-93C4AF68941A}"/>
              </a:ext>
            </a:extLst>
          </p:cNvPr>
          <p:cNvSpPr/>
          <p:nvPr/>
        </p:nvSpPr>
        <p:spPr>
          <a:xfrm>
            <a:off x="6462743" y="2694370"/>
            <a:ext cx="2160893" cy="157931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54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AAE5630-0D4E-F8DF-08A2-30A0C4DD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40DE6ED3-E856-171C-D3B4-E4B39BE67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</a:rPr>
              <a:t>Combination and Permutation;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62CF8C2E-317A-F5D8-6BFD-1EF8CD4CBB2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CD40946-0774-C022-6D50-1AF567880B7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CC720A0-54C1-4B4A-06F2-A6E1B8064CA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3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Google Shape;583;p33">
            <a:extLst>
              <a:ext uri="{FF2B5EF4-FFF2-40B4-BE49-F238E27FC236}">
                <a16:creationId xmlns:a16="http://schemas.microsoft.com/office/drawing/2014/main" id="{832461F6-57EC-A67C-92A2-C4274B4278A9}"/>
              </a:ext>
            </a:extLst>
          </p:cNvPr>
          <p:cNvSpPr txBox="1"/>
          <p:nvPr/>
        </p:nvSpPr>
        <p:spPr>
          <a:xfrm>
            <a:off x="1143250" y="1572296"/>
            <a:ext cx="5347278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Develop a program implementing combination and permutation.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You should have functions for calculating factorial and permutation and combination. </a:t>
            </a:r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85D56137-DFFF-4C12-1866-DB69C835A662}"/>
              </a:ext>
            </a:extLst>
          </p:cNvPr>
          <p:cNvSpPr txBox="1">
            <a:spLocks/>
          </p:cNvSpPr>
          <p:nvPr/>
        </p:nvSpPr>
        <p:spPr>
          <a:xfrm>
            <a:off x="1283817" y="3646397"/>
            <a:ext cx="7009465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rgbClr val="FF0000"/>
              </a:buClr>
              <a:buNone/>
            </a:pPr>
            <a:r>
              <a:rPr lang="en-US" sz="1200" dirty="0">
                <a:solidFill>
                  <a:srgbClr val="FF0000"/>
                </a:solidFill>
              </a:rPr>
              <a:t>According to the relation, notice that there are two inputs!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362DCF-51F0-0F7E-925E-BEB1E6A634EA}"/>
                  </a:ext>
                </a:extLst>
              </p:cNvPr>
              <p:cNvSpPr txBox="1"/>
              <p:nvPr/>
            </p:nvSpPr>
            <p:spPr>
              <a:xfrm>
                <a:off x="6921181" y="1404762"/>
                <a:ext cx="1586268" cy="4415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!(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362DCF-51F0-0F7E-925E-BEB1E6A63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181" y="1404762"/>
                <a:ext cx="1586268" cy="441531"/>
              </a:xfrm>
              <a:prstGeom prst="rect">
                <a:avLst/>
              </a:prstGeom>
              <a:blipFill>
                <a:blip r:embed="rId3"/>
                <a:stretch>
                  <a:fillRect l="-1916" r="-1533" b="-16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90E7DD-931B-07E2-3B95-D7285F71F0E5}"/>
                  </a:ext>
                </a:extLst>
              </p:cNvPr>
              <p:cNvSpPr txBox="1"/>
              <p:nvPr/>
            </p:nvSpPr>
            <p:spPr>
              <a:xfrm>
                <a:off x="7006429" y="2079837"/>
                <a:ext cx="1415772" cy="4415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90E7DD-931B-07E2-3B95-D7285F71F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429" y="2079837"/>
                <a:ext cx="1415772" cy="441531"/>
              </a:xfrm>
              <a:prstGeom prst="rect">
                <a:avLst/>
              </a:prstGeom>
              <a:blipFill>
                <a:blip r:embed="rId4"/>
                <a:stretch>
                  <a:fillRect l="-2146" r="-1717" b="-16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C08E78D-ABB0-34C3-3FAA-098B300D6159}"/>
              </a:ext>
            </a:extLst>
          </p:cNvPr>
          <p:cNvSpPr/>
          <p:nvPr/>
        </p:nvSpPr>
        <p:spPr>
          <a:xfrm>
            <a:off x="6691962" y="1236015"/>
            <a:ext cx="2160893" cy="157931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473;p28">
            <a:extLst>
              <a:ext uri="{FF2B5EF4-FFF2-40B4-BE49-F238E27FC236}">
                <a16:creationId xmlns:a16="http://schemas.microsoft.com/office/drawing/2014/main" id="{33A37BFE-B7BD-746E-2603-02EF12E00D01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8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880502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439</Words>
  <Application>Microsoft Office PowerPoint</Application>
  <PresentationFormat>On-screen Show (16:9)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Cambria Math</vt:lpstr>
      <vt:lpstr>Fira Code</vt:lpstr>
      <vt:lpstr>Programming Language Workshop for Beginners by Slidesgo</vt:lpstr>
      <vt:lpstr>PowerPoint Presentation</vt:lpstr>
      <vt:lpstr>Function Implementation</vt:lpstr>
      <vt:lpstr>What is function?;</vt:lpstr>
      <vt:lpstr>What is function?;</vt:lpstr>
      <vt:lpstr>Binary and Decimal formats;</vt:lpstr>
      <vt:lpstr>The Fibonacci Series;</vt:lpstr>
      <vt:lpstr>PowerPoint Presentation</vt:lpstr>
      <vt:lpstr>PowerPoint Presentation</vt:lpstr>
      <vt:lpstr>Combination and Permutation;</vt:lpstr>
      <vt:lpstr>Combination and Permutation;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shayan naghizadeh</cp:lastModifiedBy>
  <cp:revision>11</cp:revision>
  <dcterms:modified xsi:type="dcterms:W3CDTF">2025-08-07T08:38:56Z</dcterms:modified>
</cp:coreProperties>
</file>