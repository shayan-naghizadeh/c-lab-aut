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56" r:id="rId2"/>
    <p:sldId id="268" r:id="rId3"/>
    <p:sldId id="257" r:id="rId4"/>
    <p:sldId id="311" r:id="rId5"/>
    <p:sldId id="301" r:id="rId6"/>
    <p:sldId id="302" r:id="rId7"/>
    <p:sldId id="304" r:id="rId8"/>
    <p:sldId id="312" r:id="rId9"/>
    <p:sldId id="305" r:id="rId10"/>
    <p:sldId id="313" r:id="rId11"/>
    <p:sldId id="314" r:id="rId12"/>
    <p:sldId id="316" r:id="rId1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5"/>
    </p:embeddedFont>
    <p:embeddedFont>
      <p:font typeface="Fira Code" panose="020B0809050000020004" pitchFamily="49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3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42DDE1C-4E98-0865-CB77-09CA5FB70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308E42A-C71A-77B3-5C71-97F6F8CB2C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575A70-B145-DA08-1DDB-2F81CABF6A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990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ACC95F-D8DD-A502-3409-502BA38A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78C49-6A7D-3D35-8323-8215CA5F56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DBF65B9-F673-6623-0867-BDC5B47F6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896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5A19A62-BF95-8A4F-DCA5-6D3694007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7B5AC431-433B-F799-C61E-5A7DF5E74C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B627F1E-A172-67B9-2572-34D285856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4519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7D918C-E0AC-FDBE-0A5B-BBBF853694C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BAAFEF-2D9E-F2CE-7133-52BC8A24DCB9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BBED3-F08C-3E20-661F-A0EDA0FFFE9B}"/>
              </a:ext>
            </a:extLst>
          </p:cNvPr>
          <p:cNvSpPr txBox="1"/>
          <p:nvPr/>
        </p:nvSpPr>
        <p:spPr>
          <a:xfrm>
            <a:off x="4183857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Function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565DFF7-02E5-DF80-F84F-AE9E4ED4AF1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Function Implementation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What is function?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143249" y="1014851"/>
            <a:ext cx="6307287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probably know the concept of function in math.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302533" y="2680882"/>
            <a:ext cx="7576772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How could we implement functions in programming?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/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blipFill>
                <a:blip r:embed="rId3"/>
                <a:stretch>
                  <a:fillRect l="-16071" t="-25000" r="-10714" b="-47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F0E70D9-D601-1768-A00F-75B8C2612527}"/>
              </a:ext>
            </a:extLst>
          </p:cNvPr>
          <p:cNvSpPr txBox="1"/>
          <p:nvPr/>
        </p:nvSpPr>
        <p:spPr>
          <a:xfrm>
            <a:off x="7357720" y="1691001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Function in Math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D4AE99-B53D-96CB-4B32-72369468FBC7}"/>
              </a:ext>
            </a:extLst>
          </p:cNvPr>
          <p:cNvSpPr txBox="1"/>
          <p:nvPr/>
        </p:nvSpPr>
        <p:spPr>
          <a:xfrm>
            <a:off x="7357721" y="2302707"/>
            <a:ext cx="64302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B966F9-A97A-8DB5-63DB-4E9F35B2F86B}"/>
              </a:ext>
            </a:extLst>
          </p:cNvPr>
          <p:cNvSpPr txBox="1"/>
          <p:nvPr/>
        </p:nvSpPr>
        <p:spPr>
          <a:xfrm>
            <a:off x="8139292" y="2258102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Input</a:t>
            </a:r>
          </a:p>
        </p:txBody>
      </p: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50EF63FB-406B-C17E-7CF8-56DF537EAA61}"/>
              </a:ext>
            </a:extLst>
          </p:cNvPr>
          <p:cNvCxnSpPr>
            <a:stCxn id="5" idx="1"/>
            <a:endCxn id="2" idx="1"/>
          </p:cNvCxnSpPr>
          <p:nvPr/>
        </p:nvCxnSpPr>
        <p:spPr>
          <a:xfrm rot="10800000" flipH="1">
            <a:off x="7357721" y="2060333"/>
            <a:ext cx="367922" cy="369332"/>
          </a:xfrm>
          <a:prstGeom prst="curvedConnector3">
            <a:avLst>
              <a:gd name="adj1" fmla="val -62133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B03C25F-D6D0-B29B-9E47-F67551BBA125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 flipH="1">
            <a:off x="8139291" y="2060333"/>
            <a:ext cx="264101" cy="328574"/>
          </a:xfrm>
          <a:prstGeom prst="curvedConnector5">
            <a:avLst>
              <a:gd name="adj1" fmla="val -86558"/>
              <a:gd name="adj2" fmla="val 53512"/>
              <a:gd name="adj3" fmla="val 186558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Google Shape;473;p28">
            <a:extLst>
              <a:ext uri="{FF2B5EF4-FFF2-40B4-BE49-F238E27FC236}">
                <a16:creationId xmlns:a16="http://schemas.microsoft.com/office/drawing/2014/main" id="{ED1FD636-A210-B0E0-3223-1D7CC350035B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87AE761-43CB-D5C4-A64B-AD388C797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A96EADB-0553-E55A-5013-C6D431FD8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What is function?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7EBD44A-9363-E81A-5172-771D385856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F8CB708-7BC6-DA7B-F09D-E4DB14B6EE6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A5139A3-62E0-6783-4D79-977BA254728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6622912-764E-52AC-48FD-9ED99B05D185}"/>
              </a:ext>
            </a:extLst>
          </p:cNvPr>
          <p:cNvSpPr txBox="1"/>
          <p:nvPr/>
        </p:nvSpPr>
        <p:spPr>
          <a:xfrm>
            <a:off x="1143249" y="1014852"/>
            <a:ext cx="5636805" cy="1349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Recap the general syntax of defining a function in C as depicted in the given picture. 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FA277F5F-E1BB-4739-0148-3166126E2617}"/>
              </a:ext>
            </a:extLst>
          </p:cNvPr>
          <p:cNvSpPr txBox="1"/>
          <p:nvPr/>
        </p:nvSpPr>
        <p:spPr>
          <a:xfrm>
            <a:off x="1253419" y="3282347"/>
            <a:ext cx="6105848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What are the built-in functions(methods!) in C?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AC0982A-0F1A-BD48-BD09-6828385ABBFB}"/>
              </a:ext>
            </a:extLst>
          </p:cNvPr>
          <p:cNvCxnSpPr/>
          <p:nvPr/>
        </p:nvCxnSpPr>
        <p:spPr>
          <a:xfrm>
            <a:off x="7492906" y="2973352"/>
            <a:ext cx="2025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AA5EB454-FA43-B862-FAF7-25024933A8CD}"/>
              </a:ext>
            </a:extLst>
          </p:cNvPr>
          <p:cNvSpPr/>
          <p:nvPr/>
        </p:nvSpPr>
        <p:spPr>
          <a:xfrm>
            <a:off x="6599321" y="1828800"/>
            <a:ext cx="709861" cy="2155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F9DA9CB-3F49-8658-6716-338D9C7AC0BA}"/>
              </a:ext>
            </a:extLst>
          </p:cNvPr>
          <p:cNvGrpSpPr/>
          <p:nvPr/>
        </p:nvGrpSpPr>
        <p:grpSpPr>
          <a:xfrm>
            <a:off x="6545179" y="1861153"/>
            <a:ext cx="2785575" cy="1888652"/>
            <a:chOff x="6406551" y="1547752"/>
            <a:chExt cx="2785575" cy="188865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28299D0-F24D-C94B-7825-6215D86A69CF}"/>
                </a:ext>
              </a:extLst>
            </p:cNvPr>
            <p:cNvSpPr txBox="1"/>
            <p:nvPr/>
          </p:nvSpPr>
          <p:spPr>
            <a:xfrm>
              <a:off x="6545179" y="2352174"/>
              <a:ext cx="26469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int sum ( int a, int b );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27B02C3-7DC3-7ABC-A2A9-81539FC16F86}"/>
                </a:ext>
              </a:extLst>
            </p:cNvPr>
            <p:cNvCxnSpPr/>
            <p:nvPr/>
          </p:nvCxnSpPr>
          <p:spPr>
            <a:xfrm>
              <a:off x="6641432" y="2659951"/>
              <a:ext cx="14437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602F83-E9A7-6112-CBF1-E5FF3F9293F4}"/>
                </a:ext>
              </a:extLst>
            </p:cNvPr>
            <p:cNvCxnSpPr>
              <a:cxnSpLocks/>
            </p:cNvCxnSpPr>
            <p:nvPr/>
          </p:nvCxnSpPr>
          <p:spPr>
            <a:xfrm>
              <a:off x="6894095" y="2418348"/>
              <a:ext cx="28274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F4185E-4DD5-E195-D1EE-2CE8A8D16F97}"/>
                </a:ext>
              </a:extLst>
            </p:cNvPr>
            <p:cNvCxnSpPr/>
            <p:nvPr/>
          </p:nvCxnSpPr>
          <p:spPr>
            <a:xfrm>
              <a:off x="7561847" y="2418348"/>
              <a:ext cx="1323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DC3973-47CA-7831-F3B0-725E1E649E8A}"/>
                </a:ext>
              </a:extLst>
            </p:cNvPr>
            <p:cNvCxnSpPr/>
            <p:nvPr/>
          </p:nvCxnSpPr>
          <p:spPr>
            <a:xfrm>
              <a:off x="8199521" y="2666939"/>
              <a:ext cx="1503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CE30276-A52D-A498-E4EE-1B37EAA489E8}"/>
                </a:ext>
              </a:extLst>
            </p:cNvPr>
            <p:cNvCxnSpPr/>
            <p:nvPr/>
          </p:nvCxnSpPr>
          <p:spPr>
            <a:xfrm>
              <a:off x="6707605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D1259A2-28B4-B2A7-E897-084F7898F950}"/>
                </a:ext>
              </a:extLst>
            </p:cNvPr>
            <p:cNvCxnSpPr/>
            <p:nvPr/>
          </p:nvCxnSpPr>
          <p:spPr>
            <a:xfrm>
              <a:off x="7455568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5D468CC-5E67-992A-739C-9E5005C46E5D}"/>
                </a:ext>
              </a:extLst>
            </p:cNvPr>
            <p:cNvCxnSpPr/>
            <p:nvPr/>
          </p:nvCxnSpPr>
          <p:spPr>
            <a:xfrm>
              <a:off x="8279732" y="2666939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09DF10D-A1D4-81A9-ED6A-2DD903F1F784}"/>
                </a:ext>
              </a:extLst>
            </p:cNvPr>
            <p:cNvCxnSpPr/>
            <p:nvPr/>
          </p:nvCxnSpPr>
          <p:spPr>
            <a:xfrm flipV="1">
              <a:off x="7026442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C2CC6C0-E33A-B64C-D6F2-1C9A54332DDC}"/>
                </a:ext>
              </a:extLst>
            </p:cNvPr>
            <p:cNvCxnSpPr/>
            <p:nvPr/>
          </p:nvCxnSpPr>
          <p:spPr>
            <a:xfrm flipV="1">
              <a:off x="7630026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7FF4B21-4E85-E165-7FC7-557CD07922AF}"/>
                </a:ext>
              </a:extLst>
            </p:cNvPr>
            <p:cNvSpPr txBox="1"/>
            <p:nvPr/>
          </p:nvSpPr>
          <p:spPr>
            <a:xfrm>
              <a:off x="6406551" y="2996835"/>
              <a:ext cx="60785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Return</a:t>
              </a:r>
            </a:p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 Type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D6AA97-B4E9-5CE5-645B-79545F5DD55B}"/>
                </a:ext>
              </a:extLst>
            </p:cNvPr>
            <p:cNvSpPr txBox="1"/>
            <p:nvPr/>
          </p:nvSpPr>
          <p:spPr>
            <a:xfrm>
              <a:off x="7026442" y="3005517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Type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9341A8-AC8F-EEC1-B532-12A0427D576A}"/>
                </a:ext>
              </a:extLst>
            </p:cNvPr>
            <p:cNvSpPr txBox="1"/>
            <p:nvPr/>
          </p:nvSpPr>
          <p:spPr>
            <a:xfrm>
              <a:off x="6568602" y="1547752"/>
              <a:ext cx="72648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Function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AD1F2F9-936E-F425-CCBC-FBA2DAC0F005}"/>
                </a:ext>
              </a:extLst>
            </p:cNvPr>
            <p:cNvSpPr txBox="1"/>
            <p:nvPr/>
          </p:nvSpPr>
          <p:spPr>
            <a:xfrm>
              <a:off x="7210737" y="1570689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57AD5DA-E1B9-184B-5759-DF032665458E}"/>
                </a:ext>
              </a:extLst>
            </p:cNvPr>
            <p:cNvSpPr txBox="1"/>
            <p:nvPr/>
          </p:nvSpPr>
          <p:spPr>
            <a:xfrm>
              <a:off x="7921971" y="2967729"/>
              <a:ext cx="82586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Ending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Statement</a:t>
              </a:r>
            </a:p>
          </p:txBody>
        </p:sp>
      </p:grpSp>
      <p:sp>
        <p:nvSpPr>
          <p:cNvPr id="29" name="Google Shape;473;p28">
            <a:extLst>
              <a:ext uri="{FF2B5EF4-FFF2-40B4-BE49-F238E27FC236}">
                <a16:creationId xmlns:a16="http://schemas.microsoft.com/office/drawing/2014/main" id="{B1B33952-42DC-C106-C507-9BDE4FC096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8165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Binary and Decimal formats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EE34798-7EC2-E706-B9F9-64F7C8D7E7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60931" y="1123900"/>
            <a:ext cx="7782280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that takes a binary number (up to 32 bits) as input from the user and converts it to its decimal (base-10) equivalent.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2980112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98D08424-995D-5E8B-2CB6-47C52B9A6271}"/>
              </a:ext>
            </a:extLst>
          </p:cNvPr>
          <p:cNvSpPr txBox="1"/>
          <p:nvPr/>
        </p:nvSpPr>
        <p:spPr>
          <a:xfrm>
            <a:off x="1268416" y="2389545"/>
            <a:ext cx="6101868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develop a function for the conversion!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5CFEE1CA-73AF-3EC3-8C1F-0DAD888CBD4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The Fibonacci Series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59638" y="1025230"/>
            <a:ext cx="5830426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Are you familiar with this sequence?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84322-330C-744E-9F4F-65AE6814C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203" y="1967172"/>
            <a:ext cx="4439797" cy="1962644"/>
          </a:xfrm>
          <a:prstGeom prst="rect">
            <a:avLst/>
          </a:prstGeom>
        </p:spPr>
      </p:pic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06512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It has got many application (search for it!)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E74B22-40C9-F162-53A9-1907B9FD8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8777" y="604637"/>
            <a:ext cx="1036468" cy="1038525"/>
          </a:xfrm>
          <a:prstGeom prst="rect">
            <a:avLst/>
          </a:prstGeom>
        </p:spPr>
      </p:pic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D5836D37-7B75-1655-D274-990D58AFE2B9}"/>
              </a:ext>
            </a:extLst>
          </p:cNvPr>
          <p:cNvSpPr txBox="1"/>
          <p:nvPr/>
        </p:nvSpPr>
        <p:spPr>
          <a:xfrm>
            <a:off x="7509026" y="1381881"/>
            <a:ext cx="163497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(1170-1250)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CB2F702-A110-8FFF-5EBF-C6FF2BC153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143250" y="1378483"/>
            <a:ext cx="787564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implementing the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 sequence,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so that calculates the nth Fibonacci number.</a:t>
            </a: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8B5C7E8F-4169-87FC-B94B-5A1D4073C82A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4" name="Google Shape;583;p33">
            <a:extLst>
              <a:ext uri="{FF2B5EF4-FFF2-40B4-BE49-F238E27FC236}">
                <a16:creationId xmlns:a16="http://schemas.microsoft.com/office/drawing/2014/main" id="{764EE8A4-8814-9B77-487A-D3C340A072BE}"/>
              </a:ext>
            </a:extLst>
          </p:cNvPr>
          <p:cNvSpPr txBox="1"/>
          <p:nvPr/>
        </p:nvSpPr>
        <p:spPr>
          <a:xfrm>
            <a:off x="925417" y="2324152"/>
            <a:ext cx="707533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Follow the rule which is shown in the picture!</a:t>
            </a:r>
          </a:p>
        </p:txBody>
      </p:sp>
      <p:sp>
        <p:nvSpPr>
          <p:cNvPr id="15" name="Google Shape;583;p33">
            <a:extLst>
              <a:ext uri="{FF2B5EF4-FFF2-40B4-BE49-F238E27FC236}">
                <a16:creationId xmlns:a16="http://schemas.microsoft.com/office/drawing/2014/main" id="{1ABACA95-B02A-B8BD-6BAA-2BA7C7B70C15}"/>
              </a:ext>
            </a:extLst>
          </p:cNvPr>
          <p:cNvSpPr txBox="1"/>
          <p:nvPr/>
        </p:nvSpPr>
        <p:spPr>
          <a:xfrm>
            <a:off x="1143250" y="3036604"/>
            <a:ext cx="5817355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Implement both iterative and recursive versions!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358A8D-24C9-1CE5-7C9B-E6598D23F70C}"/>
              </a:ext>
            </a:extLst>
          </p:cNvPr>
          <p:cNvSpPr txBox="1"/>
          <p:nvPr/>
        </p:nvSpPr>
        <p:spPr>
          <a:xfrm>
            <a:off x="7374383" y="3058962"/>
            <a:ext cx="143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0 1 1 2 3 5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F585711A-F297-8657-3FAA-38713C4738A1}"/>
              </a:ext>
            </a:extLst>
          </p:cNvPr>
          <p:cNvSpPr/>
          <p:nvPr/>
        </p:nvSpPr>
        <p:spPr>
          <a:xfrm>
            <a:off x="7480382" y="2902482"/>
            <a:ext cx="194679" cy="412319"/>
          </a:xfrm>
          <a:prstGeom prst="arc">
            <a:avLst>
              <a:gd name="adj1" fmla="val 10696472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E18B0D0-868E-A275-D53C-08F8F7F66280}"/>
              </a:ext>
            </a:extLst>
          </p:cNvPr>
          <p:cNvCxnSpPr/>
          <p:nvPr/>
        </p:nvCxnSpPr>
        <p:spPr>
          <a:xfrm flipV="1">
            <a:off x="7562973" y="2625213"/>
            <a:ext cx="0" cy="277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76FD8F-9389-CF75-4E3D-7AF15B28A998}"/>
              </a:ext>
            </a:extLst>
          </p:cNvPr>
          <p:cNvSpPr txBox="1"/>
          <p:nvPr/>
        </p:nvSpPr>
        <p:spPr>
          <a:xfrm>
            <a:off x="7285519" y="2413068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Default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1FFB1F-A61B-9E9A-E9ED-E1FA10DC6487}"/>
              </a:ext>
            </a:extLst>
          </p:cNvPr>
          <p:cNvSpPr txBox="1"/>
          <p:nvPr/>
        </p:nvSpPr>
        <p:spPr>
          <a:xfrm>
            <a:off x="7396386" y="3304747"/>
            <a:ext cx="16225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+ 1 = 1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1 + 1 = 2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1 + 2 = 3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      2 + 3 = 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246AB6-9283-F5D7-D9E0-3DB18F31EA83}"/>
              </a:ext>
            </a:extLst>
          </p:cNvPr>
          <p:cNvSpPr txBox="1"/>
          <p:nvPr/>
        </p:nvSpPr>
        <p:spPr>
          <a:xfrm>
            <a:off x="7079360" y="2208074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Fibonacci Series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21A74F-1B84-1BA1-61CF-E754A70DDBA6}"/>
              </a:ext>
            </a:extLst>
          </p:cNvPr>
          <p:cNvSpPr/>
          <p:nvPr/>
        </p:nvSpPr>
        <p:spPr>
          <a:xfrm>
            <a:off x="6858000" y="2208074"/>
            <a:ext cx="2160893" cy="2015864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Google Shape;473;p28">
            <a:extLst>
              <a:ext uri="{FF2B5EF4-FFF2-40B4-BE49-F238E27FC236}">
                <a16:creationId xmlns:a16="http://schemas.microsoft.com/office/drawing/2014/main" id="{121C87EF-BDED-B315-4041-67503447B1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C6898F5-D3E4-A236-D13A-F70AE8EE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A7F7B59-A7E4-D1AE-5972-1CADFE24384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27F75E4-3DC3-EEE2-2F66-9C1168B130F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CACCF6A-9083-16D5-2284-22C4B532985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C01AFE0C-0CF3-4978-DBB1-02D4E7E89C0B}"/>
              </a:ext>
            </a:extLst>
          </p:cNvPr>
          <p:cNvSpPr txBox="1"/>
          <p:nvPr/>
        </p:nvSpPr>
        <p:spPr>
          <a:xfrm>
            <a:off x="1143250" y="137848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010FB26D-EE97-1C34-3F0A-FD46FF096B25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3392F946-AD1F-1C86-7D9F-20C77D7999A5}"/>
              </a:ext>
            </a:extLst>
          </p:cNvPr>
          <p:cNvSpPr txBox="1"/>
          <p:nvPr/>
        </p:nvSpPr>
        <p:spPr>
          <a:xfrm>
            <a:off x="912942" y="925754"/>
            <a:ext cx="758508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version is faster as the size of the input grows? Why?</a:t>
            </a:r>
          </a:p>
        </p:txBody>
      </p:sp>
      <p:pic>
        <p:nvPicPr>
          <p:cNvPr id="5122" name="Picture 2" descr="What is Fibonacci Series in C: Mathematical and Programming Interpretation  | Simplilearn">
            <a:extLst>
              <a:ext uri="{FF2B5EF4-FFF2-40B4-BE49-F238E27FC236}">
                <a16:creationId xmlns:a16="http://schemas.microsoft.com/office/drawing/2014/main" id="{B551A3B7-9669-5847-081A-B6DBB88DA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416" y="1794581"/>
            <a:ext cx="4599259" cy="2145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3D2DA33-B065-A291-3C95-9FFECFE1B78C}"/>
              </a:ext>
            </a:extLst>
          </p:cNvPr>
          <p:cNvSpPr txBox="1"/>
          <p:nvPr/>
        </p:nvSpPr>
        <p:spPr>
          <a:xfrm>
            <a:off x="1060184" y="3872318"/>
            <a:ext cx="84403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Try out different size of values for the input of both versions.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ABB8A928-06F3-75FF-0E55-CF39CD49259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798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Combination and Permutation;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196A4EC0-4AC0-FC13-6EF6-6A37C57ADABF}"/>
              </a:ext>
            </a:extLst>
          </p:cNvPr>
          <p:cNvSpPr txBox="1"/>
          <p:nvPr/>
        </p:nvSpPr>
        <p:spPr>
          <a:xfrm>
            <a:off x="1244836" y="1428577"/>
            <a:ext cx="7651391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might be familiar with factorial concept in math!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is the foundation of combination and permutation.            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(As shown in the picture!)</a:t>
            </a: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/>
              <p:nvPr/>
            </p:nvSpPr>
            <p:spPr>
              <a:xfrm>
                <a:off x="6777210" y="286311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210" y="286311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55" t="-1389" r="-2155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2235CF0-6541-95E3-2888-292BC07BCE0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C37BA-9679-1C05-7126-27512DA9B192}"/>
                  </a:ext>
                </a:extLst>
              </p:cNvPr>
              <p:cNvSpPr txBox="1"/>
              <p:nvPr/>
            </p:nvSpPr>
            <p:spPr>
              <a:xfrm>
                <a:off x="6777210" y="3538192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C37BA-9679-1C05-7126-27512DA9B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210" y="3538192"/>
                <a:ext cx="1415772" cy="441531"/>
              </a:xfrm>
              <a:prstGeom prst="rect">
                <a:avLst/>
              </a:prstGeom>
              <a:blipFill>
                <a:blip r:embed="rId5"/>
                <a:stretch>
                  <a:fillRect l="-2155" r="-2155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FD56EB8-9BA4-4915-D2D1-93C4AF68941A}"/>
              </a:ext>
            </a:extLst>
          </p:cNvPr>
          <p:cNvSpPr/>
          <p:nvPr/>
        </p:nvSpPr>
        <p:spPr>
          <a:xfrm>
            <a:off x="6462743" y="2694370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AAE5630-0D4E-F8DF-08A2-30A0C4DD9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0DE6ED3-E856-171C-D3B4-E4B39BE675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Combination and Permutation;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CF8C2E-317A-F5D8-6BFD-1EF8CD4CBB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D40946-0774-C022-6D50-1AF567880B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C720A0-54C1-4B4A-06F2-A6E1B8064CA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832461F6-57EC-A67C-92A2-C4274B4278A9}"/>
              </a:ext>
            </a:extLst>
          </p:cNvPr>
          <p:cNvSpPr txBox="1"/>
          <p:nvPr/>
        </p:nvSpPr>
        <p:spPr>
          <a:xfrm>
            <a:off x="1143250" y="1572296"/>
            <a:ext cx="53472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Develop a program implementing combination and permutation.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have functions for calculating factorial and permutation and combination. 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85D56137-DFFF-4C12-1866-DB69C835A662}"/>
              </a:ext>
            </a:extLst>
          </p:cNvPr>
          <p:cNvSpPr txBox="1">
            <a:spLocks/>
          </p:cNvSpPr>
          <p:nvPr/>
        </p:nvSpPr>
        <p:spPr>
          <a:xfrm>
            <a:off x="1283817" y="3646397"/>
            <a:ext cx="7009465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Clr>
                <a:srgbClr val="FF0000"/>
              </a:buClr>
              <a:buNone/>
            </a:pPr>
            <a:r>
              <a:rPr lang="en-US" sz="1200" dirty="0">
                <a:solidFill>
                  <a:srgbClr val="FF0000"/>
                </a:solidFill>
              </a:rPr>
              <a:t>According to the relation, notice that there are two inputs!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/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blipFill>
                <a:blip r:embed="rId3"/>
                <a:stretch>
                  <a:fillRect l="-1916" r="-1533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/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46" r="-1717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6C08E78D-ABB0-34C3-3FAA-098B300D6159}"/>
              </a:ext>
            </a:extLst>
          </p:cNvPr>
          <p:cNvSpPr/>
          <p:nvPr/>
        </p:nvSpPr>
        <p:spPr>
          <a:xfrm>
            <a:off x="6691962" y="1236015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33A37BFE-B7BD-746E-2603-02EF12E00D0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88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0293F-8CBC-0A8A-0069-B8BAA092E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50" y="582700"/>
            <a:ext cx="7290600" cy="473285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D8263E-E3A7-243F-FD76-792602698A73}"/>
              </a:ext>
            </a:extLst>
          </p:cNvPr>
          <p:cNvSpPr txBox="1"/>
          <p:nvPr/>
        </p:nvSpPr>
        <p:spPr>
          <a:xfrm>
            <a:off x="1143250" y="1206608"/>
            <a:ext cx="769398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takes a positive integer number from the user and recursively analyzes its digits to determine: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sum of its digits.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product of its digits.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Whether all digits are even or not.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 must implement at least three separate functions: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digitSum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– returns the sum of the digits.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digitProduct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product of the digits.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allEvenDigits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1 if all digits are even, otherwise 0.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Google Shape;475;p28">
            <a:extLst>
              <a:ext uri="{FF2B5EF4-FFF2-40B4-BE49-F238E27FC236}">
                <a16:creationId xmlns:a16="http://schemas.microsoft.com/office/drawing/2014/main" id="{756D1156-FD39-0F47-D7F3-DD5C3A6CAD17}"/>
              </a:ext>
            </a:extLst>
          </p:cNvPr>
          <p:cNvSpPr txBox="1">
            <a:spLocks/>
          </p:cNvSpPr>
          <p:nvPr/>
        </p:nvSpPr>
        <p:spPr>
          <a:xfrm>
            <a:off x="4572000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HW1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073E31E-73FF-9229-2685-C976A44D7483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73B19AE-F618-D286-3BAD-061CFBB361B3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078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F3AB1-C0AD-33F9-2DCE-5323C9F8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9ACB2-1AA3-8301-D105-E5A99088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50" y="582700"/>
            <a:ext cx="7290600" cy="473285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E4F4E4-FF31-5854-2E74-41BA5FD1AE32}"/>
              </a:ext>
            </a:extLst>
          </p:cNvPr>
          <p:cNvSpPr txBox="1"/>
          <p:nvPr/>
        </p:nvSpPr>
        <p:spPr>
          <a:xfrm>
            <a:off x="1143250" y="1055985"/>
            <a:ext cx="800075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performs the following tasks: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Takes a positive integer from the user.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Removes all digits that are not prime digits 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(i.e., not in {2, 3, 5, 7})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Creates a new number composed only of the prime digits in the original order.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Recursively calculates the sum of the remaining digits.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 must implement the following functions: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isPrimeDigit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d);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1 if d is a prime digit, otherwise 0.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extractPrimeDigits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new number made only of prime digits, in correct order.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sumDigitsRecursive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sum of digits of a number recursively.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449D09DA-D8D3-7117-B50A-609A5BD2C3E1}"/>
              </a:ext>
            </a:extLst>
          </p:cNvPr>
          <p:cNvSpPr txBox="1">
            <a:spLocks/>
          </p:cNvSpPr>
          <p:nvPr/>
        </p:nvSpPr>
        <p:spPr>
          <a:xfrm>
            <a:off x="4572000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HW2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6652BE5C-F5F9-6266-232E-BAA3388F5C2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C6CB9724-E4F3-5CD3-B16E-E58FE3B3FA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91312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4705103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769</TotalTime>
  <Words>679</Words>
  <Application>Microsoft Office PowerPoint</Application>
  <PresentationFormat>On-screen Show (16:9)</PresentationFormat>
  <Paragraphs>128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Cambria Math</vt:lpstr>
      <vt:lpstr>Fira Code</vt:lpstr>
      <vt:lpstr>Programming Language Workshop for Beginners by Slidesgo</vt:lpstr>
      <vt:lpstr>PowerPoint Presentation</vt:lpstr>
      <vt:lpstr>Function Implementation</vt:lpstr>
      <vt:lpstr>What is function?;</vt:lpstr>
      <vt:lpstr>What is function?;</vt:lpstr>
      <vt:lpstr>Binary and Decimal formats;</vt:lpstr>
      <vt:lpstr>The Fibonacci Series;</vt:lpstr>
      <vt:lpstr>PowerPoint Presentation</vt:lpstr>
      <vt:lpstr>PowerPoint Presentation</vt:lpstr>
      <vt:lpstr>Combination and Permutation;</vt:lpstr>
      <vt:lpstr>Combination and Permutation;</vt:lpstr>
      <vt:lpstr>Home Work</vt:lpstr>
      <vt:lpstr>Home 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14</cp:revision>
  <dcterms:modified xsi:type="dcterms:W3CDTF">2025-08-07T13:11:45Z</dcterms:modified>
</cp:coreProperties>
</file>