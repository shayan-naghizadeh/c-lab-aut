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9"/>
  </p:notesMasterIdLst>
  <p:sldIdLst>
    <p:sldId id="256" r:id="rId2"/>
    <p:sldId id="268" r:id="rId3"/>
    <p:sldId id="257" r:id="rId4"/>
    <p:sldId id="311" r:id="rId5"/>
    <p:sldId id="301" r:id="rId6"/>
    <p:sldId id="317" r:id="rId7"/>
    <p:sldId id="318" r:id="rId8"/>
    <p:sldId id="320" r:id="rId9"/>
    <p:sldId id="321" r:id="rId10"/>
    <p:sldId id="322" r:id="rId11"/>
    <p:sldId id="302" r:id="rId12"/>
    <p:sldId id="304" r:id="rId13"/>
    <p:sldId id="312" r:id="rId14"/>
    <p:sldId id="305" r:id="rId15"/>
    <p:sldId id="313" r:id="rId16"/>
    <p:sldId id="314" r:id="rId17"/>
    <p:sldId id="316" r:id="rId18"/>
  </p:sldIdLst>
  <p:sldSz cx="9144000" cy="5143500" type="screen16x9"/>
  <p:notesSz cx="6858000" cy="9144000"/>
  <p:embeddedFontLst>
    <p:embeddedFont>
      <p:font typeface="Cambria Math" panose="02040503050406030204" pitchFamily="18" charset="0"/>
      <p:regular r:id="rId20"/>
    </p:embeddedFont>
    <p:embeddedFont>
      <p:font typeface="Fira Code" panose="020B0809050000020004" pitchFamily="49" charset="0"/>
      <p:regular r:id="rId21"/>
      <p:bold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05060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4BEAB1D1-4E42-4361-B4FD-13862715D387}">
  <a:tblStyle styleId="{4BEAB1D1-4E42-4361-B4FD-13862715D38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62" d="100"/>
          <a:sy n="162" d="100"/>
        </p:scale>
        <p:origin x="14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Google Shape;811;ge7b3cc9d39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2" name="Google Shape;812;ge7b3cc9d39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842DDE1C-4E98-0865-CB77-09CA5FB708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3308E42A-C71A-77B3-5C71-97F6F8CB2C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F3575A70-B145-DA08-1DDB-2F81CABF6AD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769909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1FCFDB7F-8415-BBE7-93E9-7DF0CBFE0A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E5661E0C-59C7-0A0E-5949-24C143BDCF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FC511FC1-86F2-AC8C-A599-8836B4BF811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838435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C986BD86-A03F-4F4B-AB60-0F5C12C06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A5519F06-BEF0-905A-E155-3E2346CA15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24656811-946F-AD7F-285F-EFCCBFB5B52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7064715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2EAF4CD9-A39C-30B0-E93C-0E4C15F9F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290524AA-CB47-E01F-57EA-7036195306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F6789529-2971-DA33-A989-EF14FFAFFBB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745256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6BACC95F-D8DD-A502-3409-502BA38ADB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C1678C49-6A7D-3D35-8323-8215CA5F569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CDBF65B9-F673-6623-0867-BDC5B47F64F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7689691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FC6BC590-137D-66B5-B0F2-1FA3A29841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C1900646-734D-5706-6A05-E267C0FC0A3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763453E1-DE64-012A-7D35-B37EE179678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1958073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C5A19A62-BF95-8A4F-DCA5-6D36940072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7B5AC431-433B-F799-C61E-5A7DF5E74C9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AB627F1E-A172-67B9-2572-34D2858566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45195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0" y="0"/>
            <a:ext cx="4572000" cy="5928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1413525" y="1144250"/>
            <a:ext cx="5788800" cy="51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2231025" y="2765300"/>
            <a:ext cx="6202800" cy="46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>
                <a:solidFill>
                  <a:schemeClr val="accent3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2"/>
          </p:nvPr>
        </p:nvSpPr>
        <p:spPr>
          <a:xfrm>
            <a:off x="1788725" y="1761800"/>
            <a:ext cx="5788800" cy="46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 sz="30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4" name="Google Shape;14;p2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5" name="Google Shape;15;p2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6" name="Google Shape;16;p2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7" name="Google Shape;17;p2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8" name="Google Shape;18;p2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9" name="Google Shape;19;p2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" name="Google Shape;20;p2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1" name="Google Shape;21;p2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2" name="Google Shape;22;p2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3" name="Google Shape;23;p2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4" name="Google Shape;24;p2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5" name="Google Shape;25;p2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6" name="Google Shape;26;p2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7" name="Google Shape;27;p2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4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4"/>
          <p:cNvSpPr/>
          <p:nvPr/>
        </p:nvSpPr>
        <p:spPr>
          <a:xfrm>
            <a:off x="4572000" y="0"/>
            <a:ext cx="4572000" cy="592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51;p4"/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4"/>
          <p:cNvSpPr txBox="1">
            <a:spLocks noGrp="1"/>
          </p:cNvSpPr>
          <p:nvPr>
            <p:ph type="body" idx="1"/>
          </p:nvPr>
        </p:nvSpPr>
        <p:spPr>
          <a:xfrm>
            <a:off x="1464250" y="1063175"/>
            <a:ext cx="6969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∗"/>
              <a:defRPr sz="10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3" name="Google Shape;53;p4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4" name="Google Shape;54;p4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5" name="Google Shape;55;p4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6" name="Google Shape;56;p4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7" name="Google Shape;57;p4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8" name="Google Shape;58;p4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9" name="Google Shape;59;p4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0" name="Google Shape;60;p4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1" name="Google Shape;61;p4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2" name="Google Shape;62;p4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3" name="Google Shape;63;p4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4" name="Google Shape;64;p4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5" name="Google Shape;65;p4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6" name="Google Shape;66;p4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0"/>
          <p:cNvSpPr txBox="1">
            <a:spLocks noGrp="1"/>
          </p:cNvSpPr>
          <p:nvPr>
            <p:ph type="title"/>
          </p:nvPr>
        </p:nvSpPr>
        <p:spPr>
          <a:xfrm>
            <a:off x="710125" y="542575"/>
            <a:ext cx="3861900" cy="14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6"/>
        </a:solidFill>
        <a:effectLst/>
      </p:bgPr>
    </p:bg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">
  <p:cSld name="CUSTOM_9"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23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8" name="Google Shape;418;p23"/>
          <p:cNvSpPr/>
          <p:nvPr/>
        </p:nvSpPr>
        <p:spPr>
          <a:xfrm>
            <a:off x="457200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9" name="Google Shape;419;p23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0" name="Google Shape;420;p23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1" name="Google Shape;421;p23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2" name="Google Shape;422;p23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3" name="Google Shape;423;p23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4" name="Google Shape;424;p23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5" name="Google Shape;425;p23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6" name="Google Shape;426;p23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7" name="Google Shape;427;p23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8" name="Google Shape;428;p23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9" name="Google Shape;429;p23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0" name="Google Shape;430;p23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1" name="Google Shape;431;p23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2" name="Google Shape;432;p23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 1">
  <p:cSld name="CUSTOM_9_2"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24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5" name="Google Shape;435;p24"/>
          <p:cNvSpPr/>
          <p:nvPr/>
        </p:nvSpPr>
        <p:spPr>
          <a:xfrm>
            <a:off x="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6" name="Google Shape;436;p24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7" name="Google Shape;437;p24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8" name="Google Shape;438;p24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9" name="Google Shape;439;p24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0" name="Google Shape;440;p24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1" name="Google Shape;441;p24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2" name="Google Shape;442;p24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3" name="Google Shape;443;p24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4" name="Google Shape;444;p24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5" name="Google Shape;445;p24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6" name="Google Shape;446;p24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7" name="Google Shape;447;p24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8" name="Google Shape;448;p24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9" name="Google Shape;449;p24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accent5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Fira Code"/>
              <a:buNone/>
              <a:defRPr sz="2800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6" r:id="rId3"/>
    <p:sldLayoutId id="2147483658" r:id="rId4"/>
    <p:sldLayoutId id="2147483669" r:id="rId5"/>
    <p:sldLayoutId id="2147483670" r:id="rId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AutoShape 4">
            <a:extLst>
              <a:ext uri="{FF2B5EF4-FFF2-40B4-BE49-F238E27FC236}">
                <a16:creationId xmlns:a16="http://schemas.microsoft.com/office/drawing/2014/main" id="{73A6F7C9-409A-797F-AF51-72A58DC2B3E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87D918C-E0AC-FDBE-0A5B-BBBF853694C2}"/>
              </a:ext>
            </a:extLst>
          </p:cNvPr>
          <p:cNvPicPr>
            <a:picLocks noChangeAspect="1"/>
          </p:cNvPicPr>
          <p:nvPr/>
        </p:nvPicPr>
        <p:blipFill>
          <a:blip r:embed="rId3">
            <a:lum bright="70000" contrast="-70000"/>
          </a:blip>
          <a:stretch>
            <a:fillRect/>
          </a:stretch>
        </p:blipFill>
        <p:spPr>
          <a:xfrm>
            <a:off x="3784285" y="779086"/>
            <a:ext cx="1439504" cy="149896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1BAAFEF-2D9E-F2CE-7133-52BC8A24DCB9}"/>
              </a:ext>
            </a:extLst>
          </p:cNvPr>
          <p:cNvSpPr txBox="1"/>
          <p:nvPr/>
        </p:nvSpPr>
        <p:spPr>
          <a:xfrm>
            <a:off x="2458994" y="2468693"/>
            <a:ext cx="4226011" cy="8901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  <a:buClr>
                <a:schemeClr val="dk2"/>
              </a:buClr>
              <a:buSzPts val="1400"/>
            </a:pPr>
            <a:r>
              <a:rPr lang="en-US" sz="1200" b="1" dirty="0" err="1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Amirkabir</a:t>
            </a:r>
            <a:r>
              <a:rPr lang="en-US" sz="1200" b="1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 University of Technology </a:t>
            </a:r>
          </a:p>
          <a:p>
            <a:pPr algn="ctr">
              <a:lnSpc>
                <a:spcPct val="150000"/>
              </a:lnSpc>
              <a:buClr>
                <a:schemeClr val="dk2"/>
              </a:buClr>
              <a:buSzPts val="1400"/>
            </a:pPr>
            <a:r>
              <a:rPr lang="en-US" sz="1200" b="1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(Tehran Polytechnic)</a:t>
            </a:r>
          </a:p>
          <a:p>
            <a:pPr algn="ctr">
              <a:lnSpc>
                <a:spcPct val="150000"/>
              </a:lnSpc>
              <a:buClr>
                <a:schemeClr val="dk2"/>
              </a:buClr>
              <a:buSzPts val="1400"/>
            </a:pPr>
            <a:r>
              <a:rPr lang="en-US" sz="1200" b="1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Department of Computer Engineering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7BBED3-F08C-3E20-661F-A0EDA0FFFE9B}"/>
              </a:ext>
            </a:extLst>
          </p:cNvPr>
          <p:cNvSpPr txBox="1"/>
          <p:nvPr/>
        </p:nvSpPr>
        <p:spPr>
          <a:xfrm>
            <a:off x="4183857" y="3408151"/>
            <a:ext cx="17114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</a:rPr>
              <a:t>Function</a:t>
            </a:r>
          </a:p>
        </p:txBody>
      </p:sp>
      <p:sp>
        <p:nvSpPr>
          <p:cNvPr id="5" name="Google Shape;473;p28">
            <a:extLst>
              <a:ext uri="{FF2B5EF4-FFF2-40B4-BE49-F238E27FC236}">
                <a16:creationId xmlns:a16="http://schemas.microsoft.com/office/drawing/2014/main" id="{4565DFF7-02E5-DF80-F84F-AE9E4ED4AF1E}"/>
              </a:ext>
            </a:extLst>
          </p:cNvPr>
          <p:cNvSpPr txBox="1">
            <a:spLocks/>
          </p:cNvSpPr>
          <p:nvPr/>
        </p:nvSpPr>
        <p:spPr>
          <a:xfrm>
            <a:off x="841591" y="4683625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Google Shape;814;p39"/>
          <p:cNvSpPr txBox="1">
            <a:spLocks noGrp="1"/>
          </p:cNvSpPr>
          <p:nvPr>
            <p:ph type="title"/>
          </p:nvPr>
        </p:nvSpPr>
        <p:spPr>
          <a:xfrm>
            <a:off x="710124" y="542575"/>
            <a:ext cx="4853393" cy="14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Function Implementation</a:t>
            </a:r>
            <a:endParaRPr dirty="0">
              <a:solidFill>
                <a:schemeClr val="accent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/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accent2"/>
                </a:solidFill>
              </a:rPr>
              <a:t>What is function?</a:t>
            </a:r>
            <a:r>
              <a:rPr lang="en" sz="2400" dirty="0">
                <a:solidFill>
                  <a:schemeClr val="accent2"/>
                </a:solidFill>
              </a:rPr>
              <a:t>;</a:t>
            </a:r>
            <a:endParaRPr sz="2400"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/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/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function.c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/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6" name="Google Shape;583;p33">
            <a:extLst>
              <a:ext uri="{FF2B5EF4-FFF2-40B4-BE49-F238E27FC236}">
                <a16:creationId xmlns:a16="http://schemas.microsoft.com/office/drawing/2014/main" id="{BE0B1925-328B-2EDA-5EFE-724887B49975}"/>
              </a:ext>
            </a:extLst>
          </p:cNvPr>
          <p:cNvSpPr txBox="1"/>
          <p:nvPr/>
        </p:nvSpPr>
        <p:spPr>
          <a:xfrm>
            <a:off x="1143249" y="1014851"/>
            <a:ext cx="6307287" cy="18944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You probably know the concept of function in math.</a:t>
            </a:r>
          </a:p>
        </p:txBody>
      </p:sp>
      <p:sp>
        <p:nvSpPr>
          <p:cNvPr id="7" name="Google Shape;583;p33">
            <a:extLst>
              <a:ext uri="{FF2B5EF4-FFF2-40B4-BE49-F238E27FC236}">
                <a16:creationId xmlns:a16="http://schemas.microsoft.com/office/drawing/2014/main" id="{EBF48B63-1CA6-9DD1-E225-C55CD1A59D3F}"/>
              </a:ext>
            </a:extLst>
          </p:cNvPr>
          <p:cNvSpPr txBox="1"/>
          <p:nvPr/>
        </p:nvSpPr>
        <p:spPr>
          <a:xfrm>
            <a:off x="1302533" y="2680882"/>
            <a:ext cx="7576772" cy="18944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How could we implement functions in programming?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000" dirty="0">
              <a:solidFill>
                <a:schemeClr val="accent1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DFA206E-E2F6-CCF9-52F1-EC27A64C137D}"/>
                  </a:ext>
                </a:extLst>
              </p:cNvPr>
              <p:cNvSpPr txBox="1"/>
              <p:nvPr/>
            </p:nvSpPr>
            <p:spPr>
              <a:xfrm>
                <a:off x="7725643" y="1952611"/>
                <a:ext cx="677750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y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DFA206E-E2F6-CCF9-52F1-EC27A64C13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25643" y="1952611"/>
                <a:ext cx="677750" cy="215444"/>
              </a:xfrm>
              <a:prstGeom prst="rect">
                <a:avLst/>
              </a:prstGeom>
              <a:blipFill>
                <a:blip r:embed="rId3"/>
                <a:stretch>
                  <a:fillRect l="-16071" t="-25000" r="-10714" b="-47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1F0E70D9-D601-1768-A00F-75B8C2612527}"/>
              </a:ext>
            </a:extLst>
          </p:cNvPr>
          <p:cNvSpPr txBox="1"/>
          <p:nvPr/>
        </p:nvSpPr>
        <p:spPr>
          <a:xfrm>
            <a:off x="7357720" y="1691001"/>
            <a:ext cx="128605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Function in Math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D4AE99-B53D-96CB-4B32-72369468FBC7}"/>
              </a:ext>
            </a:extLst>
          </p:cNvPr>
          <p:cNvSpPr txBox="1"/>
          <p:nvPr/>
        </p:nvSpPr>
        <p:spPr>
          <a:xfrm>
            <a:off x="7357721" y="2302707"/>
            <a:ext cx="64302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Output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3B966F9-A97A-8DB5-63DB-4E9F35B2F86B}"/>
              </a:ext>
            </a:extLst>
          </p:cNvPr>
          <p:cNvSpPr txBox="1"/>
          <p:nvPr/>
        </p:nvSpPr>
        <p:spPr>
          <a:xfrm>
            <a:off x="8139292" y="2258102"/>
            <a:ext cx="128605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Input</a:t>
            </a:r>
          </a:p>
        </p:txBody>
      </p:sp>
      <p:cxnSp>
        <p:nvCxnSpPr>
          <p:cNvPr id="10" name="Connector: Curved 9">
            <a:extLst>
              <a:ext uri="{FF2B5EF4-FFF2-40B4-BE49-F238E27FC236}">
                <a16:creationId xmlns:a16="http://schemas.microsoft.com/office/drawing/2014/main" id="{50EF63FB-406B-C17E-7CF8-56DF537EAA61}"/>
              </a:ext>
            </a:extLst>
          </p:cNvPr>
          <p:cNvCxnSpPr>
            <a:stCxn id="5" idx="1"/>
            <a:endCxn id="2" idx="1"/>
          </p:cNvCxnSpPr>
          <p:nvPr/>
        </p:nvCxnSpPr>
        <p:spPr>
          <a:xfrm rot="10800000" flipH="1">
            <a:off x="7357721" y="2060333"/>
            <a:ext cx="367922" cy="369332"/>
          </a:xfrm>
          <a:prstGeom prst="curvedConnector3">
            <a:avLst>
              <a:gd name="adj1" fmla="val -62133"/>
            </a:avLst>
          </a:prstGeom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Connector: Curved 10">
            <a:extLst>
              <a:ext uri="{FF2B5EF4-FFF2-40B4-BE49-F238E27FC236}">
                <a16:creationId xmlns:a16="http://schemas.microsoft.com/office/drawing/2014/main" id="{2B03C25F-D6D0-B29B-9E47-F67551BBA125}"/>
              </a:ext>
            </a:extLst>
          </p:cNvPr>
          <p:cNvCxnSpPr>
            <a:cxnSpLocks/>
            <a:stCxn id="8" idx="1"/>
            <a:endCxn id="2" idx="3"/>
          </p:cNvCxnSpPr>
          <p:nvPr/>
        </p:nvCxnSpPr>
        <p:spPr>
          <a:xfrm rot="10800000" flipH="1">
            <a:off x="8139291" y="2060333"/>
            <a:ext cx="264101" cy="328574"/>
          </a:xfrm>
          <a:prstGeom prst="curvedConnector5">
            <a:avLst>
              <a:gd name="adj1" fmla="val -86558"/>
              <a:gd name="adj2" fmla="val 53512"/>
              <a:gd name="adj3" fmla="val 186558"/>
            </a:avLst>
          </a:prstGeom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4" name="Google Shape;473;p28">
            <a:extLst>
              <a:ext uri="{FF2B5EF4-FFF2-40B4-BE49-F238E27FC236}">
                <a16:creationId xmlns:a16="http://schemas.microsoft.com/office/drawing/2014/main" id="{ED1FD636-A210-B0E0-3223-1D7CC350035B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>
                <a:solidFill>
                  <a:schemeClr val="accent3"/>
                </a:solidFill>
              </a:rPr>
              <a:t>1</a:t>
            </a:r>
            <a:endParaRPr lang="en" dirty="0">
              <a:solidFill>
                <a:schemeClr val="accent3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187AE761-43CB-D5C4-A64B-AD388C7979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DA96EADB-0553-E55A-5013-C6D431FD8DA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2"/>
                </a:solidFill>
              </a:rPr>
              <a:t>What is function?</a:t>
            </a:r>
            <a:r>
              <a:rPr lang="en" dirty="0">
                <a:solidFill>
                  <a:schemeClr val="accent2"/>
                </a:solidFill>
              </a:rPr>
              <a:t>;</a:t>
            </a:r>
            <a:endParaRPr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97EBD44A-9363-E81A-5172-771D3858564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CF8CB708-7BC6-DA7B-F09D-E4DB14B6EE6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function.c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2A5139A3-62E0-6783-4D79-977BA2547281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6" name="Google Shape;583;p33">
            <a:extLst>
              <a:ext uri="{FF2B5EF4-FFF2-40B4-BE49-F238E27FC236}">
                <a16:creationId xmlns:a16="http://schemas.microsoft.com/office/drawing/2014/main" id="{06622912-764E-52AC-48FD-9ED99B05D185}"/>
              </a:ext>
            </a:extLst>
          </p:cNvPr>
          <p:cNvSpPr txBox="1"/>
          <p:nvPr/>
        </p:nvSpPr>
        <p:spPr>
          <a:xfrm>
            <a:off x="1143249" y="1014852"/>
            <a:ext cx="5636805" cy="1349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Recap the general syntax of defining a function in C as depicted in the given picture. </a:t>
            </a:r>
          </a:p>
        </p:txBody>
      </p:sp>
      <p:sp>
        <p:nvSpPr>
          <p:cNvPr id="7" name="Google Shape;583;p33">
            <a:extLst>
              <a:ext uri="{FF2B5EF4-FFF2-40B4-BE49-F238E27FC236}">
                <a16:creationId xmlns:a16="http://schemas.microsoft.com/office/drawing/2014/main" id="{FA277F5F-E1BB-4739-0148-3166126E2617}"/>
              </a:ext>
            </a:extLst>
          </p:cNvPr>
          <p:cNvSpPr txBox="1"/>
          <p:nvPr/>
        </p:nvSpPr>
        <p:spPr>
          <a:xfrm>
            <a:off x="1253419" y="3282347"/>
            <a:ext cx="6105848" cy="18944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000" dirty="0">
              <a:solidFill>
                <a:schemeClr val="accent1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What are the built-in functions(methods!) in C?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000" dirty="0">
              <a:solidFill>
                <a:schemeClr val="accent1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000" dirty="0">
              <a:solidFill>
                <a:schemeClr val="accent1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AC0982A-0F1A-BD48-BD09-6828385ABBFB}"/>
              </a:ext>
            </a:extLst>
          </p:cNvPr>
          <p:cNvCxnSpPr/>
          <p:nvPr/>
        </p:nvCxnSpPr>
        <p:spPr>
          <a:xfrm>
            <a:off x="7492906" y="2973352"/>
            <a:ext cx="20258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AA5EB454-FA43-B862-FAF7-25024933A8CD}"/>
              </a:ext>
            </a:extLst>
          </p:cNvPr>
          <p:cNvSpPr/>
          <p:nvPr/>
        </p:nvSpPr>
        <p:spPr>
          <a:xfrm>
            <a:off x="6599321" y="1828800"/>
            <a:ext cx="709861" cy="21559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2F9DA9CB-3F49-8658-6716-338D9C7AC0BA}"/>
              </a:ext>
            </a:extLst>
          </p:cNvPr>
          <p:cNvGrpSpPr/>
          <p:nvPr/>
        </p:nvGrpSpPr>
        <p:grpSpPr>
          <a:xfrm>
            <a:off x="6545179" y="1861153"/>
            <a:ext cx="2785575" cy="1888652"/>
            <a:chOff x="6406551" y="1547752"/>
            <a:chExt cx="2785575" cy="1888652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C28299D0-F24D-C94B-7825-6215D86A69CF}"/>
                </a:ext>
              </a:extLst>
            </p:cNvPr>
            <p:cNvSpPr txBox="1"/>
            <p:nvPr/>
          </p:nvSpPr>
          <p:spPr>
            <a:xfrm>
              <a:off x="6545179" y="2352174"/>
              <a:ext cx="264694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int sum ( int a, int b );</a:t>
              </a:r>
            </a:p>
          </p:txBody>
        </p: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727B02C3-7DC3-7ABC-A2A9-81539FC16F86}"/>
                </a:ext>
              </a:extLst>
            </p:cNvPr>
            <p:cNvCxnSpPr/>
            <p:nvPr/>
          </p:nvCxnSpPr>
          <p:spPr>
            <a:xfrm>
              <a:off x="6641432" y="2659951"/>
              <a:ext cx="144379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5D602F83-E9A7-6112-CBF1-E5FF3F9293F4}"/>
                </a:ext>
              </a:extLst>
            </p:cNvPr>
            <p:cNvCxnSpPr>
              <a:cxnSpLocks/>
            </p:cNvCxnSpPr>
            <p:nvPr/>
          </p:nvCxnSpPr>
          <p:spPr>
            <a:xfrm>
              <a:off x="6894095" y="2418348"/>
              <a:ext cx="282742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25F4185E-4DD5-E195-D1EE-2CE8A8D16F97}"/>
                </a:ext>
              </a:extLst>
            </p:cNvPr>
            <p:cNvCxnSpPr/>
            <p:nvPr/>
          </p:nvCxnSpPr>
          <p:spPr>
            <a:xfrm>
              <a:off x="7561847" y="2418348"/>
              <a:ext cx="132348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72DC3973-47CA-7831-F3B0-725E1E649E8A}"/>
                </a:ext>
              </a:extLst>
            </p:cNvPr>
            <p:cNvCxnSpPr/>
            <p:nvPr/>
          </p:nvCxnSpPr>
          <p:spPr>
            <a:xfrm>
              <a:off x="8199521" y="2666939"/>
              <a:ext cx="1503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DCE30276-A52D-A498-E4EE-1B37EAA489E8}"/>
                </a:ext>
              </a:extLst>
            </p:cNvPr>
            <p:cNvCxnSpPr/>
            <p:nvPr/>
          </p:nvCxnSpPr>
          <p:spPr>
            <a:xfrm>
              <a:off x="6707605" y="2659951"/>
              <a:ext cx="0" cy="32989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D1259A2-28B4-B2A7-E897-084F7898F950}"/>
                </a:ext>
              </a:extLst>
            </p:cNvPr>
            <p:cNvCxnSpPr/>
            <p:nvPr/>
          </p:nvCxnSpPr>
          <p:spPr>
            <a:xfrm>
              <a:off x="7455568" y="2659951"/>
              <a:ext cx="0" cy="32989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35D468CC-5E67-992A-739C-9E5005C46E5D}"/>
                </a:ext>
              </a:extLst>
            </p:cNvPr>
            <p:cNvCxnSpPr/>
            <p:nvPr/>
          </p:nvCxnSpPr>
          <p:spPr>
            <a:xfrm>
              <a:off x="8279732" y="2666939"/>
              <a:ext cx="0" cy="32989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B09DF10D-A1D4-81A9-ED6A-2DD903F1F784}"/>
                </a:ext>
              </a:extLst>
            </p:cNvPr>
            <p:cNvCxnSpPr/>
            <p:nvPr/>
          </p:nvCxnSpPr>
          <p:spPr>
            <a:xfrm flipV="1">
              <a:off x="7026442" y="2051384"/>
              <a:ext cx="0" cy="36696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3C2CC6C0-E33A-B64C-D6F2-1C9A54332DDC}"/>
                </a:ext>
              </a:extLst>
            </p:cNvPr>
            <p:cNvCxnSpPr/>
            <p:nvPr/>
          </p:nvCxnSpPr>
          <p:spPr>
            <a:xfrm flipV="1">
              <a:off x="7630026" y="2051384"/>
              <a:ext cx="0" cy="36696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57FF4B21-4E85-E165-7FC7-557CD07922AF}"/>
                </a:ext>
              </a:extLst>
            </p:cNvPr>
            <p:cNvSpPr txBox="1"/>
            <p:nvPr/>
          </p:nvSpPr>
          <p:spPr>
            <a:xfrm>
              <a:off x="6406551" y="2996835"/>
              <a:ext cx="607859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Return</a:t>
              </a:r>
            </a:p>
            <a:p>
              <a:r>
                <a:rPr lang="en-US" sz="1100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 Type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B7D6AA97-B4E9-5CE5-645B-79545F5DD55B}"/>
                </a:ext>
              </a:extLst>
            </p:cNvPr>
            <p:cNvSpPr txBox="1"/>
            <p:nvPr/>
          </p:nvSpPr>
          <p:spPr>
            <a:xfrm>
              <a:off x="7026442" y="3005517"/>
              <a:ext cx="880369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Parameter </a:t>
              </a:r>
            </a:p>
            <a:p>
              <a:pPr algn="ctr"/>
              <a:r>
                <a:rPr lang="en-US" sz="1100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Type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F9341A8-AC8F-EEC1-B532-12A0427D576A}"/>
                </a:ext>
              </a:extLst>
            </p:cNvPr>
            <p:cNvSpPr txBox="1"/>
            <p:nvPr/>
          </p:nvSpPr>
          <p:spPr>
            <a:xfrm>
              <a:off x="6568602" y="1547752"/>
              <a:ext cx="726481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Function</a:t>
              </a:r>
            </a:p>
            <a:p>
              <a:pPr algn="ctr"/>
              <a:r>
                <a:rPr lang="en-US" sz="1100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Name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AD1F2F9-936E-F425-CCBC-FBA2DAC0F005}"/>
                </a:ext>
              </a:extLst>
            </p:cNvPr>
            <p:cNvSpPr txBox="1"/>
            <p:nvPr/>
          </p:nvSpPr>
          <p:spPr>
            <a:xfrm>
              <a:off x="7210737" y="1570689"/>
              <a:ext cx="880369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Parameter </a:t>
              </a:r>
            </a:p>
            <a:p>
              <a:pPr algn="ctr"/>
              <a:r>
                <a:rPr lang="en-US" sz="1100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Name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A57AD5DA-E1B9-184B-5759-DF032665458E}"/>
                </a:ext>
              </a:extLst>
            </p:cNvPr>
            <p:cNvSpPr txBox="1"/>
            <p:nvPr/>
          </p:nvSpPr>
          <p:spPr>
            <a:xfrm>
              <a:off x="7921971" y="2967729"/>
              <a:ext cx="825867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Ending </a:t>
              </a:r>
            </a:p>
            <a:p>
              <a:pPr algn="ctr"/>
              <a:r>
                <a:rPr lang="en-US" sz="1100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Statement</a:t>
              </a:r>
            </a:p>
          </p:txBody>
        </p:sp>
      </p:grpSp>
      <p:sp>
        <p:nvSpPr>
          <p:cNvPr id="29" name="Google Shape;473;p28">
            <a:extLst>
              <a:ext uri="{FF2B5EF4-FFF2-40B4-BE49-F238E27FC236}">
                <a16:creationId xmlns:a16="http://schemas.microsoft.com/office/drawing/2014/main" id="{B1B33952-42DC-C106-C507-9BDE4FC0961D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2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081658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D50187AF-FDC6-B754-FBD2-F9B7FA0FA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3F68C7D2-A40A-F50A-C12F-1A89B0F8804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accent2"/>
                </a:solidFill>
              </a:rPr>
              <a:t>Binary and Decimal formats</a:t>
            </a:r>
            <a:r>
              <a:rPr lang="en" sz="2400" dirty="0">
                <a:solidFill>
                  <a:schemeClr val="accent2"/>
                </a:solidFill>
              </a:rPr>
              <a:t>;</a:t>
            </a:r>
            <a:endParaRPr sz="2400"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5EE34798-7EC2-E706-B9F9-64F7C8D7E732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179358BF-3536-51AE-5DCE-A421268F17DC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function.c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2D7E3969-DC90-73CA-05C2-2D33B2E7624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Task 1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2" name="Google Shape;583;p33">
            <a:extLst>
              <a:ext uri="{FF2B5EF4-FFF2-40B4-BE49-F238E27FC236}">
                <a16:creationId xmlns:a16="http://schemas.microsoft.com/office/drawing/2014/main" id="{1B1C0F5F-D95E-6534-9008-4271AC0CDC58}"/>
              </a:ext>
            </a:extLst>
          </p:cNvPr>
          <p:cNvSpPr txBox="1"/>
          <p:nvPr/>
        </p:nvSpPr>
        <p:spPr>
          <a:xfrm>
            <a:off x="1060931" y="1123900"/>
            <a:ext cx="7782280" cy="17146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Write a C program that takes a binary number (up to 32 bits) as input from the user and converts it to its decimal (base-10) equivalent.</a:t>
            </a:r>
          </a:p>
        </p:txBody>
      </p:sp>
      <p:sp>
        <p:nvSpPr>
          <p:cNvPr id="11" name="Google Shape;472;p28">
            <a:extLst>
              <a:ext uri="{FF2B5EF4-FFF2-40B4-BE49-F238E27FC236}">
                <a16:creationId xmlns:a16="http://schemas.microsoft.com/office/drawing/2014/main" id="{89CCD7D4-B3ED-0715-D28A-908C49C959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43250" y="2980112"/>
            <a:ext cx="5309897" cy="71966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71450" indent="-171450">
              <a:lnSpc>
                <a:spcPct val="150000"/>
              </a:lnSpc>
            </a:pPr>
            <a:endParaRPr lang="en-US" sz="1400" dirty="0">
              <a:solidFill>
                <a:schemeClr val="accent3"/>
              </a:solidFill>
            </a:endParaRPr>
          </a:p>
          <a:p>
            <a:pPr marL="171450" indent="-171450"/>
            <a:endParaRPr lang="en-US" sz="800" dirty="0">
              <a:solidFill>
                <a:schemeClr val="accent3"/>
              </a:solidFill>
            </a:endParaRPr>
          </a:p>
          <a:p>
            <a:pPr marL="0" indent="0">
              <a:buNone/>
            </a:pPr>
            <a:endParaRPr lang="en-US" sz="800" dirty="0">
              <a:solidFill>
                <a:schemeClr val="accent3"/>
              </a:solidFill>
            </a:endParaRPr>
          </a:p>
          <a:p>
            <a:pPr marL="171450" indent="-171450"/>
            <a:endParaRPr dirty="0">
              <a:solidFill>
                <a:schemeClr val="accent3"/>
              </a:solidFill>
            </a:endParaRPr>
          </a:p>
        </p:txBody>
      </p:sp>
      <p:sp>
        <p:nvSpPr>
          <p:cNvPr id="3" name="Google Shape;583;p33">
            <a:extLst>
              <a:ext uri="{FF2B5EF4-FFF2-40B4-BE49-F238E27FC236}">
                <a16:creationId xmlns:a16="http://schemas.microsoft.com/office/drawing/2014/main" id="{98D08424-995D-5E8B-2CB6-47C52B9A6271}"/>
              </a:ext>
            </a:extLst>
          </p:cNvPr>
          <p:cNvSpPr txBox="1"/>
          <p:nvPr/>
        </p:nvSpPr>
        <p:spPr>
          <a:xfrm>
            <a:off x="1268416" y="2389545"/>
            <a:ext cx="6101868" cy="17146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You should develop a function for the conversion!</a:t>
            </a:r>
          </a:p>
        </p:txBody>
      </p:sp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5CFEE1CA-73AF-3EC3-8C1F-0DAD888CBD4D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3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681977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D18763-07B3-7638-A91D-38ED200C35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400" dirty="0">
                <a:solidFill>
                  <a:schemeClr val="accent2"/>
                </a:solidFill>
              </a:rPr>
              <a:t>Using Multiple Files in C Programming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4A3FDA-2E60-69CA-19E6-11063A3E10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43250" y="1192959"/>
            <a:ext cx="6969600" cy="2517733"/>
          </a:xfrm>
        </p:spPr>
        <p:txBody>
          <a:bodyPr/>
          <a:lstStyle/>
          <a:p>
            <a:pPr marL="139700" indent="0">
              <a:buNone/>
            </a:pPr>
            <a:r>
              <a:rPr lang="en-US" sz="1400" dirty="0">
                <a:solidFill>
                  <a:schemeClr val="accent1"/>
                </a:solidFill>
              </a:rPr>
              <a:t>Why Multiple Files?</a:t>
            </a:r>
          </a:p>
          <a:p>
            <a:pPr marL="139700" indent="0">
              <a:buNone/>
            </a:pPr>
            <a:endParaRPr lang="en-US" sz="1400" dirty="0">
              <a:solidFill>
                <a:schemeClr val="accent1"/>
              </a:solidFill>
            </a:endParaRPr>
          </a:p>
          <a:p>
            <a:pPr marL="457200" lvl="1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dirty="0">
                <a:solidFill>
                  <a:schemeClr val="accent1"/>
                </a:solidFill>
              </a:rPr>
              <a:t>Keep code organized</a:t>
            </a:r>
          </a:p>
          <a:p>
            <a:pPr marL="457200" lvl="1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dirty="0">
                <a:solidFill>
                  <a:schemeClr val="accent1"/>
                </a:solidFill>
              </a:rPr>
              <a:t>Separate logic from main program</a:t>
            </a:r>
          </a:p>
          <a:p>
            <a:pPr marL="457200" lvl="1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dirty="0">
                <a:solidFill>
                  <a:schemeClr val="accent1"/>
                </a:solidFill>
              </a:rPr>
              <a:t>Easier to debug and reuse functions</a:t>
            </a:r>
          </a:p>
          <a:p>
            <a:pPr marL="457200" lvl="1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dirty="0">
                <a:solidFill>
                  <a:schemeClr val="accent1"/>
                </a:solidFill>
              </a:rPr>
              <a:t>Works better for team projects</a:t>
            </a:r>
          </a:p>
          <a:p>
            <a:pPr marL="139700" indent="0">
              <a:buNone/>
            </a:pPr>
            <a:endParaRPr lang="fa-IR" sz="1400" dirty="0">
              <a:solidFill>
                <a:schemeClr val="accent1"/>
              </a:solidFill>
              <a:sym typeface="Arial"/>
            </a:endParaRPr>
          </a:p>
          <a:p>
            <a:pPr marL="139700" indent="0">
              <a:buNone/>
            </a:pPr>
            <a:endParaRPr lang="en-US" sz="1400" dirty="0">
              <a:solidFill>
                <a:schemeClr val="accent1"/>
              </a:solidFill>
              <a:sym typeface="Arial"/>
            </a:endParaRPr>
          </a:p>
        </p:txBody>
      </p:sp>
      <p:sp>
        <p:nvSpPr>
          <p:cNvPr id="13" name="Google Shape;474;p28">
            <a:extLst>
              <a:ext uri="{FF2B5EF4-FFF2-40B4-BE49-F238E27FC236}">
                <a16:creationId xmlns:a16="http://schemas.microsoft.com/office/drawing/2014/main" id="{BB929D68-9FE4-FD6E-B014-135271BE8A28}"/>
              </a:ext>
            </a:extLst>
          </p:cNvPr>
          <p:cNvSpPr txBox="1">
            <a:spLocks/>
          </p:cNvSpPr>
          <p:nvPr/>
        </p:nvSpPr>
        <p:spPr>
          <a:xfrm>
            <a:off x="-5975" y="91525"/>
            <a:ext cx="45720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 algn="ctr">
              <a:buFont typeface="Fira Code"/>
              <a:buNone/>
            </a:pPr>
            <a:r>
              <a:rPr lang="en-US">
                <a:solidFill>
                  <a:schemeClr val="accent3"/>
                </a:solidFill>
              </a:rPr>
              <a:t>function.c</a:t>
            </a:r>
            <a:endParaRPr lang="en-US" dirty="0">
              <a:solidFill>
                <a:schemeClr val="accent3"/>
              </a:solidFill>
            </a:endParaRPr>
          </a:p>
        </p:txBody>
      </p:sp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9CE6CEAB-D48E-5FFF-9FAF-8D36B35FF97C}"/>
              </a:ext>
            </a:extLst>
          </p:cNvPr>
          <p:cNvSpPr txBox="1">
            <a:spLocks/>
          </p:cNvSpPr>
          <p:nvPr/>
        </p:nvSpPr>
        <p:spPr>
          <a:xfrm>
            <a:off x="710125" y="4694725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>
                <a:solidFill>
                  <a:schemeClr val="accent3"/>
                </a:solidFill>
              </a:rPr>
              <a:t>Programming Language Lab</a:t>
            </a:r>
            <a:endParaRPr lang="en-US" dirty="0">
              <a:solidFill>
                <a:schemeClr val="accent3"/>
              </a:solidFill>
            </a:endParaRPr>
          </a:p>
        </p:txBody>
      </p:sp>
      <p:sp>
        <p:nvSpPr>
          <p:cNvPr id="5" name="Google Shape;473;p28">
            <a:extLst>
              <a:ext uri="{FF2B5EF4-FFF2-40B4-BE49-F238E27FC236}">
                <a16:creationId xmlns:a16="http://schemas.microsoft.com/office/drawing/2014/main" id="{FE917D4A-0A60-4BF8-BCD9-65F72C5B8884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4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163348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6E3E68-A8B3-0B6C-F0F8-F84D8CCE06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9282CE-14FB-083D-616B-98C7364B21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400" dirty="0">
                <a:solidFill>
                  <a:schemeClr val="accent2"/>
                </a:solidFill>
              </a:rPr>
              <a:t>Using Multiple Files in C Programming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830DEC-CF53-9E1F-5DB3-7B5B42DC12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43250" y="1192959"/>
            <a:ext cx="7340022" cy="2517733"/>
          </a:xfrm>
        </p:spPr>
        <p:txBody>
          <a:bodyPr/>
          <a:lstStyle/>
          <a:p>
            <a:pPr marL="139700" indent="0">
              <a:buNone/>
            </a:pPr>
            <a:r>
              <a:rPr lang="en-US" sz="1400" dirty="0">
                <a:solidFill>
                  <a:schemeClr val="accent1"/>
                </a:solidFill>
              </a:rPr>
              <a:t>Basic Structure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lang="en-US" altLang="en-US" sz="1800" dirty="0">
              <a:solidFill>
                <a:schemeClr val="accent1"/>
              </a:solidFill>
              <a:latin typeface="Arial" panose="020B0604020202020204" pitchFamily="34" charset="0"/>
            </a:endParaRPr>
          </a:p>
          <a:p>
            <a:pPr marL="457200" lvl="1" indent="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altLang="en-US" sz="1800" dirty="0" err="1">
                <a:solidFill>
                  <a:schemeClr val="accent2"/>
                </a:solidFill>
              </a:rPr>
              <a:t>main.c</a:t>
            </a:r>
            <a:r>
              <a:rPr lang="en-US" altLang="en-US" sz="1800" dirty="0">
                <a:solidFill>
                  <a:schemeClr val="accent2"/>
                </a:solidFill>
              </a:rPr>
              <a:t> </a:t>
            </a:r>
            <a:r>
              <a:rPr lang="en-US" altLang="en-US" sz="1800" dirty="0">
                <a:solidFill>
                  <a:schemeClr val="accent1"/>
                </a:solidFill>
              </a:rPr>
              <a:t>– program entry point</a:t>
            </a:r>
          </a:p>
          <a:p>
            <a:pPr marL="457200" lvl="1" indent="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altLang="en-US" sz="1800" dirty="0" err="1">
                <a:solidFill>
                  <a:schemeClr val="accent2"/>
                </a:solidFill>
              </a:rPr>
              <a:t>functions.c</a:t>
            </a:r>
            <a:r>
              <a:rPr lang="en-US" altLang="en-US" sz="1800" dirty="0">
                <a:solidFill>
                  <a:schemeClr val="accent1"/>
                </a:solidFill>
              </a:rPr>
              <a:t> – function definitions</a:t>
            </a:r>
          </a:p>
          <a:p>
            <a:pPr marL="457200" lvl="1" indent="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altLang="en-US" sz="1800" dirty="0" err="1">
                <a:solidFill>
                  <a:schemeClr val="accent2"/>
                </a:solidFill>
              </a:rPr>
              <a:t>functions.h</a:t>
            </a:r>
            <a:r>
              <a:rPr lang="en-US" altLang="en-US" sz="1800" dirty="0">
                <a:solidFill>
                  <a:schemeClr val="accent1"/>
                </a:solidFill>
              </a:rPr>
              <a:t> – function declarations (prototypes)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lang="en-US" altLang="en-US" sz="1800" dirty="0">
              <a:solidFill>
                <a:schemeClr val="accent1"/>
              </a:solidFill>
              <a:latin typeface="Arial" panose="020B0604020202020204" pitchFamily="34" charset="0"/>
            </a:endParaRPr>
          </a:p>
          <a:p>
            <a:pPr marL="139700" indent="0">
              <a:buNone/>
            </a:pPr>
            <a:endParaRPr lang="fa-IR" sz="1400" dirty="0">
              <a:solidFill>
                <a:schemeClr val="accent1"/>
              </a:solidFill>
              <a:sym typeface="Arial"/>
            </a:endParaRPr>
          </a:p>
          <a:p>
            <a:pPr marL="139700" indent="0">
              <a:buNone/>
            </a:pPr>
            <a:endParaRPr lang="en-US" sz="1400" dirty="0">
              <a:solidFill>
                <a:schemeClr val="accent1"/>
              </a:solidFill>
              <a:sym typeface="Arial"/>
            </a:endParaRPr>
          </a:p>
        </p:txBody>
      </p:sp>
      <p:sp>
        <p:nvSpPr>
          <p:cNvPr id="7" name="Google Shape;474;p28">
            <a:extLst>
              <a:ext uri="{FF2B5EF4-FFF2-40B4-BE49-F238E27FC236}">
                <a16:creationId xmlns:a16="http://schemas.microsoft.com/office/drawing/2014/main" id="{7A377757-AA9D-84E8-BE2F-51D7E56B49A0}"/>
              </a:ext>
            </a:extLst>
          </p:cNvPr>
          <p:cNvSpPr txBox="1">
            <a:spLocks/>
          </p:cNvSpPr>
          <p:nvPr/>
        </p:nvSpPr>
        <p:spPr>
          <a:xfrm>
            <a:off x="-5975" y="91525"/>
            <a:ext cx="45720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 algn="ctr">
              <a:buFont typeface="Fira Code"/>
              <a:buNone/>
            </a:pPr>
            <a:r>
              <a:rPr lang="en-US">
                <a:solidFill>
                  <a:schemeClr val="accent3"/>
                </a:solidFill>
              </a:rPr>
              <a:t>function.c</a:t>
            </a:r>
            <a:endParaRPr lang="en-US" dirty="0">
              <a:solidFill>
                <a:schemeClr val="accent3"/>
              </a:solidFill>
            </a:endParaRPr>
          </a:p>
        </p:txBody>
      </p:sp>
      <p:sp>
        <p:nvSpPr>
          <p:cNvPr id="8" name="Google Shape;473;p28">
            <a:extLst>
              <a:ext uri="{FF2B5EF4-FFF2-40B4-BE49-F238E27FC236}">
                <a16:creationId xmlns:a16="http://schemas.microsoft.com/office/drawing/2014/main" id="{BF27D522-51F1-9ECB-E5F5-93F177B6768A}"/>
              </a:ext>
            </a:extLst>
          </p:cNvPr>
          <p:cNvSpPr txBox="1">
            <a:spLocks/>
          </p:cNvSpPr>
          <p:nvPr/>
        </p:nvSpPr>
        <p:spPr>
          <a:xfrm>
            <a:off x="710125" y="4694725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>
                <a:solidFill>
                  <a:schemeClr val="accent3"/>
                </a:solidFill>
              </a:rPr>
              <a:t>Programming Language Lab</a:t>
            </a:r>
            <a:endParaRPr lang="en-US" dirty="0">
              <a:solidFill>
                <a:schemeClr val="accent3"/>
              </a:solidFill>
            </a:endParaRPr>
          </a:p>
        </p:txBody>
      </p:sp>
      <p:sp>
        <p:nvSpPr>
          <p:cNvPr id="9" name="Google Shape;473;p28">
            <a:extLst>
              <a:ext uri="{FF2B5EF4-FFF2-40B4-BE49-F238E27FC236}">
                <a16:creationId xmlns:a16="http://schemas.microsoft.com/office/drawing/2014/main" id="{9EF63C60-9603-12F0-F56B-68D6EE1471DB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5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03945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139300-4733-2A04-83D4-400C59104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E8C026-8214-0894-97FA-53DDF64D6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400" dirty="0">
                <a:solidFill>
                  <a:schemeClr val="accent2"/>
                </a:solidFill>
              </a:rPr>
              <a:t>Using Multiple Files in C Programming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00AB06-653F-E964-2878-5DFDD48F4A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43250" y="1036877"/>
            <a:ext cx="7340022" cy="1409945"/>
          </a:xfrm>
        </p:spPr>
        <p:txBody>
          <a:bodyPr/>
          <a:lstStyle/>
          <a:p>
            <a:pPr marL="139700" indent="0">
              <a:buNone/>
            </a:pPr>
            <a:r>
              <a:rPr lang="en-US" sz="1800" dirty="0">
                <a:solidFill>
                  <a:schemeClr val="accent1"/>
                </a:solidFill>
              </a:rPr>
              <a:t>Example</a:t>
            </a:r>
            <a:endParaRPr lang="en-US" altLang="en-US" sz="1800" dirty="0">
              <a:solidFill>
                <a:schemeClr val="accent1"/>
              </a:solidFill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lang="en-US" altLang="en-US" sz="1800" dirty="0">
              <a:solidFill>
                <a:schemeClr val="accent1"/>
              </a:solidFill>
              <a:latin typeface="Arial" panose="020B0604020202020204" pitchFamily="34" charset="0"/>
            </a:endParaRPr>
          </a:p>
          <a:p>
            <a:pPr marL="139700" indent="0">
              <a:buNone/>
            </a:pPr>
            <a:endParaRPr lang="fa-IR" sz="1400" dirty="0">
              <a:solidFill>
                <a:schemeClr val="accent1"/>
              </a:solidFill>
              <a:sym typeface="Arial"/>
            </a:endParaRPr>
          </a:p>
          <a:p>
            <a:pPr marL="139700" indent="0">
              <a:buNone/>
            </a:pPr>
            <a:endParaRPr lang="en-US" sz="1400" dirty="0">
              <a:solidFill>
                <a:schemeClr val="accent1"/>
              </a:solidFill>
              <a:sym typeface="Arial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18D7BD7-C233-7B13-98FB-8F4615A94050}"/>
              </a:ext>
            </a:extLst>
          </p:cNvPr>
          <p:cNvSpPr/>
          <p:nvPr/>
        </p:nvSpPr>
        <p:spPr>
          <a:xfrm>
            <a:off x="1143251" y="2118255"/>
            <a:ext cx="3322562" cy="1565487"/>
          </a:xfrm>
          <a:prstGeom prst="roundRect">
            <a:avLst>
              <a:gd name="adj" fmla="val 12405"/>
            </a:avLst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>
                <a:solidFill>
                  <a:schemeClr val="tx2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#include </a:t>
            </a:r>
            <a:r>
              <a:rPr lang="en-US" sz="1100" dirty="0">
                <a:solidFill>
                  <a:srgbClr val="DBA0DB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&lt;</a:t>
            </a:r>
            <a:r>
              <a:rPr lang="en-US" sz="1100" dirty="0" err="1">
                <a:solidFill>
                  <a:srgbClr val="DBA0DB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stdio.h</a:t>
            </a:r>
            <a:r>
              <a:rPr lang="en-US" sz="1100" dirty="0">
                <a:solidFill>
                  <a:srgbClr val="DBA0DB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&gt;</a:t>
            </a:r>
          </a:p>
          <a:p>
            <a:r>
              <a:rPr lang="en-US" sz="1100" dirty="0">
                <a:solidFill>
                  <a:schemeClr val="tx2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#include </a:t>
            </a:r>
            <a:r>
              <a:rPr lang="en-US" sz="11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“</a:t>
            </a:r>
            <a:r>
              <a:rPr lang="en-US" sz="1100" dirty="0" err="1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function.h</a:t>
            </a:r>
            <a:r>
              <a:rPr lang="en-US" sz="11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"</a:t>
            </a:r>
          </a:p>
          <a:p>
            <a:endParaRPr lang="en-US" sz="1100" dirty="0">
              <a:solidFill>
                <a:srgbClr val="FF0000"/>
              </a:solidFill>
              <a:latin typeface="Fira Code" panose="020B0809050000020004" pitchFamily="49" charset="0"/>
              <a:ea typeface="Fira Code" panose="020B0809050000020004" pitchFamily="49" charset="0"/>
              <a:cs typeface="Fira Code" panose="020B0809050000020004" pitchFamily="49" charset="0"/>
            </a:endParaRPr>
          </a:p>
          <a:p>
            <a:r>
              <a:rPr lang="en-US" sz="1100" dirty="0">
                <a:solidFill>
                  <a:schemeClr val="tx2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int</a:t>
            </a:r>
            <a:r>
              <a:rPr lang="en-US" sz="11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main() {</a:t>
            </a:r>
          </a:p>
          <a:p>
            <a:r>
              <a:rPr lang="en-US" sz="11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   int a = 5, b = 3;</a:t>
            </a:r>
          </a:p>
          <a:p>
            <a:r>
              <a:rPr lang="en-US" sz="11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   </a:t>
            </a:r>
            <a:r>
              <a:rPr lang="en-US" sz="1100" dirty="0" err="1">
                <a:solidFill>
                  <a:schemeClr val="bg1">
                    <a:lumMod val="75000"/>
                  </a:schemeClr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printf</a:t>
            </a:r>
            <a:r>
              <a:rPr lang="en-US" sz="11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("Sum: %d\n", sum(a, b));</a:t>
            </a:r>
          </a:p>
          <a:p>
            <a:r>
              <a:rPr lang="en-US" sz="11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   return 0;</a:t>
            </a:r>
          </a:p>
          <a:p>
            <a:r>
              <a:rPr lang="en-US" sz="11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}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F7C1113-A159-5472-D188-483419CD8F89}"/>
              </a:ext>
            </a:extLst>
          </p:cNvPr>
          <p:cNvSpPr/>
          <p:nvPr/>
        </p:nvSpPr>
        <p:spPr>
          <a:xfrm>
            <a:off x="4521359" y="1610740"/>
            <a:ext cx="3271690" cy="457893"/>
          </a:xfrm>
          <a:prstGeom prst="roundRect">
            <a:avLst>
              <a:gd name="adj" fmla="val 26577"/>
            </a:avLst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1100" dirty="0" err="1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int</a:t>
            </a:r>
            <a:r>
              <a:rPr lang="fr-FR" sz="11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</a:t>
            </a:r>
            <a:r>
              <a:rPr lang="fr-FR" sz="1100" dirty="0" err="1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sum</a:t>
            </a:r>
            <a:r>
              <a:rPr lang="fr-FR" sz="11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(</a:t>
            </a:r>
            <a:r>
              <a:rPr lang="fr-FR" sz="1100" dirty="0" err="1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int</a:t>
            </a:r>
            <a:r>
              <a:rPr lang="fr-FR" sz="11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x, </a:t>
            </a:r>
            <a:r>
              <a:rPr lang="fr-FR" sz="1100" dirty="0" err="1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int</a:t>
            </a:r>
            <a:r>
              <a:rPr lang="fr-FR" sz="11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y);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4C24217-5896-CAF0-3E44-8111AFBBE99C}"/>
              </a:ext>
            </a:extLst>
          </p:cNvPr>
          <p:cNvSpPr/>
          <p:nvPr/>
        </p:nvSpPr>
        <p:spPr>
          <a:xfrm>
            <a:off x="5689008" y="2988022"/>
            <a:ext cx="3271690" cy="1118601"/>
          </a:xfrm>
          <a:prstGeom prst="roundRect">
            <a:avLst>
              <a:gd name="adj" fmla="val 26577"/>
            </a:avLst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#include “</a:t>
            </a:r>
            <a:r>
              <a:rPr lang="en-US" sz="1100" dirty="0" err="1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function.h</a:t>
            </a:r>
            <a:r>
              <a:rPr lang="en-US" sz="11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"</a:t>
            </a:r>
          </a:p>
          <a:p>
            <a:endParaRPr lang="en-US" sz="1100" dirty="0">
              <a:solidFill>
                <a:schemeClr val="accent1"/>
              </a:solidFill>
              <a:latin typeface="Fira Code" panose="020B0809050000020004" pitchFamily="49" charset="0"/>
              <a:ea typeface="Fira Code" panose="020B0809050000020004" pitchFamily="49" charset="0"/>
              <a:cs typeface="Fira Code" panose="020B0809050000020004" pitchFamily="49" charset="0"/>
            </a:endParaRPr>
          </a:p>
          <a:p>
            <a:r>
              <a:rPr lang="en-US" sz="11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int sum(int x, int y) {</a:t>
            </a:r>
          </a:p>
          <a:p>
            <a:r>
              <a:rPr lang="en-US" sz="11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   return x + y;</a:t>
            </a:r>
          </a:p>
          <a:p>
            <a:r>
              <a:rPr lang="en-US" sz="1100" dirty="0">
                <a:solidFill>
                  <a:schemeClr val="accent1"/>
                </a:solidFill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22CEA6-EB80-DA99-1012-6D64BFF41981}"/>
              </a:ext>
            </a:extLst>
          </p:cNvPr>
          <p:cNvSpPr txBox="1"/>
          <p:nvPr/>
        </p:nvSpPr>
        <p:spPr>
          <a:xfrm>
            <a:off x="1350951" y="1856645"/>
            <a:ext cx="10972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 err="1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main.c</a:t>
            </a:r>
            <a:endParaRPr lang="en-US" sz="1100" dirty="0">
              <a:solidFill>
                <a:schemeClr val="accent1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53A828A-ED43-003F-4197-330C01E60C23}"/>
              </a:ext>
            </a:extLst>
          </p:cNvPr>
          <p:cNvSpPr txBox="1"/>
          <p:nvPr/>
        </p:nvSpPr>
        <p:spPr>
          <a:xfrm>
            <a:off x="4572000" y="1349130"/>
            <a:ext cx="10972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 err="1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function.h</a:t>
            </a:r>
            <a:endParaRPr lang="en-US" sz="1100" dirty="0">
              <a:solidFill>
                <a:schemeClr val="accent1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C242420-C827-F010-1C1F-DBE8918B597B}"/>
              </a:ext>
            </a:extLst>
          </p:cNvPr>
          <p:cNvSpPr txBox="1"/>
          <p:nvPr/>
        </p:nvSpPr>
        <p:spPr>
          <a:xfrm>
            <a:off x="5795197" y="2726412"/>
            <a:ext cx="10972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 err="1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function.c</a:t>
            </a:r>
            <a:endParaRPr lang="en-US" sz="1100" dirty="0">
              <a:solidFill>
                <a:schemeClr val="accent1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FCB3FCA-DA58-B4FF-3EA1-98163B7BB3BD}"/>
              </a:ext>
            </a:extLst>
          </p:cNvPr>
          <p:cNvCxnSpPr>
            <a:cxnSpLocks/>
            <a:stCxn id="4" idx="3"/>
            <a:endCxn id="5" idx="2"/>
          </p:cNvCxnSpPr>
          <p:nvPr/>
        </p:nvCxnSpPr>
        <p:spPr>
          <a:xfrm flipV="1">
            <a:off x="4465813" y="2068633"/>
            <a:ext cx="1691391" cy="8323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A72C7B9-5750-ADEF-1FAF-887A16E420D4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>
            <a:off x="6157204" y="2068633"/>
            <a:ext cx="1167649" cy="9193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Google Shape;474;p28">
            <a:extLst>
              <a:ext uri="{FF2B5EF4-FFF2-40B4-BE49-F238E27FC236}">
                <a16:creationId xmlns:a16="http://schemas.microsoft.com/office/drawing/2014/main" id="{A9333CF7-8978-F911-98AE-A215DD0A6629}"/>
              </a:ext>
            </a:extLst>
          </p:cNvPr>
          <p:cNvSpPr txBox="1">
            <a:spLocks/>
          </p:cNvSpPr>
          <p:nvPr/>
        </p:nvSpPr>
        <p:spPr>
          <a:xfrm>
            <a:off x="-5975" y="91525"/>
            <a:ext cx="45720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 algn="ctr">
              <a:buFont typeface="Fira Code"/>
              <a:buNone/>
            </a:pPr>
            <a:r>
              <a:rPr lang="en-US">
                <a:solidFill>
                  <a:schemeClr val="accent3"/>
                </a:solidFill>
              </a:rPr>
              <a:t>function.c</a:t>
            </a:r>
            <a:endParaRPr lang="en-US" dirty="0">
              <a:solidFill>
                <a:schemeClr val="accent3"/>
              </a:solidFill>
            </a:endParaRPr>
          </a:p>
        </p:txBody>
      </p:sp>
      <p:sp>
        <p:nvSpPr>
          <p:cNvPr id="23" name="Google Shape;473;p28">
            <a:extLst>
              <a:ext uri="{FF2B5EF4-FFF2-40B4-BE49-F238E27FC236}">
                <a16:creationId xmlns:a16="http://schemas.microsoft.com/office/drawing/2014/main" id="{6360F934-5987-C5C8-44DC-80FFED3C1761}"/>
              </a:ext>
            </a:extLst>
          </p:cNvPr>
          <p:cNvSpPr txBox="1">
            <a:spLocks/>
          </p:cNvSpPr>
          <p:nvPr/>
        </p:nvSpPr>
        <p:spPr>
          <a:xfrm>
            <a:off x="710125" y="4694725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>
                <a:solidFill>
                  <a:schemeClr val="accent3"/>
                </a:solidFill>
              </a:rPr>
              <a:t>Programming Language Lab</a:t>
            </a:r>
            <a:endParaRPr lang="en-US" dirty="0">
              <a:solidFill>
                <a:schemeClr val="accent3"/>
              </a:solidFill>
            </a:endParaRPr>
          </a:p>
        </p:txBody>
      </p:sp>
      <p:sp>
        <p:nvSpPr>
          <p:cNvPr id="24" name="Google Shape;473;p28">
            <a:extLst>
              <a:ext uri="{FF2B5EF4-FFF2-40B4-BE49-F238E27FC236}">
                <a16:creationId xmlns:a16="http://schemas.microsoft.com/office/drawing/2014/main" id="{D96D7D1F-1BDF-C9D2-3E06-1CC20C3ACC1E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6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105451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363885-E7EF-E4CA-6D27-F100FD56AD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8EAE4B-085D-8DA0-7470-E60B0E9DB7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400" dirty="0">
                <a:solidFill>
                  <a:schemeClr val="accent2"/>
                </a:solidFill>
              </a:rPr>
              <a:t>Using Multiple Files in C Programming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F2AFFA-3186-6501-7D9C-768B16899E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93828" y="1029248"/>
            <a:ext cx="7340022" cy="2115108"/>
          </a:xfrm>
        </p:spPr>
        <p:txBody>
          <a:bodyPr/>
          <a:lstStyle/>
          <a:p>
            <a:pPr marL="139700" indent="0">
              <a:buNone/>
            </a:pPr>
            <a:r>
              <a:rPr lang="en-US" sz="1400" dirty="0">
                <a:solidFill>
                  <a:schemeClr val="accent1"/>
                </a:solidFill>
              </a:rPr>
              <a:t>How to Compile</a:t>
            </a:r>
            <a:endParaRPr lang="fa-IR" sz="1400" dirty="0">
              <a:solidFill>
                <a:schemeClr val="accent1"/>
              </a:solidFill>
            </a:endParaRPr>
          </a:p>
          <a:p>
            <a:pPr marL="139700" indent="0">
              <a:buNone/>
            </a:pPr>
            <a:endParaRPr lang="en-US" altLang="en-US" sz="1400" dirty="0">
              <a:solidFill>
                <a:schemeClr val="accent1"/>
              </a:solidFill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lang="en-US" altLang="en-US" sz="1800" dirty="0">
              <a:solidFill>
                <a:schemeClr val="accent1"/>
              </a:solidFill>
              <a:latin typeface="Arial" panose="020B0604020202020204" pitchFamily="34" charset="0"/>
            </a:endParaRPr>
          </a:p>
          <a:p>
            <a:pPr marL="139700" indent="0">
              <a:buNone/>
            </a:pPr>
            <a:endParaRPr lang="fa-IR" sz="1400" dirty="0">
              <a:solidFill>
                <a:schemeClr val="accent1"/>
              </a:solidFill>
              <a:sym typeface="Arial"/>
            </a:endParaRPr>
          </a:p>
          <a:p>
            <a:pPr marL="139700" indent="0">
              <a:buNone/>
            </a:pPr>
            <a:endParaRPr lang="en-US" sz="1400" dirty="0">
              <a:solidFill>
                <a:schemeClr val="accent1"/>
              </a:solidFill>
              <a:sym typeface="Arial"/>
            </a:endParaRPr>
          </a:p>
          <a:p>
            <a:pPr marL="139700" indent="0">
              <a:buNone/>
            </a:pPr>
            <a:endParaRPr lang="en-US" sz="1400" dirty="0">
              <a:solidFill>
                <a:schemeClr val="accent1"/>
              </a:solidFill>
              <a:sym typeface="Arial"/>
            </a:endParaRPr>
          </a:p>
          <a:p>
            <a:pPr marL="139700" indent="0">
              <a:buNone/>
            </a:pPr>
            <a:r>
              <a:rPr lang="fa-IR" sz="1400" dirty="0">
                <a:solidFill>
                  <a:schemeClr val="accent1"/>
                </a:solidFill>
                <a:sym typeface="Arial"/>
              </a:rPr>
              <a:t>    </a:t>
            </a:r>
            <a:r>
              <a:rPr lang="en-US" sz="1400" dirty="0">
                <a:solidFill>
                  <a:schemeClr val="accent1"/>
                </a:solidFill>
                <a:sym typeface="Arial"/>
              </a:rPr>
              <a:t>Or</a:t>
            </a:r>
            <a:r>
              <a:rPr lang="fa-IR" sz="1400" dirty="0">
                <a:solidFill>
                  <a:schemeClr val="accent1"/>
                </a:solidFill>
                <a:sym typeface="Arial"/>
              </a:rPr>
              <a:t> </a:t>
            </a:r>
            <a:r>
              <a:rPr lang="en-US" sz="1400" dirty="0">
                <a:solidFill>
                  <a:schemeClr val="accent1"/>
                </a:solidFill>
              </a:rPr>
              <a:t>Using </a:t>
            </a:r>
            <a:r>
              <a:rPr lang="en-US" sz="1400" dirty="0" err="1">
                <a:solidFill>
                  <a:schemeClr val="accent1"/>
                </a:solidFill>
              </a:rPr>
              <a:t>Makefile</a:t>
            </a:r>
            <a:endParaRPr lang="en-US" sz="1400" dirty="0">
              <a:solidFill>
                <a:schemeClr val="accent1"/>
              </a:solidFill>
              <a:sym typeface="Arial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D0B972A-A7F0-B052-F209-C0C629B8089B}"/>
              </a:ext>
            </a:extLst>
          </p:cNvPr>
          <p:cNvSpPr/>
          <p:nvPr/>
        </p:nvSpPr>
        <p:spPr>
          <a:xfrm>
            <a:off x="1671970" y="1704324"/>
            <a:ext cx="4805522" cy="591532"/>
          </a:xfrm>
          <a:prstGeom prst="roundRect">
            <a:avLst>
              <a:gd name="adj" fmla="val 26577"/>
            </a:avLst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fa-IR" sz="1100" dirty="0"/>
              <a:t>&amp;</a:t>
            </a:r>
            <a:r>
              <a:rPr lang="en-US" sz="1100" dirty="0"/>
              <a:t> </a:t>
            </a:r>
            <a:r>
              <a:rPr lang="en-US" sz="1100" dirty="0" err="1"/>
              <a:t>gcc</a:t>
            </a:r>
            <a:r>
              <a:rPr lang="en-US" sz="1100" dirty="0"/>
              <a:t> </a:t>
            </a:r>
            <a:r>
              <a:rPr lang="en-US" sz="1100" dirty="0" err="1"/>
              <a:t>main.c</a:t>
            </a:r>
            <a:r>
              <a:rPr lang="en-US" sz="1100" dirty="0"/>
              <a:t> </a:t>
            </a:r>
            <a:r>
              <a:rPr lang="en-US" sz="1100" dirty="0" err="1"/>
              <a:t>function.c</a:t>
            </a:r>
            <a:r>
              <a:rPr lang="en-US" sz="1100" dirty="0"/>
              <a:t> -o program</a:t>
            </a:r>
          </a:p>
          <a:p>
            <a:pPr>
              <a:lnSpc>
                <a:spcPct val="150000"/>
              </a:lnSpc>
            </a:pPr>
            <a:r>
              <a:rPr lang="fa-IR" sz="1100" dirty="0"/>
              <a:t>&amp;</a:t>
            </a:r>
            <a:r>
              <a:rPr lang="en-US" sz="1100" dirty="0"/>
              <a:t> ./program</a:t>
            </a:r>
          </a:p>
        </p:txBody>
      </p:sp>
      <p:sp>
        <p:nvSpPr>
          <p:cNvPr id="17" name="Google Shape;474;p28">
            <a:extLst>
              <a:ext uri="{FF2B5EF4-FFF2-40B4-BE49-F238E27FC236}">
                <a16:creationId xmlns:a16="http://schemas.microsoft.com/office/drawing/2014/main" id="{DAA8F2E6-BDA5-C396-E91C-08DCA9F92E44}"/>
              </a:ext>
            </a:extLst>
          </p:cNvPr>
          <p:cNvSpPr txBox="1">
            <a:spLocks/>
          </p:cNvSpPr>
          <p:nvPr/>
        </p:nvSpPr>
        <p:spPr>
          <a:xfrm>
            <a:off x="-5975" y="91525"/>
            <a:ext cx="45720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 algn="ctr">
              <a:buFont typeface="Fira Code"/>
              <a:buNone/>
            </a:pPr>
            <a:r>
              <a:rPr lang="en-US">
                <a:solidFill>
                  <a:schemeClr val="accent3"/>
                </a:solidFill>
              </a:rPr>
              <a:t>function.c</a:t>
            </a:r>
            <a:endParaRPr lang="en-US" dirty="0">
              <a:solidFill>
                <a:schemeClr val="accent3"/>
              </a:solidFill>
            </a:endParaRPr>
          </a:p>
        </p:txBody>
      </p:sp>
      <p:sp>
        <p:nvSpPr>
          <p:cNvPr id="19" name="Google Shape;473;p28">
            <a:extLst>
              <a:ext uri="{FF2B5EF4-FFF2-40B4-BE49-F238E27FC236}">
                <a16:creationId xmlns:a16="http://schemas.microsoft.com/office/drawing/2014/main" id="{ABE900DF-2EBC-E063-9DF1-242AC2752D1B}"/>
              </a:ext>
            </a:extLst>
          </p:cNvPr>
          <p:cNvSpPr txBox="1">
            <a:spLocks/>
          </p:cNvSpPr>
          <p:nvPr/>
        </p:nvSpPr>
        <p:spPr>
          <a:xfrm>
            <a:off x="710125" y="4694725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>
                <a:solidFill>
                  <a:schemeClr val="accent3"/>
                </a:solidFill>
              </a:rPr>
              <a:t>Programming Language Lab</a:t>
            </a:r>
            <a:endParaRPr lang="en-US" dirty="0">
              <a:solidFill>
                <a:schemeClr val="accent3"/>
              </a:solidFill>
            </a:endParaRPr>
          </a:p>
        </p:txBody>
      </p:sp>
      <p:sp>
        <p:nvSpPr>
          <p:cNvPr id="20" name="Google Shape;473;p28">
            <a:extLst>
              <a:ext uri="{FF2B5EF4-FFF2-40B4-BE49-F238E27FC236}">
                <a16:creationId xmlns:a16="http://schemas.microsoft.com/office/drawing/2014/main" id="{F219117A-B716-322C-A807-65C0FA854DAC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7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633388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A6E5662-4DBE-2B9E-6585-147C1553CD59}"/>
              </a:ext>
            </a:extLst>
          </p:cNvPr>
          <p:cNvSpPr/>
          <p:nvPr/>
        </p:nvSpPr>
        <p:spPr>
          <a:xfrm>
            <a:off x="1436100" y="1725088"/>
            <a:ext cx="3330578" cy="2825792"/>
          </a:xfrm>
          <a:prstGeom prst="roundRect">
            <a:avLst>
              <a:gd name="adj" fmla="val 7884"/>
            </a:avLst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en-US" sz="1050" dirty="0"/>
              <a:t>program: </a:t>
            </a:r>
            <a:r>
              <a:rPr lang="en-US" sz="1050" dirty="0" err="1"/>
              <a:t>main.o</a:t>
            </a:r>
            <a:r>
              <a:rPr lang="en-US" sz="1050" dirty="0"/>
              <a:t> </a:t>
            </a:r>
            <a:r>
              <a:rPr lang="en-US" sz="1050" dirty="0" err="1"/>
              <a:t>function.o</a:t>
            </a:r>
            <a:endParaRPr lang="en-US" sz="1050" dirty="0"/>
          </a:p>
          <a:p>
            <a:pPr>
              <a:lnSpc>
                <a:spcPct val="150000"/>
              </a:lnSpc>
            </a:pPr>
            <a:r>
              <a:rPr lang="en-US" sz="1050" dirty="0"/>
              <a:t>	</a:t>
            </a:r>
            <a:r>
              <a:rPr lang="en-US" sz="1050" dirty="0" err="1"/>
              <a:t>gcc</a:t>
            </a:r>
            <a:r>
              <a:rPr lang="en-US" sz="1050" dirty="0"/>
              <a:t> </a:t>
            </a:r>
            <a:r>
              <a:rPr lang="en-US" sz="1050" dirty="0" err="1"/>
              <a:t>main.o</a:t>
            </a:r>
            <a:r>
              <a:rPr lang="en-US" sz="1050" dirty="0"/>
              <a:t> </a:t>
            </a:r>
            <a:r>
              <a:rPr lang="en-US" sz="1050" dirty="0" err="1"/>
              <a:t>function.o</a:t>
            </a:r>
            <a:r>
              <a:rPr lang="en-US" sz="1050" dirty="0"/>
              <a:t> -o program</a:t>
            </a:r>
          </a:p>
          <a:p>
            <a:pPr>
              <a:lnSpc>
                <a:spcPct val="150000"/>
              </a:lnSpc>
            </a:pPr>
            <a:endParaRPr lang="en-US" sz="1050" dirty="0"/>
          </a:p>
          <a:p>
            <a:pPr>
              <a:lnSpc>
                <a:spcPct val="150000"/>
              </a:lnSpc>
            </a:pPr>
            <a:r>
              <a:rPr lang="en-US" sz="1050" dirty="0" err="1"/>
              <a:t>main.o</a:t>
            </a:r>
            <a:r>
              <a:rPr lang="en-US" sz="1050" dirty="0"/>
              <a:t>: </a:t>
            </a:r>
            <a:r>
              <a:rPr lang="en-US" sz="1050" dirty="0" err="1"/>
              <a:t>main.c</a:t>
            </a:r>
            <a:r>
              <a:rPr lang="en-US" sz="1050" dirty="0"/>
              <a:t> </a:t>
            </a:r>
            <a:r>
              <a:rPr lang="en-US" sz="1050" dirty="0" err="1"/>
              <a:t>function.h</a:t>
            </a:r>
            <a:endParaRPr lang="en-US" sz="1050" dirty="0"/>
          </a:p>
          <a:p>
            <a:pPr>
              <a:lnSpc>
                <a:spcPct val="150000"/>
              </a:lnSpc>
            </a:pPr>
            <a:r>
              <a:rPr lang="en-US" sz="1050" dirty="0"/>
              <a:t>	</a:t>
            </a:r>
            <a:r>
              <a:rPr lang="en-US" sz="1050" dirty="0" err="1"/>
              <a:t>gcc</a:t>
            </a:r>
            <a:r>
              <a:rPr lang="en-US" sz="1050" dirty="0"/>
              <a:t> -c </a:t>
            </a:r>
            <a:r>
              <a:rPr lang="en-US" sz="1050" dirty="0" err="1"/>
              <a:t>main.c</a:t>
            </a:r>
            <a:endParaRPr lang="en-US" sz="1050" dirty="0"/>
          </a:p>
          <a:p>
            <a:pPr>
              <a:lnSpc>
                <a:spcPct val="150000"/>
              </a:lnSpc>
            </a:pPr>
            <a:endParaRPr lang="en-US" sz="1050" dirty="0"/>
          </a:p>
          <a:p>
            <a:pPr>
              <a:lnSpc>
                <a:spcPct val="150000"/>
              </a:lnSpc>
            </a:pPr>
            <a:r>
              <a:rPr lang="en-US" sz="1050" dirty="0" err="1"/>
              <a:t>function.o</a:t>
            </a:r>
            <a:r>
              <a:rPr lang="en-US" sz="1050" dirty="0"/>
              <a:t>: </a:t>
            </a:r>
            <a:r>
              <a:rPr lang="en-US" sz="1050" dirty="0" err="1"/>
              <a:t>function.c</a:t>
            </a:r>
            <a:r>
              <a:rPr lang="en-US" sz="1050" dirty="0"/>
              <a:t> </a:t>
            </a:r>
            <a:r>
              <a:rPr lang="en-US" sz="1050" dirty="0" err="1"/>
              <a:t>function.h</a:t>
            </a:r>
            <a:endParaRPr lang="en-US" sz="1050" dirty="0"/>
          </a:p>
          <a:p>
            <a:pPr>
              <a:lnSpc>
                <a:spcPct val="150000"/>
              </a:lnSpc>
            </a:pPr>
            <a:r>
              <a:rPr lang="en-US" sz="1050" dirty="0"/>
              <a:t>	</a:t>
            </a:r>
            <a:r>
              <a:rPr lang="en-US" sz="1050" dirty="0" err="1"/>
              <a:t>gcc</a:t>
            </a:r>
            <a:r>
              <a:rPr lang="en-US" sz="1050" dirty="0"/>
              <a:t> -c </a:t>
            </a:r>
            <a:r>
              <a:rPr lang="en-US" sz="1050" dirty="0" err="1"/>
              <a:t>function.c</a:t>
            </a:r>
            <a:endParaRPr lang="en-US" sz="1050" dirty="0"/>
          </a:p>
          <a:p>
            <a:pPr>
              <a:lnSpc>
                <a:spcPct val="150000"/>
              </a:lnSpc>
            </a:pPr>
            <a:endParaRPr lang="en-US" sz="1050" dirty="0"/>
          </a:p>
          <a:p>
            <a:pPr>
              <a:lnSpc>
                <a:spcPct val="150000"/>
              </a:lnSpc>
            </a:pPr>
            <a:r>
              <a:rPr lang="en-US" sz="1050" dirty="0"/>
              <a:t>clean:</a:t>
            </a:r>
          </a:p>
          <a:p>
            <a:pPr>
              <a:lnSpc>
                <a:spcPct val="150000"/>
              </a:lnSpc>
            </a:pPr>
            <a:r>
              <a:rPr lang="en-US" sz="1050" dirty="0"/>
              <a:t>	rm *.o program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2F805720-822C-7945-7729-561974204D52}"/>
              </a:ext>
            </a:extLst>
          </p:cNvPr>
          <p:cNvSpPr txBox="1">
            <a:spLocks/>
          </p:cNvSpPr>
          <p:nvPr/>
        </p:nvSpPr>
        <p:spPr>
          <a:xfrm>
            <a:off x="1053776" y="491613"/>
            <a:ext cx="7290600" cy="54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r>
              <a:rPr lang="en-US" sz="2400">
                <a:solidFill>
                  <a:schemeClr val="accent2"/>
                </a:solidFill>
              </a:rPr>
              <a:t>Using Multiple Files in C Programming</a:t>
            </a:r>
            <a:endParaRPr lang="en-US" sz="2400" dirty="0">
              <a:solidFill>
                <a:schemeClr val="accent2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EEA9A11-0E11-78B1-AFB0-634A57024C67}"/>
              </a:ext>
            </a:extLst>
          </p:cNvPr>
          <p:cNvSpPr txBox="1"/>
          <p:nvPr/>
        </p:nvSpPr>
        <p:spPr>
          <a:xfrm>
            <a:off x="1230016" y="1032813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accent1"/>
                </a:solidFill>
              </a:rPr>
              <a:t>Example </a:t>
            </a:r>
            <a:r>
              <a:rPr lang="en-US" sz="1400" dirty="0" err="1">
                <a:solidFill>
                  <a:schemeClr val="accent1"/>
                </a:solidFill>
              </a:rPr>
              <a:t>Makefile</a:t>
            </a:r>
            <a:endParaRPr lang="en-US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DE2A1AA5-3EF3-EE30-0DB9-9638AC45FBA4}"/>
              </a:ext>
            </a:extLst>
          </p:cNvPr>
          <p:cNvSpPr/>
          <p:nvPr/>
        </p:nvSpPr>
        <p:spPr>
          <a:xfrm>
            <a:off x="5423079" y="2596784"/>
            <a:ext cx="3330578" cy="541200"/>
          </a:xfrm>
          <a:prstGeom prst="roundRect">
            <a:avLst>
              <a:gd name="adj" fmla="val 31865"/>
            </a:avLst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a-IR" sz="1050" dirty="0"/>
              <a:t>&amp; </a:t>
            </a:r>
            <a:r>
              <a:rPr lang="en-US" sz="1050" dirty="0"/>
              <a:t> make        # build program</a:t>
            </a:r>
          </a:p>
          <a:p>
            <a:r>
              <a:rPr lang="fa-IR" sz="1050" dirty="0"/>
              <a:t>&amp; </a:t>
            </a:r>
            <a:r>
              <a:rPr lang="en-US" sz="1050" dirty="0"/>
              <a:t> make clean  # remove object files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C65973A-40AE-D5AC-1E91-186DFA4B96BE}"/>
              </a:ext>
            </a:extLst>
          </p:cNvPr>
          <p:cNvSpPr txBox="1"/>
          <p:nvPr/>
        </p:nvSpPr>
        <p:spPr>
          <a:xfrm>
            <a:off x="5586688" y="2335174"/>
            <a:ext cx="10972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How To Use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F5CD5E1-7EBB-7AB2-D06E-3F380F7C0A1A}"/>
              </a:ext>
            </a:extLst>
          </p:cNvPr>
          <p:cNvSpPr txBox="1"/>
          <p:nvPr/>
        </p:nvSpPr>
        <p:spPr>
          <a:xfrm>
            <a:off x="1580042" y="1463478"/>
            <a:ext cx="10972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 err="1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Makefile</a:t>
            </a:r>
            <a:endParaRPr lang="en-US" sz="1100" dirty="0">
              <a:solidFill>
                <a:schemeClr val="accent1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6" name="Google Shape;474;p28">
            <a:extLst>
              <a:ext uri="{FF2B5EF4-FFF2-40B4-BE49-F238E27FC236}">
                <a16:creationId xmlns:a16="http://schemas.microsoft.com/office/drawing/2014/main" id="{9D90911F-4256-51F8-7DB2-6CDE0828F026}"/>
              </a:ext>
            </a:extLst>
          </p:cNvPr>
          <p:cNvSpPr txBox="1">
            <a:spLocks/>
          </p:cNvSpPr>
          <p:nvPr/>
        </p:nvSpPr>
        <p:spPr>
          <a:xfrm>
            <a:off x="-5975" y="91525"/>
            <a:ext cx="45720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 algn="ctr">
              <a:buFont typeface="Fira Code"/>
              <a:buNone/>
            </a:pPr>
            <a:r>
              <a:rPr lang="en-US">
                <a:solidFill>
                  <a:schemeClr val="accent3"/>
                </a:solidFill>
              </a:rPr>
              <a:t>function.c</a:t>
            </a:r>
            <a:endParaRPr lang="en-US" dirty="0">
              <a:solidFill>
                <a:schemeClr val="accent3"/>
              </a:solidFill>
            </a:endParaRPr>
          </a:p>
        </p:txBody>
      </p:sp>
      <p:sp>
        <p:nvSpPr>
          <p:cNvPr id="17" name="Google Shape;473;p28">
            <a:extLst>
              <a:ext uri="{FF2B5EF4-FFF2-40B4-BE49-F238E27FC236}">
                <a16:creationId xmlns:a16="http://schemas.microsoft.com/office/drawing/2014/main" id="{6690E98D-79EB-2C8C-79C9-13CAB4B2CA8B}"/>
              </a:ext>
            </a:extLst>
          </p:cNvPr>
          <p:cNvSpPr txBox="1">
            <a:spLocks/>
          </p:cNvSpPr>
          <p:nvPr/>
        </p:nvSpPr>
        <p:spPr>
          <a:xfrm>
            <a:off x="710125" y="4694725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>
                <a:solidFill>
                  <a:schemeClr val="accent3"/>
                </a:solidFill>
              </a:rPr>
              <a:t>Programming Language Lab</a:t>
            </a:r>
            <a:endParaRPr lang="en-US" dirty="0">
              <a:solidFill>
                <a:schemeClr val="accent3"/>
              </a:solidFill>
            </a:endParaRPr>
          </a:p>
        </p:txBody>
      </p:sp>
      <p:sp>
        <p:nvSpPr>
          <p:cNvPr id="19" name="Google Shape;473;p28">
            <a:extLst>
              <a:ext uri="{FF2B5EF4-FFF2-40B4-BE49-F238E27FC236}">
                <a16:creationId xmlns:a16="http://schemas.microsoft.com/office/drawing/2014/main" id="{CA0FE1E5-CB54-ACBA-A8FF-E586878B7295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8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08960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75560732-9D9B-8264-DD98-E36C9D864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534ED924-8B92-9634-7D64-E2B868C9A0A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accent2"/>
                </a:solidFill>
              </a:rPr>
              <a:t>The Fibonacci Series</a:t>
            </a:r>
            <a:r>
              <a:rPr lang="en" sz="2400" dirty="0">
                <a:solidFill>
                  <a:schemeClr val="accent2"/>
                </a:solidFill>
              </a:rPr>
              <a:t>;</a:t>
            </a:r>
            <a:endParaRPr sz="2400"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28DD3817-800E-A4F3-90A5-355C46182532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1E5BB27D-3DA3-86CE-D408-0AA17F276291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function.c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B056DB4F-849A-5272-DA79-04FBEE2D5DBF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2" name="Google Shape;583;p33">
            <a:extLst>
              <a:ext uri="{FF2B5EF4-FFF2-40B4-BE49-F238E27FC236}">
                <a16:creationId xmlns:a16="http://schemas.microsoft.com/office/drawing/2014/main" id="{7509BE81-2412-6A1F-3FC4-7312972378FB}"/>
              </a:ext>
            </a:extLst>
          </p:cNvPr>
          <p:cNvSpPr txBox="1"/>
          <p:nvPr/>
        </p:nvSpPr>
        <p:spPr>
          <a:xfrm>
            <a:off x="1159638" y="1025230"/>
            <a:ext cx="5830426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Are you familiar with this sequence?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5784322-330C-744E-9F4F-65AE6814CA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8203" y="1967172"/>
            <a:ext cx="4439797" cy="1962644"/>
          </a:xfrm>
          <a:prstGeom prst="rect">
            <a:avLst/>
          </a:prstGeom>
        </p:spPr>
      </p:pic>
      <p:sp>
        <p:nvSpPr>
          <p:cNvPr id="7" name="Google Shape;583;p33">
            <a:extLst>
              <a:ext uri="{FF2B5EF4-FFF2-40B4-BE49-F238E27FC236}">
                <a16:creationId xmlns:a16="http://schemas.microsoft.com/office/drawing/2014/main" id="{5EDB0012-86BD-FFB0-B8E9-862FB969B95C}"/>
              </a:ext>
            </a:extLst>
          </p:cNvPr>
          <p:cNvSpPr txBox="1"/>
          <p:nvPr/>
        </p:nvSpPr>
        <p:spPr>
          <a:xfrm>
            <a:off x="1159638" y="3806512"/>
            <a:ext cx="5698362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It has got many application (search for it!)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3E74B22-40C9-F162-53A9-1907B9FD85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8777" y="604637"/>
            <a:ext cx="1036468" cy="1038525"/>
          </a:xfrm>
          <a:prstGeom prst="rect">
            <a:avLst/>
          </a:prstGeom>
        </p:spPr>
      </p:pic>
      <p:sp>
        <p:nvSpPr>
          <p:cNvPr id="11" name="Google Shape;583;p33">
            <a:extLst>
              <a:ext uri="{FF2B5EF4-FFF2-40B4-BE49-F238E27FC236}">
                <a16:creationId xmlns:a16="http://schemas.microsoft.com/office/drawing/2014/main" id="{D5836D37-7B75-1655-D274-990D58AFE2B9}"/>
              </a:ext>
            </a:extLst>
          </p:cNvPr>
          <p:cNvSpPr txBox="1"/>
          <p:nvPr/>
        </p:nvSpPr>
        <p:spPr>
          <a:xfrm>
            <a:off x="7509026" y="1381881"/>
            <a:ext cx="1634974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Fibonacci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(1170-1250)</a:t>
            </a: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0CB2F702-A110-8FFF-5EBF-C6FF2BC153B9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9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186979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70E85D9A-D508-B3E2-C450-3286B5A481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8A51E955-F1AC-2599-C7A4-47DC4A6FC3DC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E8750547-4751-7995-A5D9-020F8825EDFB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decision.c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85F35F21-1618-25F2-AA74-75E023DF6D8D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Task 2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2" name="Google Shape;583;p33">
            <a:extLst>
              <a:ext uri="{FF2B5EF4-FFF2-40B4-BE49-F238E27FC236}">
                <a16:creationId xmlns:a16="http://schemas.microsoft.com/office/drawing/2014/main" id="{22D42296-5F99-5A77-1144-D736E9B69E3D}"/>
              </a:ext>
            </a:extLst>
          </p:cNvPr>
          <p:cNvSpPr txBox="1"/>
          <p:nvPr/>
        </p:nvSpPr>
        <p:spPr>
          <a:xfrm>
            <a:off x="1143250" y="1378483"/>
            <a:ext cx="7875643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Write a program implementing the </a:t>
            </a: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Fibonacci sequence,</a:t>
            </a: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 so that calculates the nth Fibonacci number.</a:t>
            </a:r>
          </a:p>
        </p:txBody>
      </p:sp>
      <p:sp>
        <p:nvSpPr>
          <p:cNvPr id="7" name="Google Shape;471;p28">
            <a:extLst>
              <a:ext uri="{FF2B5EF4-FFF2-40B4-BE49-F238E27FC236}">
                <a16:creationId xmlns:a16="http://schemas.microsoft.com/office/drawing/2014/main" id="{8B5C7E8F-4169-87FC-B94B-5A1D4073C82A}"/>
              </a:ext>
            </a:extLst>
          </p:cNvPr>
          <p:cNvSpPr txBox="1">
            <a:spLocks/>
          </p:cNvSpPr>
          <p:nvPr/>
        </p:nvSpPr>
        <p:spPr>
          <a:xfrm>
            <a:off x="1060184" y="582700"/>
            <a:ext cx="7290600" cy="54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r>
              <a:rPr lang="en-US" sz="2400" dirty="0">
                <a:solidFill>
                  <a:schemeClr val="accent2"/>
                </a:solidFill>
              </a:rPr>
              <a:t>The Fibonacci Series;</a:t>
            </a:r>
          </a:p>
        </p:txBody>
      </p:sp>
      <p:sp>
        <p:nvSpPr>
          <p:cNvPr id="14" name="Google Shape;583;p33">
            <a:extLst>
              <a:ext uri="{FF2B5EF4-FFF2-40B4-BE49-F238E27FC236}">
                <a16:creationId xmlns:a16="http://schemas.microsoft.com/office/drawing/2014/main" id="{764EE8A4-8814-9B77-487A-D3C340A072BE}"/>
              </a:ext>
            </a:extLst>
          </p:cNvPr>
          <p:cNvSpPr txBox="1"/>
          <p:nvPr/>
        </p:nvSpPr>
        <p:spPr>
          <a:xfrm>
            <a:off x="925417" y="2324152"/>
            <a:ext cx="7075333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accent2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Follow the rule which is shown in the picture!</a:t>
            </a:r>
          </a:p>
        </p:txBody>
      </p:sp>
      <p:sp>
        <p:nvSpPr>
          <p:cNvPr id="15" name="Google Shape;583;p33">
            <a:extLst>
              <a:ext uri="{FF2B5EF4-FFF2-40B4-BE49-F238E27FC236}">
                <a16:creationId xmlns:a16="http://schemas.microsoft.com/office/drawing/2014/main" id="{1ABACA95-B02A-B8BD-6BAA-2BA7C7B70C15}"/>
              </a:ext>
            </a:extLst>
          </p:cNvPr>
          <p:cNvSpPr txBox="1"/>
          <p:nvPr/>
        </p:nvSpPr>
        <p:spPr>
          <a:xfrm>
            <a:off x="1143250" y="3036604"/>
            <a:ext cx="5817355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accent2">
                  <a:lumMod val="60000"/>
                  <a:lumOff val="40000"/>
                </a:schemeClr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Implement both iterative and recursive versions!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358A8D-24C9-1CE5-7C9B-E6598D23F70C}"/>
              </a:ext>
            </a:extLst>
          </p:cNvPr>
          <p:cNvSpPr txBox="1"/>
          <p:nvPr/>
        </p:nvSpPr>
        <p:spPr>
          <a:xfrm>
            <a:off x="7374383" y="3058962"/>
            <a:ext cx="14304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0 1 1 2 3 5</a:t>
            </a:r>
          </a:p>
        </p:txBody>
      </p:sp>
      <p:sp>
        <p:nvSpPr>
          <p:cNvPr id="4" name="Arc 3">
            <a:extLst>
              <a:ext uri="{FF2B5EF4-FFF2-40B4-BE49-F238E27FC236}">
                <a16:creationId xmlns:a16="http://schemas.microsoft.com/office/drawing/2014/main" id="{F585711A-F297-8657-3FAA-38713C4738A1}"/>
              </a:ext>
            </a:extLst>
          </p:cNvPr>
          <p:cNvSpPr/>
          <p:nvPr/>
        </p:nvSpPr>
        <p:spPr>
          <a:xfrm>
            <a:off x="7480382" y="2902482"/>
            <a:ext cx="194679" cy="412319"/>
          </a:xfrm>
          <a:prstGeom prst="arc">
            <a:avLst>
              <a:gd name="adj1" fmla="val 10696472"/>
              <a:gd name="adj2" fmla="val 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E18B0D0-868E-A275-D53C-08F8F7F66280}"/>
              </a:ext>
            </a:extLst>
          </p:cNvPr>
          <p:cNvCxnSpPr/>
          <p:nvPr/>
        </p:nvCxnSpPr>
        <p:spPr>
          <a:xfrm flipV="1">
            <a:off x="7562973" y="2625213"/>
            <a:ext cx="0" cy="2772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3F76FD8F-9389-CF75-4E3D-7AF15B28A998}"/>
              </a:ext>
            </a:extLst>
          </p:cNvPr>
          <p:cNvSpPr txBox="1"/>
          <p:nvPr/>
        </p:nvSpPr>
        <p:spPr>
          <a:xfrm>
            <a:off x="7285519" y="2413068"/>
            <a:ext cx="143046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Default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01FFB1F-A61B-9E9A-E9ED-E1FA10DC6487}"/>
              </a:ext>
            </a:extLst>
          </p:cNvPr>
          <p:cNvSpPr txBox="1"/>
          <p:nvPr/>
        </p:nvSpPr>
        <p:spPr>
          <a:xfrm>
            <a:off x="7396386" y="3304747"/>
            <a:ext cx="16225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0 + 1 = 1</a:t>
            </a:r>
          </a:p>
          <a:p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     1 + 1 = 2</a:t>
            </a:r>
          </a:p>
          <a:p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           1 + 2 = 3</a:t>
            </a:r>
          </a:p>
          <a:p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                 2 + 3 = 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246AB6-9283-F5D7-D9E0-3DB18F31EA83}"/>
              </a:ext>
            </a:extLst>
          </p:cNvPr>
          <p:cNvSpPr txBox="1"/>
          <p:nvPr/>
        </p:nvSpPr>
        <p:spPr>
          <a:xfrm>
            <a:off x="7079360" y="2208074"/>
            <a:ext cx="143046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Fibonacci Series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D21A74F-1B84-1BA1-61CF-E754A70DDBA6}"/>
              </a:ext>
            </a:extLst>
          </p:cNvPr>
          <p:cNvSpPr/>
          <p:nvPr/>
        </p:nvSpPr>
        <p:spPr>
          <a:xfrm>
            <a:off x="6858000" y="2208074"/>
            <a:ext cx="2160893" cy="2015864"/>
          </a:xfrm>
          <a:prstGeom prst="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Google Shape;473;p28">
            <a:extLst>
              <a:ext uri="{FF2B5EF4-FFF2-40B4-BE49-F238E27FC236}">
                <a16:creationId xmlns:a16="http://schemas.microsoft.com/office/drawing/2014/main" id="{121C87EF-BDED-B315-4041-67503447B1B9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7099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10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54830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3C6898F5-D3E4-A236-D13A-F70AE8EE8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0A7F7B59-A7E4-D1AE-5972-1CADFE243840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F27F75E4-3DC3-EEE2-2F66-9C1168B130FF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function.c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1CACCF6A-9083-16D5-2284-22C4B5329857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Task 2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2" name="Google Shape;583;p33">
            <a:extLst>
              <a:ext uri="{FF2B5EF4-FFF2-40B4-BE49-F238E27FC236}">
                <a16:creationId xmlns:a16="http://schemas.microsoft.com/office/drawing/2014/main" id="{C01AFE0C-0CF3-4978-DBB1-02D4E7E89C0B}"/>
              </a:ext>
            </a:extLst>
          </p:cNvPr>
          <p:cNvSpPr txBox="1"/>
          <p:nvPr/>
        </p:nvSpPr>
        <p:spPr>
          <a:xfrm>
            <a:off x="1143250" y="1378483"/>
            <a:ext cx="7482957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000" dirty="0">
              <a:solidFill>
                <a:schemeClr val="accent1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7" name="Google Shape;471;p28">
            <a:extLst>
              <a:ext uri="{FF2B5EF4-FFF2-40B4-BE49-F238E27FC236}">
                <a16:creationId xmlns:a16="http://schemas.microsoft.com/office/drawing/2014/main" id="{010FB26D-EE97-1C34-3F0A-FD46FF096B25}"/>
              </a:ext>
            </a:extLst>
          </p:cNvPr>
          <p:cNvSpPr txBox="1">
            <a:spLocks/>
          </p:cNvSpPr>
          <p:nvPr/>
        </p:nvSpPr>
        <p:spPr>
          <a:xfrm>
            <a:off x="1060184" y="582700"/>
            <a:ext cx="7290600" cy="54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r>
              <a:rPr lang="en-US" sz="2400" dirty="0">
                <a:solidFill>
                  <a:schemeClr val="accent2"/>
                </a:solidFill>
              </a:rPr>
              <a:t>The Fibonacci Series;</a:t>
            </a:r>
          </a:p>
        </p:txBody>
      </p:sp>
      <p:sp>
        <p:nvSpPr>
          <p:cNvPr id="11" name="Google Shape;583;p33">
            <a:extLst>
              <a:ext uri="{FF2B5EF4-FFF2-40B4-BE49-F238E27FC236}">
                <a16:creationId xmlns:a16="http://schemas.microsoft.com/office/drawing/2014/main" id="{3392F946-AD1F-1C86-7D9F-20C77D7999A5}"/>
              </a:ext>
            </a:extLst>
          </p:cNvPr>
          <p:cNvSpPr txBox="1"/>
          <p:nvPr/>
        </p:nvSpPr>
        <p:spPr>
          <a:xfrm>
            <a:off x="912942" y="925754"/>
            <a:ext cx="7585084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Which version is faster as the size of the input grows? Why?</a:t>
            </a:r>
          </a:p>
        </p:txBody>
      </p:sp>
      <p:pic>
        <p:nvPicPr>
          <p:cNvPr id="5122" name="Picture 2" descr="What is Fibonacci Series in C: Mathematical and Programming Interpretation  | Simplilearn">
            <a:extLst>
              <a:ext uri="{FF2B5EF4-FFF2-40B4-BE49-F238E27FC236}">
                <a16:creationId xmlns:a16="http://schemas.microsoft.com/office/drawing/2014/main" id="{B551A3B7-9669-5847-081A-B6DBB88DAE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9766" y="1794581"/>
            <a:ext cx="4599259" cy="21457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Google Shape;583;p33">
            <a:extLst>
              <a:ext uri="{FF2B5EF4-FFF2-40B4-BE49-F238E27FC236}">
                <a16:creationId xmlns:a16="http://schemas.microsoft.com/office/drawing/2014/main" id="{03D2DA33-B065-A291-3C95-9FFECFE1B78C}"/>
              </a:ext>
            </a:extLst>
          </p:cNvPr>
          <p:cNvSpPr txBox="1"/>
          <p:nvPr/>
        </p:nvSpPr>
        <p:spPr>
          <a:xfrm>
            <a:off x="1060184" y="3872318"/>
            <a:ext cx="8440378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l" rtl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Try out different size of values for the input of both versions. </a:t>
            </a: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ABB8A928-06F3-75FF-0E55-CF39CD492595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97328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11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607988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9320756E-7583-EC87-938E-AC13F17D3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2EF60AD5-24C1-26B6-45CF-843580D4D54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solidFill>
                  <a:schemeClr val="accent2"/>
                </a:solidFill>
              </a:rPr>
              <a:t>Combination and Permutation;</a:t>
            </a:r>
            <a:endParaRPr sz="2400"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DE382026-4314-60F7-48B7-A465F318BDD1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A0DDC9C0-E8EF-8047-695F-69870221D324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function.c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F04F849B-41E4-D461-4304-5C6912B7D8F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Task 3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" name="Google Shape;583;p33">
            <a:extLst>
              <a:ext uri="{FF2B5EF4-FFF2-40B4-BE49-F238E27FC236}">
                <a16:creationId xmlns:a16="http://schemas.microsoft.com/office/drawing/2014/main" id="{196A4EC0-4AC0-FC13-6EF6-6A37C57ADABF}"/>
              </a:ext>
            </a:extLst>
          </p:cNvPr>
          <p:cNvSpPr txBox="1"/>
          <p:nvPr/>
        </p:nvSpPr>
        <p:spPr>
          <a:xfrm>
            <a:off x="1244836" y="1428577"/>
            <a:ext cx="7651391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You might be familiar with factorial concept in math!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000" dirty="0">
              <a:solidFill>
                <a:schemeClr val="accent1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lvl="0" algn="just"/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Which is the foundation of combination and permutation.             </a:t>
            </a: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(As shown in the picture!)</a:t>
            </a:r>
            <a:endParaRPr lang="en-US" dirty="0">
              <a:solidFill>
                <a:schemeClr val="accent1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   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F62006F-17D6-D7E6-AED1-030E3DE818DA}"/>
                  </a:ext>
                </a:extLst>
              </p:cNvPr>
              <p:cNvSpPr txBox="1"/>
              <p:nvPr/>
            </p:nvSpPr>
            <p:spPr>
              <a:xfrm>
                <a:off x="3659360" y="2863117"/>
                <a:ext cx="1415772" cy="4415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!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)!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F62006F-17D6-D7E6-AED1-030E3DE818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9360" y="2863117"/>
                <a:ext cx="1415772" cy="441531"/>
              </a:xfrm>
              <a:prstGeom prst="rect">
                <a:avLst/>
              </a:prstGeom>
              <a:blipFill>
                <a:blip r:embed="rId3"/>
                <a:stretch>
                  <a:fillRect l="-2146" t="-1389" r="-1717"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Google Shape;473;p28">
            <a:extLst>
              <a:ext uri="{FF2B5EF4-FFF2-40B4-BE49-F238E27FC236}">
                <a16:creationId xmlns:a16="http://schemas.microsoft.com/office/drawing/2014/main" id="{02235CF0-6541-95E3-2888-292BC07BCE0E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9158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12</a:t>
            </a:r>
            <a:endParaRPr lang="en" dirty="0">
              <a:solidFill>
                <a:schemeClr val="accent3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42C37BA-9679-1C05-7126-27512DA9B192}"/>
                  </a:ext>
                </a:extLst>
              </p:cNvPr>
              <p:cNvSpPr txBox="1"/>
              <p:nvPr/>
            </p:nvSpPr>
            <p:spPr>
              <a:xfrm>
                <a:off x="3659360" y="3538192"/>
                <a:ext cx="1415772" cy="4415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!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)!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42C37BA-9679-1C05-7126-27512DA9B1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9360" y="3538192"/>
                <a:ext cx="1415772" cy="441531"/>
              </a:xfrm>
              <a:prstGeom prst="rect">
                <a:avLst/>
              </a:prstGeom>
              <a:blipFill>
                <a:blip r:embed="rId4"/>
                <a:stretch>
                  <a:fillRect l="-2146" r="-1717" b="-164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>
            <a:extLst>
              <a:ext uri="{FF2B5EF4-FFF2-40B4-BE49-F238E27FC236}">
                <a16:creationId xmlns:a16="http://schemas.microsoft.com/office/drawing/2014/main" id="{4FD56EB8-9BA4-4915-D2D1-93C4AF68941A}"/>
              </a:ext>
            </a:extLst>
          </p:cNvPr>
          <p:cNvSpPr/>
          <p:nvPr/>
        </p:nvSpPr>
        <p:spPr>
          <a:xfrm>
            <a:off x="3344893" y="2694370"/>
            <a:ext cx="2160893" cy="1579311"/>
          </a:xfrm>
          <a:prstGeom prst="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06540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AAAE5630-0D4E-F8DF-08A2-30A0C4DD9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40DE6ED3-E856-171C-D3B4-E4B39BE675B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solidFill>
                  <a:schemeClr val="accent2"/>
                </a:solidFill>
              </a:rPr>
              <a:t>Combination and Permutation;</a:t>
            </a:r>
            <a:endParaRPr sz="2400"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62CF8C2E-317A-F5D8-6BFD-1EF8CD4CBB20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ACD40946-0774-C022-6D50-1AF567880B72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function.c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8CC720A0-54C1-4B4A-06F2-A6E1B8064CA5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Task 3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" name="Google Shape;583;p33">
            <a:extLst>
              <a:ext uri="{FF2B5EF4-FFF2-40B4-BE49-F238E27FC236}">
                <a16:creationId xmlns:a16="http://schemas.microsoft.com/office/drawing/2014/main" id="{832461F6-57EC-A67C-92A2-C4274B4278A9}"/>
              </a:ext>
            </a:extLst>
          </p:cNvPr>
          <p:cNvSpPr txBox="1"/>
          <p:nvPr/>
        </p:nvSpPr>
        <p:spPr>
          <a:xfrm>
            <a:off x="1143250" y="1572296"/>
            <a:ext cx="5347278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Develop a program implementing combination and permutation.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000" dirty="0">
              <a:solidFill>
                <a:schemeClr val="accent1"/>
              </a:solidFill>
              <a:latin typeface="Fira Code"/>
              <a:ea typeface="Fira Code"/>
              <a:cs typeface="Fira Code"/>
              <a:sym typeface="Fira Code"/>
            </a:endParaRPr>
          </a:p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You should have functions for calculating factorial and permutation and combination. </a:t>
            </a:r>
          </a:p>
        </p:txBody>
      </p:sp>
      <p:sp>
        <p:nvSpPr>
          <p:cNvPr id="2" name="Google Shape;473;p28">
            <a:extLst>
              <a:ext uri="{FF2B5EF4-FFF2-40B4-BE49-F238E27FC236}">
                <a16:creationId xmlns:a16="http://schemas.microsoft.com/office/drawing/2014/main" id="{85D56137-DFFF-4C12-1866-DB69C835A662}"/>
              </a:ext>
            </a:extLst>
          </p:cNvPr>
          <p:cNvSpPr txBox="1">
            <a:spLocks/>
          </p:cNvSpPr>
          <p:nvPr/>
        </p:nvSpPr>
        <p:spPr>
          <a:xfrm>
            <a:off x="1283817" y="3646397"/>
            <a:ext cx="7009465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Clr>
                <a:srgbClr val="FF0000"/>
              </a:buClr>
              <a:buNone/>
            </a:pPr>
            <a:r>
              <a:rPr lang="en-US" sz="1200" dirty="0">
                <a:solidFill>
                  <a:srgbClr val="FF0000"/>
                </a:solidFill>
              </a:rPr>
              <a:t>According to the relation, notice that there are two inputs!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C362DCF-51F0-0F7E-925E-BEB1E6A634EA}"/>
                  </a:ext>
                </a:extLst>
              </p:cNvPr>
              <p:cNvSpPr txBox="1"/>
              <p:nvPr/>
            </p:nvSpPr>
            <p:spPr>
              <a:xfrm>
                <a:off x="6921181" y="1404762"/>
                <a:ext cx="1586268" cy="4415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!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!(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)!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C362DCF-51F0-0F7E-925E-BEB1E6A634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21181" y="1404762"/>
                <a:ext cx="1586268" cy="441531"/>
              </a:xfrm>
              <a:prstGeom prst="rect">
                <a:avLst/>
              </a:prstGeom>
              <a:blipFill>
                <a:blip r:embed="rId3"/>
                <a:stretch>
                  <a:fillRect l="-1916" r="-1533" b="-164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390E7DD-931B-07E2-3B95-D7285F71F0E5}"/>
                  </a:ext>
                </a:extLst>
              </p:cNvPr>
              <p:cNvSpPr txBox="1"/>
              <p:nvPr/>
            </p:nvSpPr>
            <p:spPr>
              <a:xfrm>
                <a:off x="7006429" y="2079837"/>
                <a:ext cx="1415772" cy="4415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!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)!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390E7DD-931B-07E2-3B95-D7285F71F0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6429" y="2079837"/>
                <a:ext cx="1415772" cy="441531"/>
              </a:xfrm>
              <a:prstGeom prst="rect">
                <a:avLst/>
              </a:prstGeom>
              <a:blipFill>
                <a:blip r:embed="rId4"/>
                <a:stretch>
                  <a:fillRect l="-2146" r="-1717" b="-164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>
            <a:extLst>
              <a:ext uri="{FF2B5EF4-FFF2-40B4-BE49-F238E27FC236}">
                <a16:creationId xmlns:a16="http://schemas.microsoft.com/office/drawing/2014/main" id="{6C08E78D-ABB0-34C3-3FAA-098B300D6159}"/>
              </a:ext>
            </a:extLst>
          </p:cNvPr>
          <p:cNvSpPr/>
          <p:nvPr/>
        </p:nvSpPr>
        <p:spPr>
          <a:xfrm>
            <a:off x="6691962" y="1236015"/>
            <a:ext cx="2160893" cy="1579311"/>
          </a:xfrm>
          <a:prstGeom prst="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Google Shape;473;p28">
            <a:extLst>
              <a:ext uri="{FF2B5EF4-FFF2-40B4-BE49-F238E27FC236}">
                <a16:creationId xmlns:a16="http://schemas.microsoft.com/office/drawing/2014/main" id="{33A37BFE-B7BD-746E-2603-02EF12E00D01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41900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13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248805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C0293F-8CBC-0A8A-0069-B8BAA092E1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250" y="582700"/>
            <a:ext cx="7290600" cy="473285"/>
          </a:xfrm>
        </p:spPr>
        <p:txBody>
          <a:bodyPr/>
          <a:lstStyle/>
          <a:p>
            <a:r>
              <a:rPr lang="en-US" sz="2400" dirty="0">
                <a:solidFill>
                  <a:schemeClr val="accent2"/>
                </a:solidFill>
              </a:rPr>
              <a:t>Homework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D8263E-E3A7-243F-FD76-792602698A73}"/>
              </a:ext>
            </a:extLst>
          </p:cNvPr>
          <p:cNvSpPr txBox="1"/>
          <p:nvPr/>
        </p:nvSpPr>
        <p:spPr>
          <a:xfrm>
            <a:off x="1143250" y="1206608"/>
            <a:ext cx="7693984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Write a C program that takes a positive integer number from the user and recursively analyzes its digits to determine:</a:t>
            </a:r>
            <a:endParaRPr lang="fa-IR" altLang="en-US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lang="en-US" altLang="en-US" dirty="0">
                <a:solidFill>
                  <a:schemeClr val="accent2"/>
                </a:solidFill>
                <a:latin typeface="Fira Code"/>
                <a:ea typeface="Fira Code"/>
                <a:cs typeface="Fira Code"/>
              </a:rPr>
              <a:t>The sum of its digits.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r>
              <a:rPr lang="en-US" altLang="en-US" dirty="0">
                <a:solidFill>
                  <a:schemeClr val="accent2"/>
                </a:solidFill>
                <a:latin typeface="Fira Code"/>
                <a:ea typeface="Fira Code"/>
                <a:cs typeface="Fira Code"/>
              </a:rPr>
              <a:t>The product of its digits.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3"/>
              <a:tabLst/>
            </a:pPr>
            <a:r>
              <a:rPr lang="en-US" altLang="en-US" dirty="0">
                <a:solidFill>
                  <a:schemeClr val="accent2"/>
                </a:solidFill>
                <a:latin typeface="Fira Code"/>
                <a:ea typeface="Fira Code"/>
                <a:cs typeface="Fira Code"/>
              </a:rPr>
              <a:t>Whether all digits are even or not</a:t>
            </a: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.</a:t>
            </a:r>
            <a:endParaRPr lang="fa-IR" altLang="en-US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3"/>
              <a:tabLst/>
            </a:pPr>
            <a:endParaRPr lang="en-US" altLang="en-US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You must implement at least three separate functions:</a:t>
            </a:r>
            <a:endParaRPr lang="fa-IR" altLang="en-US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marL="0" marR="0" lvl="0" indent="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dirty="0">
                <a:solidFill>
                  <a:schemeClr val="accent2"/>
                </a:solidFill>
                <a:latin typeface="Fira Code"/>
                <a:ea typeface="Fira Code"/>
                <a:cs typeface="Fira Code"/>
              </a:rPr>
              <a:t>int </a:t>
            </a:r>
            <a:r>
              <a:rPr lang="en-US" altLang="en-US" b="1" dirty="0" err="1">
                <a:solidFill>
                  <a:schemeClr val="accent2"/>
                </a:solidFill>
                <a:latin typeface="Fira Code"/>
                <a:ea typeface="Fira Code"/>
                <a:cs typeface="Fira Code"/>
              </a:rPr>
              <a:t>digitSum</a:t>
            </a:r>
            <a:r>
              <a:rPr lang="en-US" altLang="en-US" b="1" dirty="0">
                <a:solidFill>
                  <a:schemeClr val="accent2"/>
                </a:solidFill>
                <a:latin typeface="Fira Code"/>
                <a:ea typeface="Fira Code"/>
                <a:cs typeface="Fira Code"/>
              </a:rPr>
              <a:t>(int n);</a:t>
            </a:r>
            <a:r>
              <a:rPr lang="en-US" altLang="en-US" dirty="0">
                <a:solidFill>
                  <a:schemeClr val="accent2"/>
                </a:solidFill>
                <a:latin typeface="Fira Code"/>
                <a:ea typeface="Fira Code"/>
                <a:cs typeface="Fira Code"/>
              </a:rPr>
              <a:t> – </a:t>
            </a: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returns the sum of the digits.</a:t>
            </a:r>
          </a:p>
          <a:p>
            <a:pPr marL="0" marR="0" lvl="0" indent="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dirty="0">
                <a:solidFill>
                  <a:schemeClr val="accent2"/>
                </a:solidFill>
                <a:latin typeface="Fira Code"/>
                <a:ea typeface="Fira Code"/>
                <a:cs typeface="Fira Code"/>
              </a:rPr>
              <a:t>int </a:t>
            </a:r>
            <a:r>
              <a:rPr lang="en-US" altLang="en-US" b="1" dirty="0" err="1">
                <a:solidFill>
                  <a:schemeClr val="accent2"/>
                </a:solidFill>
                <a:latin typeface="Fira Code"/>
                <a:ea typeface="Fira Code"/>
                <a:cs typeface="Fira Code"/>
              </a:rPr>
              <a:t>digitProduct</a:t>
            </a:r>
            <a:r>
              <a:rPr lang="en-US" altLang="en-US" b="1" dirty="0">
                <a:solidFill>
                  <a:schemeClr val="accent2"/>
                </a:solidFill>
                <a:latin typeface="Fira Code"/>
                <a:ea typeface="Fira Code"/>
                <a:cs typeface="Fira Code"/>
              </a:rPr>
              <a:t>(int n); </a:t>
            </a:r>
            <a:r>
              <a:rPr lang="en-US" altLang="en-US" dirty="0">
                <a:solidFill>
                  <a:schemeClr val="accent2"/>
                </a:solidFill>
                <a:latin typeface="Fira Code"/>
                <a:ea typeface="Fira Code"/>
                <a:cs typeface="Fira Code"/>
              </a:rPr>
              <a:t>– </a:t>
            </a: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returns the product of the digits.</a:t>
            </a:r>
          </a:p>
          <a:p>
            <a:pPr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dirty="0">
                <a:solidFill>
                  <a:schemeClr val="accent2"/>
                </a:solidFill>
                <a:latin typeface="Fira Code"/>
                <a:ea typeface="Fira Code"/>
                <a:cs typeface="Fira Code"/>
              </a:rPr>
              <a:t>int </a:t>
            </a:r>
            <a:r>
              <a:rPr lang="en-US" altLang="en-US" b="1" dirty="0" err="1">
                <a:solidFill>
                  <a:schemeClr val="accent2"/>
                </a:solidFill>
                <a:latin typeface="Fira Code"/>
                <a:ea typeface="Fira Code"/>
                <a:cs typeface="Fira Code"/>
              </a:rPr>
              <a:t>allEvenDigits</a:t>
            </a:r>
            <a:r>
              <a:rPr lang="en-US" altLang="en-US" b="1" dirty="0">
                <a:solidFill>
                  <a:schemeClr val="accent2"/>
                </a:solidFill>
                <a:latin typeface="Fira Code"/>
                <a:ea typeface="Fira Code"/>
                <a:cs typeface="Fira Code"/>
              </a:rPr>
              <a:t>(int n); </a:t>
            </a:r>
            <a:r>
              <a:rPr lang="en-US" altLang="en-US" dirty="0">
                <a:solidFill>
                  <a:schemeClr val="accent2"/>
                </a:solidFill>
                <a:latin typeface="Fira Code"/>
                <a:ea typeface="Fira Code"/>
                <a:cs typeface="Fira Code"/>
              </a:rPr>
              <a:t>– </a:t>
            </a: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returns 1 if all digits are even, otherwise 0.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accent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Google Shape;475;p28">
            <a:extLst>
              <a:ext uri="{FF2B5EF4-FFF2-40B4-BE49-F238E27FC236}">
                <a16:creationId xmlns:a16="http://schemas.microsoft.com/office/drawing/2014/main" id="{756D1156-FD39-0F47-D7F3-DD5C3A6CAD17}"/>
              </a:ext>
            </a:extLst>
          </p:cNvPr>
          <p:cNvSpPr txBox="1">
            <a:spLocks/>
          </p:cNvSpPr>
          <p:nvPr/>
        </p:nvSpPr>
        <p:spPr>
          <a:xfrm>
            <a:off x="4572000" y="91525"/>
            <a:ext cx="45720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 algn="ctr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HW1</a:t>
            </a: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8073E31E-73FF-9229-2685-C976A44D7483}"/>
              </a:ext>
            </a:extLst>
          </p:cNvPr>
          <p:cNvSpPr txBox="1">
            <a:spLocks/>
          </p:cNvSpPr>
          <p:nvPr/>
        </p:nvSpPr>
        <p:spPr>
          <a:xfrm>
            <a:off x="710125" y="4694725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>
                <a:solidFill>
                  <a:schemeClr val="accent3"/>
                </a:solidFill>
              </a:rPr>
              <a:t>Programming Language Lab</a:t>
            </a:r>
            <a:endParaRPr lang="en-US" dirty="0">
              <a:solidFill>
                <a:schemeClr val="accent3"/>
              </a:solidFill>
            </a:endParaRPr>
          </a:p>
        </p:txBody>
      </p:sp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073B19AE-F618-D286-3BAD-061CFBB361B3}"/>
              </a:ext>
            </a:extLst>
          </p:cNvPr>
          <p:cNvSpPr txBox="1">
            <a:spLocks/>
          </p:cNvSpPr>
          <p:nvPr/>
        </p:nvSpPr>
        <p:spPr>
          <a:xfrm>
            <a:off x="8433850" y="4694675"/>
            <a:ext cx="633457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sz="1100" dirty="0">
                <a:solidFill>
                  <a:schemeClr val="accent3"/>
                </a:solidFill>
              </a:rPr>
              <a:t>14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730781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BF3AB1-C0AD-33F9-2DCE-5323C9F84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F9ACB2-1AA3-8301-D105-E5A9908800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250" y="582700"/>
            <a:ext cx="7290600" cy="473285"/>
          </a:xfrm>
        </p:spPr>
        <p:txBody>
          <a:bodyPr/>
          <a:lstStyle/>
          <a:p>
            <a:r>
              <a:rPr lang="en-US" sz="2400" dirty="0">
                <a:solidFill>
                  <a:schemeClr val="accent2"/>
                </a:solidFill>
              </a:rPr>
              <a:t>Homework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1E4F4E4-FF31-5854-2E74-41BA5FD1AE32}"/>
              </a:ext>
            </a:extLst>
          </p:cNvPr>
          <p:cNvSpPr txBox="1"/>
          <p:nvPr/>
        </p:nvSpPr>
        <p:spPr>
          <a:xfrm>
            <a:off x="1143250" y="1055985"/>
            <a:ext cx="800075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Write a C program that performs the following tasks: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Takes a positive integer from the user.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Removes all digits that are not prime digits </a:t>
            </a: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(i.e., not in {2, 3, 5, 7})</a:t>
            </a:r>
            <a:endParaRPr lang="fa-IR" altLang="en-US" dirty="0">
              <a:solidFill>
                <a:schemeClr val="accent1"/>
              </a:solidFill>
              <a:latin typeface="Fira Code"/>
              <a:ea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fa-IR" altLang="en-US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Creates a new number composed only of the prime digits in the original order.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Recursively calculates the sum of the remaining digits.</a:t>
            </a:r>
            <a:endParaRPr lang="fa-IR" altLang="en-US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en-US" altLang="en-US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You must implement the following functions:</a:t>
            </a:r>
            <a:endParaRPr lang="fa-IR" altLang="en-US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en-US" altLang="en-US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dirty="0">
                <a:solidFill>
                  <a:schemeClr val="accent2"/>
                </a:solidFill>
                <a:latin typeface="Fira Code"/>
                <a:ea typeface="Fira Code"/>
                <a:cs typeface="Fira Code"/>
              </a:rPr>
              <a:t>int </a:t>
            </a:r>
            <a:r>
              <a:rPr lang="en-US" altLang="en-US" b="1" dirty="0" err="1">
                <a:solidFill>
                  <a:schemeClr val="accent2"/>
                </a:solidFill>
                <a:latin typeface="Fira Code"/>
                <a:ea typeface="Fira Code"/>
                <a:cs typeface="Fira Code"/>
              </a:rPr>
              <a:t>isPrimeDigit</a:t>
            </a:r>
            <a:r>
              <a:rPr lang="en-US" altLang="en-US" b="1" dirty="0">
                <a:solidFill>
                  <a:schemeClr val="accent2"/>
                </a:solidFill>
                <a:latin typeface="Fira Code"/>
                <a:ea typeface="Fira Code"/>
                <a:cs typeface="Fira Code"/>
              </a:rPr>
              <a:t>(int d); </a:t>
            </a: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– returns 1 if d is a prime digit, otherwise 0.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dirty="0">
                <a:solidFill>
                  <a:schemeClr val="accent2"/>
                </a:solidFill>
                <a:latin typeface="Fira Code"/>
                <a:ea typeface="Fira Code"/>
                <a:cs typeface="Fira Code"/>
              </a:rPr>
              <a:t>int </a:t>
            </a:r>
            <a:r>
              <a:rPr lang="en-US" altLang="en-US" b="1" dirty="0" err="1">
                <a:solidFill>
                  <a:schemeClr val="accent2"/>
                </a:solidFill>
                <a:latin typeface="Fira Code"/>
                <a:ea typeface="Fira Code"/>
                <a:cs typeface="Fira Code"/>
              </a:rPr>
              <a:t>extractPrimeDigits</a:t>
            </a:r>
            <a:r>
              <a:rPr lang="en-US" altLang="en-US" b="1" dirty="0">
                <a:solidFill>
                  <a:schemeClr val="accent2"/>
                </a:solidFill>
                <a:latin typeface="Fira Code"/>
                <a:ea typeface="Fira Code"/>
                <a:cs typeface="Fira Code"/>
              </a:rPr>
              <a:t>(int n);</a:t>
            </a:r>
            <a:r>
              <a:rPr lang="en-US" altLang="en-US" b="1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 </a:t>
            </a: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– returns the new number made only of prime digits, in correct order.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dirty="0">
                <a:solidFill>
                  <a:schemeClr val="accent2"/>
                </a:solidFill>
                <a:latin typeface="Fira Code"/>
                <a:ea typeface="Fira Code"/>
                <a:cs typeface="Fira Code"/>
              </a:rPr>
              <a:t>int </a:t>
            </a:r>
            <a:r>
              <a:rPr lang="en-US" altLang="en-US" b="1" dirty="0" err="1">
                <a:solidFill>
                  <a:schemeClr val="accent2"/>
                </a:solidFill>
                <a:latin typeface="Fira Code"/>
                <a:ea typeface="Fira Code"/>
                <a:cs typeface="Fira Code"/>
              </a:rPr>
              <a:t>sumDigitsRecursive</a:t>
            </a:r>
            <a:r>
              <a:rPr lang="en-US" altLang="en-US" b="1" dirty="0">
                <a:solidFill>
                  <a:schemeClr val="accent2"/>
                </a:solidFill>
                <a:latin typeface="Fira Code"/>
                <a:ea typeface="Fira Code"/>
                <a:cs typeface="Fira Code"/>
              </a:rPr>
              <a:t>(int n); </a:t>
            </a: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– returns the sum of digits of a number recursively.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en-US" altLang="en-US" dirty="0">
              <a:solidFill>
                <a:schemeClr val="accent1"/>
              </a:solidFill>
              <a:latin typeface="Arial" panose="020B0604020202020204" pitchFamily="34" charset="0"/>
            </a:endParaRPr>
          </a:p>
        </p:txBody>
      </p:sp>
      <p:sp>
        <p:nvSpPr>
          <p:cNvPr id="4" name="Google Shape;475;p28">
            <a:extLst>
              <a:ext uri="{FF2B5EF4-FFF2-40B4-BE49-F238E27FC236}">
                <a16:creationId xmlns:a16="http://schemas.microsoft.com/office/drawing/2014/main" id="{449D09DA-D8D3-7117-B50A-609A5BD2C3E1}"/>
              </a:ext>
            </a:extLst>
          </p:cNvPr>
          <p:cNvSpPr txBox="1">
            <a:spLocks/>
          </p:cNvSpPr>
          <p:nvPr/>
        </p:nvSpPr>
        <p:spPr>
          <a:xfrm>
            <a:off x="4572000" y="91525"/>
            <a:ext cx="45720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 algn="ctr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HW2</a:t>
            </a: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6652BE5C-F5F9-6266-232E-BAA3388F5C2B}"/>
              </a:ext>
            </a:extLst>
          </p:cNvPr>
          <p:cNvSpPr txBox="1">
            <a:spLocks/>
          </p:cNvSpPr>
          <p:nvPr/>
        </p:nvSpPr>
        <p:spPr>
          <a:xfrm>
            <a:off x="710125" y="4694725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>
                <a:solidFill>
                  <a:schemeClr val="accent3"/>
                </a:solidFill>
              </a:rPr>
              <a:t>Programming Language Lab</a:t>
            </a:r>
            <a:endParaRPr lang="en-US" dirty="0">
              <a:solidFill>
                <a:schemeClr val="accent3"/>
              </a:solidFill>
            </a:endParaRPr>
          </a:p>
        </p:txBody>
      </p:sp>
      <p:sp>
        <p:nvSpPr>
          <p:cNvPr id="5" name="Google Shape;473;p28">
            <a:extLst>
              <a:ext uri="{FF2B5EF4-FFF2-40B4-BE49-F238E27FC236}">
                <a16:creationId xmlns:a16="http://schemas.microsoft.com/office/drawing/2014/main" id="{C6CB9724-E4F3-5CD3-B16E-E58FE3B3FA2C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91312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sz="1100" dirty="0">
                <a:solidFill>
                  <a:schemeClr val="accent3"/>
                </a:solidFill>
              </a:rPr>
              <a:t>15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44705103"/>
      </p:ext>
    </p:extLst>
  </p:cSld>
  <p:clrMapOvr>
    <a:masterClrMapping/>
  </p:clrMapOvr>
</p:sld>
</file>

<file path=ppt/theme/theme1.xml><?xml version="1.0" encoding="utf-8"?>
<a:theme xmlns:a="http://schemas.openxmlformats.org/drawingml/2006/main" name="Programming Language Workshop for Beginners by Slidesgo">
  <a:themeElements>
    <a:clrScheme name="Simple Light">
      <a:dk1>
        <a:srgbClr val="2E323B"/>
      </a:dk1>
      <a:lt1>
        <a:srgbClr val="FF5858"/>
      </a:lt1>
      <a:dk2>
        <a:srgbClr val="72D9F0"/>
      </a:dk2>
      <a:lt2>
        <a:srgbClr val="FCC642"/>
      </a:lt2>
      <a:accent1>
        <a:srgbClr val="DBA0DB"/>
      </a:accent1>
      <a:accent2>
        <a:srgbClr val="A5CF27"/>
      </a:accent2>
      <a:accent3>
        <a:srgbClr val="E7E7E7"/>
      </a:accent3>
      <a:accent4>
        <a:srgbClr val="707070"/>
      </a:accent4>
      <a:accent5>
        <a:srgbClr val="16191F"/>
      </a:accent5>
      <a:accent6>
        <a:srgbClr val="FFFFFF"/>
      </a:accent6>
      <a:hlink>
        <a:srgbClr val="FF585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834</TotalTime>
  <Words>978</Words>
  <Application>Microsoft Office PowerPoint</Application>
  <PresentationFormat>On-screen Show (16:9)</PresentationFormat>
  <Paragraphs>203</Paragraphs>
  <Slides>17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Cambria Math</vt:lpstr>
      <vt:lpstr>Fira Code</vt:lpstr>
      <vt:lpstr>Arial</vt:lpstr>
      <vt:lpstr>Programming Language Workshop for Beginners by Slidesgo</vt:lpstr>
      <vt:lpstr>PowerPoint Presentation</vt:lpstr>
      <vt:lpstr>Function Implementation</vt:lpstr>
      <vt:lpstr>What is function?;</vt:lpstr>
      <vt:lpstr>What is function?;</vt:lpstr>
      <vt:lpstr>Binary and Decimal formats;</vt:lpstr>
      <vt:lpstr>Using Multiple Files in C Programming</vt:lpstr>
      <vt:lpstr>Using Multiple Files in C Programming</vt:lpstr>
      <vt:lpstr>Using Multiple Files in C Programming</vt:lpstr>
      <vt:lpstr>Using Multiple Files in C Programming</vt:lpstr>
      <vt:lpstr>PowerPoint Presentation</vt:lpstr>
      <vt:lpstr>The Fibonacci Series;</vt:lpstr>
      <vt:lpstr>PowerPoint Presentation</vt:lpstr>
      <vt:lpstr>PowerPoint Presentation</vt:lpstr>
      <vt:lpstr>Combination and Permutation;</vt:lpstr>
      <vt:lpstr>Combination and Permutation;</vt:lpstr>
      <vt:lpstr>Homework</vt:lpstr>
      <vt:lpstr>Homework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shayan naghizadeh</dc:creator>
  <cp:lastModifiedBy>shayan naghizadeh</cp:lastModifiedBy>
  <cp:revision>26</cp:revision>
  <dcterms:modified xsi:type="dcterms:W3CDTF">2025-08-11T16:16:40Z</dcterms:modified>
</cp:coreProperties>
</file>