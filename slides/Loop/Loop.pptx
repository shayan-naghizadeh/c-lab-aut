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68" r:id="rId3"/>
    <p:sldId id="257" r:id="rId4"/>
    <p:sldId id="315" r:id="rId5"/>
    <p:sldId id="316" r:id="rId6"/>
    <p:sldId id="317" r:id="rId7"/>
    <p:sldId id="302" r:id="rId8"/>
  </p:sldIdLst>
  <p:sldSz cx="9144000" cy="5143500" type="screen16x9"/>
  <p:notesSz cx="6858000" cy="9144000"/>
  <p:embeddedFontLst>
    <p:embeddedFont>
      <p:font typeface="B Nazanin" panose="00000400000000000000" pitchFamily="2" charset="-78"/>
      <p:regular r:id="rId10"/>
      <p:bold r:id="rId11"/>
    </p:embeddedFont>
    <p:embeddedFont>
      <p:font typeface="Cambria Math" panose="02040503050406030204" pitchFamily="18" charset="0"/>
      <p:regular r:id="rId12"/>
    </p:embeddedFont>
    <p:embeddedFont>
      <p:font typeface="Fira Code" panose="020B0809050000020004" pitchFamily="49" charset="0"/>
      <p:regular r:id="rId13"/>
      <p:bold r:id="rId14"/>
    </p:embeddedFont>
    <p:embeddedFont>
      <p:font typeface="Lalezar" panose="00000500000000000000" pitchFamily="2" charset="-78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D255F0A-1754-C387-727C-CAB8691D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556672B-4B6A-89C7-83BF-17967D40A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60574E77-1266-81E2-E205-57ADD21C7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5543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BA7CAD5-5180-F7CF-BCF2-3A01BED2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358CAE2-A48B-A939-7CCD-1A3EC779E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78CBE827-BAA0-E16E-C541-FF19C84F5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254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0DBF483-6B8A-9ACF-015A-139B2716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CE0E88F-3060-7502-443F-0145264A6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9ABDE0FE-A742-ED21-BC3C-F33BC1AB7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9778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986BD86-A03F-4F4B-AB60-0F5C12C0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5519F06-BEF0-905A-E155-3E2346CA1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4656811-946F-AD7F-285F-EFCCBFB5B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647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69" r:id="rId5"/>
    <p:sldLayoutId id="214748367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</a:t>
            </a:r>
            <a:endParaRPr sz="1100" dirty="0"/>
          </a:p>
        </p:txBody>
      </p: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7936E9-7FC1-30C1-7397-1B2AB8776D2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613" y="759349"/>
            <a:ext cx="2106820" cy="1900123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453E56-EC32-C5A9-7C2B-A7AEA24CFF8C}"/>
              </a:ext>
            </a:extLst>
          </p:cNvPr>
          <p:cNvSpPr txBox="1"/>
          <p:nvPr/>
        </p:nvSpPr>
        <p:spPr>
          <a:xfrm>
            <a:off x="3119787" y="2815859"/>
            <a:ext cx="2892474" cy="36933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a-IR" sz="1800" b="1" dirty="0">
                <a:latin typeface="Lalezar" panose="00000500000000000000" pitchFamily="2" charset="-78"/>
                <a:cs typeface="B Nazanin" panose="00000400000000000000" pitchFamily="2" charset="-78"/>
                <a:sym typeface="Roboto Black"/>
              </a:rPr>
              <a:t>کارگاه مبانی برنامه‌نویسی </a:t>
            </a:r>
            <a:endParaRPr lang="en-US" sz="1800" b="1" dirty="0">
              <a:cs typeface="B Nazanin" panose="00000400000000000000" pitchFamily="2" charset="-78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0124" y="542575"/>
            <a:ext cx="4853393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Loops and Repetions 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815" name="Google Shape;815;p39"/>
          <p:cNvSpPr txBox="1"/>
          <p:nvPr/>
        </p:nvSpPr>
        <p:spPr>
          <a:xfrm>
            <a:off x="710125" y="2395800"/>
            <a:ext cx="50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3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816" name="Google Shape;816;p39"/>
          <p:cNvCxnSpPr>
            <a:endCxn id="815" idx="0"/>
          </p:cNvCxnSpPr>
          <p:nvPr/>
        </p:nvCxnSpPr>
        <p:spPr>
          <a:xfrm>
            <a:off x="963175" y="1954200"/>
            <a:ext cx="0" cy="441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Where we need loops?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BE0B1925-328B-2EDA-5EFE-724887B49975}"/>
              </a:ext>
            </a:extLst>
          </p:cNvPr>
          <p:cNvSpPr txBox="1"/>
          <p:nvPr/>
        </p:nvSpPr>
        <p:spPr>
          <a:xfrm>
            <a:off x="1219450" y="535018"/>
            <a:ext cx="6559877" cy="189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Where we need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repetition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or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automation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.</a:t>
            </a: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EBF48B63-1CA6-9DD1-E225-C55CD1A59D3F}"/>
              </a:ext>
            </a:extLst>
          </p:cNvPr>
          <p:cNvSpPr txBox="1"/>
          <p:nvPr/>
        </p:nvSpPr>
        <p:spPr>
          <a:xfrm>
            <a:off x="1482686" y="2916790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What are the needed syntaxes for performing repetitions in C?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Recap what you need!</a:t>
            </a: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4109CEB9-E14C-D73E-C8C7-8F01C16F2D81}"/>
              </a:ext>
            </a:extLst>
          </p:cNvPr>
          <p:cNvSpPr txBox="1"/>
          <p:nvPr/>
        </p:nvSpPr>
        <p:spPr>
          <a:xfrm>
            <a:off x="1420342" y="1878323"/>
            <a:ext cx="603340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In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computer science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, most of algorithms are full of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repetitions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12C1D79-5B22-0C08-E549-40AEE7C0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A4FEBA93-B6AD-99EB-733D-628C3B85C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Checking a condition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4238F7F-8916-CDCF-D768-0A2BD47699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B65766E-46F8-5A5A-FCB4-8AFB7DF1231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5C774D99-FCD0-B85F-FEF4-9FBB1E6092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1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461B3BF7-7F33-DAD1-7885-69749E423A8E}"/>
              </a:ext>
            </a:extLst>
          </p:cNvPr>
          <p:cNvSpPr txBox="1"/>
          <p:nvPr/>
        </p:nvSpPr>
        <p:spPr>
          <a:xfrm>
            <a:off x="1482686" y="2916790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4A31E41C-05DD-5F10-36FD-956E8152CA34}"/>
              </a:ext>
            </a:extLst>
          </p:cNvPr>
          <p:cNvSpPr txBox="1"/>
          <p:nvPr/>
        </p:nvSpPr>
        <p:spPr>
          <a:xfrm>
            <a:off x="1330286" y="1154707"/>
            <a:ext cx="71035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program to determine whether a given number has specific characteristics.</a:t>
            </a: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C80140A1-6BE8-CE1B-56CE-C573941297A5}"/>
              </a:ext>
            </a:extLst>
          </p:cNvPr>
          <p:cNvSpPr txBox="1"/>
          <p:nvPr/>
        </p:nvSpPr>
        <p:spPr>
          <a:xfrm>
            <a:off x="1236768" y="2130226"/>
            <a:ext cx="71035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The number is named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ugly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if 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its only prime factors are 2, 3, or 5.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</p:txBody>
      </p:sp>
      <p:sp>
        <p:nvSpPr>
          <p:cNvPr id="5" name="Google Shape;583;p33">
            <a:extLst>
              <a:ext uri="{FF2B5EF4-FFF2-40B4-BE49-F238E27FC236}">
                <a16:creationId xmlns:a16="http://schemas.microsoft.com/office/drawing/2014/main" id="{248D9CC4-7436-C354-3BDD-F511C6A62306}"/>
              </a:ext>
            </a:extLst>
          </p:cNvPr>
          <p:cNvSpPr txBox="1"/>
          <p:nvPr/>
        </p:nvSpPr>
        <p:spPr>
          <a:xfrm>
            <a:off x="1236767" y="3136552"/>
            <a:ext cx="7553941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You need to check specific factors of a number!</a:t>
            </a:r>
          </a:p>
        </p:txBody>
      </p:sp>
    </p:spTree>
    <p:extLst>
      <p:ext uri="{BB962C8B-B14F-4D97-AF65-F5344CB8AC3E}">
        <p14:creationId xmlns:p14="http://schemas.microsoft.com/office/powerpoint/2010/main" val="84893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5C63532-A56A-A2DD-6642-E77B13E38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D87655F-4759-CC33-45F3-706B18E50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Loops in Mathematics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48CA374-C851-20BE-4952-F1C0C29354E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6BCC8C0-14E1-3DBE-9816-F6CEC760C0F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F577399-F725-FDCA-7F92-F9668900A04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4A204950-C2B1-7646-E286-FC6CF1F0AC1D}"/>
              </a:ext>
            </a:extLst>
          </p:cNvPr>
          <p:cNvSpPr txBox="1"/>
          <p:nvPr/>
        </p:nvSpPr>
        <p:spPr>
          <a:xfrm>
            <a:off x="1247158" y="1154707"/>
            <a:ext cx="7677101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Binomial Expansion series is very popular in mathematics, which is shown in the below. </a:t>
            </a:r>
            <a:r>
              <a:rPr lang="en-US" sz="18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(search for its application!)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EF383C1A-18CF-BFCD-278C-E3E74D5999DF}"/>
                  </a:ext>
                </a:extLst>
              </p:cNvPr>
              <p:cNvSpPr txBox="1"/>
              <p:nvPr/>
            </p:nvSpPr>
            <p:spPr>
              <a:xfrm>
                <a:off x="845733" y="2248818"/>
                <a:ext cx="7103564" cy="944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+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</m:sSup>
                      <m:r>
                        <a:rPr lang="pt-BR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Fira Code"/>
                          <a:cs typeface="Fira Code"/>
                          <a:sym typeface="Fira Code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naryPr>
                        <m:sub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𝑘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=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0</m:t>
                          </m:r>
                        </m:sub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𝑛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−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mc:Choice>
        <mc:Fallback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EF383C1A-18CF-BFCD-278C-E3E74D599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33" y="2248818"/>
                <a:ext cx="7103564" cy="944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583;p33">
            <a:extLst>
              <a:ext uri="{FF2B5EF4-FFF2-40B4-BE49-F238E27FC236}">
                <a16:creationId xmlns:a16="http://schemas.microsoft.com/office/drawing/2014/main" id="{77460099-C57F-80CE-D33E-F345EB0CD3BD}"/>
              </a:ext>
            </a:extLst>
          </p:cNvPr>
          <p:cNvSpPr txBox="1"/>
          <p:nvPr/>
        </p:nvSpPr>
        <p:spPr>
          <a:xfrm>
            <a:off x="1247158" y="3342930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Where we see a sum notation, we need a loop!</a:t>
            </a:r>
          </a:p>
        </p:txBody>
      </p:sp>
    </p:spTree>
    <p:extLst>
      <p:ext uri="{BB962C8B-B14F-4D97-AF65-F5344CB8AC3E}">
        <p14:creationId xmlns:p14="http://schemas.microsoft.com/office/powerpoint/2010/main" val="4034432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5045F474-0D37-AAEA-E779-B945B904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B4D7C22E-B710-C4AA-83A4-5607308F2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Loops in Mathematics;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44F11C4-80AD-4680-3211-15F3AA69F22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688B9FA-7C35-02B0-3F58-2474DA78DD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EB8C1CBD-790B-6F9B-D992-AE4EF8AEFF8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1B23537C-EDDE-7549-5A00-E6396B849979}"/>
              </a:ext>
            </a:extLst>
          </p:cNvPr>
          <p:cNvSpPr txBox="1"/>
          <p:nvPr/>
        </p:nvSpPr>
        <p:spPr>
          <a:xfrm>
            <a:off x="1240070" y="1174729"/>
            <a:ext cx="7290600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Binomial Expansion series is very popular in mathematics, which is shown in the below. </a:t>
            </a:r>
            <a:r>
              <a:rPr lang="en-US" sz="18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(search for its application!)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9DE129DE-57ED-7A93-7186-D87EE94FF316}"/>
                  </a:ext>
                </a:extLst>
              </p:cNvPr>
              <p:cNvSpPr txBox="1"/>
              <p:nvPr/>
            </p:nvSpPr>
            <p:spPr>
              <a:xfrm>
                <a:off x="1014243" y="2119441"/>
                <a:ext cx="7103564" cy="944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+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</m:sSup>
                      <m:r>
                        <a:rPr lang="pt-BR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Fira Code"/>
                          <a:cs typeface="Fira Code"/>
                          <a:sym typeface="Fira Code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naryPr>
                        <m:sub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𝑘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=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0</m:t>
                          </m:r>
                        </m:sub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𝑛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−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mc:Choice>
        <mc:Fallback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9DE129DE-57ED-7A93-7186-D87EE94FF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43" y="2119441"/>
                <a:ext cx="7103564" cy="944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583;p33">
            <a:extLst>
              <a:ext uri="{FF2B5EF4-FFF2-40B4-BE49-F238E27FC236}">
                <a16:creationId xmlns:a16="http://schemas.microsoft.com/office/drawing/2014/main" id="{8B9D5C64-373E-89D5-447C-3896716AA3DB}"/>
              </a:ext>
            </a:extLst>
          </p:cNvPr>
          <p:cNvSpPr txBox="1"/>
          <p:nvPr/>
        </p:nvSpPr>
        <p:spPr>
          <a:xfrm>
            <a:off x="1495238" y="3622563"/>
            <a:ext cx="7747838" cy="107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X, a, and n should be set as input parameters. </a:t>
            </a: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434BE448-723B-C67B-C211-D358334323B6}"/>
              </a:ext>
            </a:extLst>
          </p:cNvPr>
          <p:cNvSpPr txBox="1"/>
          <p:nvPr/>
        </p:nvSpPr>
        <p:spPr>
          <a:xfrm>
            <a:off x="1369604" y="3044082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Try to implement the above formula using loops!</a:t>
            </a:r>
          </a:p>
        </p:txBody>
      </p:sp>
    </p:spTree>
    <p:extLst>
      <p:ext uri="{BB962C8B-B14F-4D97-AF65-F5344CB8AC3E}">
        <p14:creationId xmlns:p14="http://schemas.microsoft.com/office/powerpoint/2010/main" val="2319361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5560732-9D9B-8264-DD98-E36C9D86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34ED924-8B92-9634-7D64-E2B868C9A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G</a:t>
            </a:r>
            <a:r>
              <a:rPr lang="en" dirty="0">
                <a:solidFill>
                  <a:schemeClr val="accent2"/>
                </a:solidFill>
              </a:rPr>
              <a:t>enerating Pattern;</a:t>
            </a:r>
            <a:br>
              <a:rPr lang="en" dirty="0">
                <a:solidFill>
                  <a:schemeClr val="accent2"/>
                </a:solidFill>
              </a:rPr>
            </a:br>
            <a:br>
              <a:rPr lang="en" dirty="0">
                <a:solidFill>
                  <a:schemeClr val="accent2"/>
                </a:solidFill>
              </a:rPr>
            </a:b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28DD3817-800E-A4F3-90A5-355C461825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E5BB27D-3DA3-86CE-D408-0AA17F27629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loops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056DB4F-849A-5272-DA79-04FBEE2D5DB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3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7509BE81-2412-6A1F-3FC4-7312972378FB}"/>
              </a:ext>
            </a:extLst>
          </p:cNvPr>
          <p:cNvSpPr txBox="1"/>
          <p:nvPr/>
        </p:nvSpPr>
        <p:spPr>
          <a:xfrm>
            <a:off x="1519856" y="1173286"/>
            <a:ext cx="7125380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Try to generate the given patterns by using loops.</a:t>
            </a: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5EDB0012-86BD-FFB0-B8E9-862FB969B95C}"/>
              </a:ext>
            </a:extLst>
          </p:cNvPr>
          <p:cNvSpPr txBox="1"/>
          <p:nvPr/>
        </p:nvSpPr>
        <p:spPr>
          <a:xfrm>
            <a:off x="1159638" y="3837850"/>
            <a:ext cx="5698362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92D05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C3449-0826-6930-3BCC-16C16692306D}"/>
              </a:ext>
            </a:extLst>
          </p:cNvPr>
          <p:cNvSpPr txBox="1"/>
          <p:nvPr/>
        </p:nvSpPr>
        <p:spPr>
          <a:xfrm>
            <a:off x="4197391" y="2752975"/>
            <a:ext cx="112883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1              1</a:t>
            </a:r>
          </a:p>
          <a:p>
            <a:r>
              <a:rPr lang="en-US" dirty="0">
                <a:solidFill>
                  <a:srgbClr val="FFC000"/>
                </a:solidFill>
              </a:rPr>
              <a:t>12          21 </a:t>
            </a:r>
          </a:p>
          <a:p>
            <a:r>
              <a:rPr lang="en-US" dirty="0">
                <a:solidFill>
                  <a:srgbClr val="FFC000"/>
                </a:solidFill>
              </a:rPr>
              <a:t>123      321</a:t>
            </a:r>
          </a:p>
          <a:p>
            <a:r>
              <a:rPr lang="en-US" dirty="0">
                <a:solidFill>
                  <a:srgbClr val="FFC000"/>
                </a:solidFill>
              </a:rPr>
              <a:t>1234  4321</a:t>
            </a:r>
          </a:p>
          <a:p>
            <a:r>
              <a:rPr lang="en-US" dirty="0">
                <a:solidFill>
                  <a:srgbClr val="FFC000"/>
                </a:solidFill>
              </a:rPr>
              <a:t>123454321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AB1F9-54BC-9CDC-5886-32DB18E3A597}"/>
              </a:ext>
            </a:extLst>
          </p:cNvPr>
          <p:cNvSpPr txBox="1"/>
          <p:nvPr/>
        </p:nvSpPr>
        <p:spPr>
          <a:xfrm>
            <a:off x="2490896" y="2651973"/>
            <a:ext cx="13035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*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**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***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****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*****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******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6F2A75-AD39-BAF1-81C1-809D163A9E88}"/>
              </a:ext>
            </a:extLst>
          </p:cNvPr>
          <p:cNvSpPr txBox="1"/>
          <p:nvPr/>
        </p:nvSpPr>
        <p:spPr>
          <a:xfrm>
            <a:off x="1541590" y="2608678"/>
            <a:ext cx="13035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*</a:t>
            </a:r>
          </a:p>
          <a:p>
            <a:r>
              <a:rPr lang="en-US" dirty="0">
                <a:solidFill>
                  <a:srgbClr val="FFC000"/>
                </a:solidFill>
              </a:rPr>
              <a:t>**</a:t>
            </a:r>
          </a:p>
          <a:p>
            <a:r>
              <a:rPr lang="en-US" dirty="0">
                <a:solidFill>
                  <a:srgbClr val="FFC000"/>
                </a:solidFill>
              </a:rPr>
              <a:t>***</a:t>
            </a:r>
          </a:p>
          <a:p>
            <a:r>
              <a:rPr lang="en-US" dirty="0">
                <a:solidFill>
                  <a:srgbClr val="FFC000"/>
                </a:solidFill>
              </a:rPr>
              <a:t>***</a:t>
            </a:r>
          </a:p>
          <a:p>
            <a:r>
              <a:rPr lang="en-US" dirty="0">
                <a:solidFill>
                  <a:srgbClr val="FFC000"/>
                </a:solidFill>
              </a:rPr>
              <a:t>*****</a:t>
            </a:r>
          </a:p>
          <a:p>
            <a:r>
              <a:rPr lang="en-US" dirty="0">
                <a:solidFill>
                  <a:srgbClr val="FFC000"/>
                </a:solidFill>
              </a:rPr>
              <a:t>******</a:t>
            </a:r>
          </a:p>
        </p:txBody>
      </p:sp>
    </p:spTree>
    <p:extLst>
      <p:ext uri="{BB962C8B-B14F-4D97-AF65-F5344CB8AC3E}">
        <p14:creationId xmlns:p14="http://schemas.microsoft.com/office/powerpoint/2010/main" val="2218697921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261</Words>
  <Application>Microsoft Office PowerPoint</Application>
  <PresentationFormat>On-screen Show (16:9)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Fira Code</vt:lpstr>
      <vt:lpstr>Cambria Math</vt:lpstr>
      <vt:lpstr>B Nazanin</vt:lpstr>
      <vt:lpstr>Arial</vt:lpstr>
      <vt:lpstr>Lalezar</vt:lpstr>
      <vt:lpstr>Programming Language Workshop for Beginners by Slidesgo</vt:lpstr>
      <vt:lpstr>PowerPoint Presentation</vt:lpstr>
      <vt:lpstr>Loops and Repetions </vt:lpstr>
      <vt:lpstr>Where we need loops?;</vt:lpstr>
      <vt:lpstr>Checking a condition</vt:lpstr>
      <vt:lpstr>Loops in Mathematics </vt:lpstr>
      <vt:lpstr>Loops in Mathematics; </vt:lpstr>
      <vt:lpstr>Generating Pattern;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asus</cp:lastModifiedBy>
  <cp:revision>7</cp:revision>
  <dcterms:modified xsi:type="dcterms:W3CDTF">2025-07-24T11:31:05Z</dcterms:modified>
</cp:coreProperties>
</file>