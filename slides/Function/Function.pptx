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68" r:id="rId3"/>
    <p:sldId id="257" r:id="rId4"/>
    <p:sldId id="311" r:id="rId5"/>
    <p:sldId id="301" r:id="rId6"/>
    <p:sldId id="302" r:id="rId7"/>
    <p:sldId id="304" r:id="rId8"/>
    <p:sldId id="312" r:id="rId9"/>
    <p:sldId id="305" r:id="rId10"/>
    <p:sldId id="313" r:id="rId11"/>
    <p:sldId id="314" r:id="rId12"/>
    <p:sldId id="303" r:id="rId13"/>
  </p:sldIdLst>
  <p:sldSz cx="9144000" cy="5143500" type="screen16x9"/>
  <p:notesSz cx="6858000" cy="9144000"/>
  <p:embeddedFontLst>
    <p:embeddedFont>
      <p:font typeface="B Nazanin" panose="00000400000000000000" pitchFamily="2" charset="-78"/>
      <p:regular r:id="rId15"/>
      <p:bold r:id="rId16"/>
    </p:embeddedFont>
    <p:embeddedFont>
      <p:font typeface="Fira Code" panose="020B0809050000020004" pitchFamily="49" charset="0"/>
      <p:regular r:id="rId17"/>
      <p:bold r:id="rId18"/>
    </p:embeddedFont>
    <p:embeddedFont>
      <p:font typeface="Lalezar" panose="00000500000000000000" pitchFamily="2" charset="-78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842DDE1C-4E98-0865-CB77-09CA5FB7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308E42A-C71A-77B3-5C71-97F6F8CB2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3575A70-B145-DA08-1DDB-2F81CABF6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990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1FCFDB7F-8415-BBE7-93E9-7DF0CBFE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5661E0C-59C7-0A0E-5949-24C143BDC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C511FC1-86F2-AC8C-A599-8836B4BF81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843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986BD86-A03F-4F4B-AB60-0F5C12C0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5519F06-BEF0-905A-E155-3E2346CA1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4656811-946F-AD7F-285F-EFCCBFB5B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647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EAF4CD9-A39C-30B0-E93C-0E4C15F9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290524AA-CB47-E01F-57EA-703619530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6789529-2971-DA33-A989-EF14FFAFF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4525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BACC95F-D8DD-A502-3409-502BA38A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1678C49-6A7D-3D35-8323-8215CA5F5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CDBF65B9-F673-6623-0867-BDC5B47F6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896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C6BC590-137D-66B5-B0F2-1FA3A298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1900646-734D-5706-6A05-E267C0FC0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763453E1-DE64-012A-7D35-B37EE1796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580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5A19A62-BF95-8A4F-DCA5-6D369400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7B5AC431-433B-F799-C61E-5A7DF5E74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AB627F1E-A172-67B9-2572-34D285856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4519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575E54B-1A75-FDD7-21F7-2218B21A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99031079-C4D8-0CC1-4BB2-FC58C3492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A3191301-0A1D-DF29-542D-AA16F7F00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8849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22D04C8-845E-A9EE-7E92-A82E7260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5578B2AE-7C78-013C-692C-757063E4CF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E987450-E7FD-1A70-7A0E-44EBFB1DB3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80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69" r:id="rId5"/>
    <p:sldLayoutId id="21474836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Function.c</a:t>
            </a:r>
            <a:endParaRPr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936E9-7FC1-30C1-7397-1B2AB8776D2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13" y="759349"/>
            <a:ext cx="2106820" cy="1900123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453E56-EC32-C5A9-7C2B-A7AEA24CFF8C}"/>
              </a:ext>
            </a:extLst>
          </p:cNvPr>
          <p:cNvSpPr txBox="1"/>
          <p:nvPr/>
        </p:nvSpPr>
        <p:spPr>
          <a:xfrm>
            <a:off x="3119787" y="2815859"/>
            <a:ext cx="2892474" cy="36933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a-IR" sz="1800" b="1" dirty="0">
                <a:latin typeface="Lalezar" panose="00000500000000000000" pitchFamily="2" charset="-78"/>
                <a:cs typeface="B Nazanin" panose="00000400000000000000" pitchFamily="2" charset="-78"/>
                <a:sym typeface="Roboto Black"/>
              </a:rPr>
              <a:t>کارگاه مبانی برنامه‌نویسی </a:t>
            </a:r>
            <a:endParaRPr lang="en-US" sz="1800" b="1" dirty="0">
              <a:cs typeface="B Nazanin" panose="00000400000000000000" pitchFamily="2" charset="-78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4" y="542575"/>
            <a:ext cx="4853393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 Implementation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815" name="Google Shape;815;p39"/>
          <p:cNvSpPr txBox="1"/>
          <p:nvPr/>
        </p:nvSpPr>
        <p:spPr>
          <a:xfrm>
            <a:off x="710125" y="2395800"/>
            <a:ext cx="50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3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816" name="Google Shape;816;p39"/>
          <p:cNvCxnSpPr>
            <a:endCxn id="815" idx="0"/>
          </p:cNvCxnSpPr>
          <p:nvPr/>
        </p:nvCxnSpPr>
        <p:spPr>
          <a:xfrm>
            <a:off x="963175" y="1954200"/>
            <a:ext cx="0" cy="441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What is function?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B91C57-128E-7680-A572-8B71D239A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483" y="1257775"/>
            <a:ext cx="2592297" cy="1872867"/>
          </a:xfrm>
          <a:prstGeom prst="rect">
            <a:avLst/>
          </a:prstGeom>
        </p:spPr>
      </p:pic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BE0B1925-328B-2EDA-5EFE-724887B49975}"/>
              </a:ext>
            </a:extLst>
          </p:cNvPr>
          <p:cNvSpPr txBox="1"/>
          <p:nvPr/>
        </p:nvSpPr>
        <p:spPr>
          <a:xfrm>
            <a:off x="1143250" y="1014851"/>
            <a:ext cx="5114331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You probably know the concept of function in math.</a:t>
            </a: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EBF48B63-1CA6-9DD1-E225-C55CD1A59D3F}"/>
              </a:ext>
            </a:extLst>
          </p:cNvPr>
          <p:cNvSpPr txBox="1"/>
          <p:nvPr/>
        </p:nvSpPr>
        <p:spPr>
          <a:xfrm>
            <a:off x="1143250" y="2394232"/>
            <a:ext cx="5114331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How could we implement functions in programming?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87AE761-43CB-D5C4-A64B-AD388C79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A96EADB-0553-E55A-5013-C6D431FD8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What is function?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7EBD44A-9363-E81A-5172-771D385856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F8CB708-7BC6-DA7B-F09D-E4DB14B6EE6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A5139A3-62E0-6783-4D79-977BA254728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06622912-764E-52AC-48FD-9ED99B05D185}"/>
              </a:ext>
            </a:extLst>
          </p:cNvPr>
          <p:cNvSpPr txBox="1"/>
          <p:nvPr/>
        </p:nvSpPr>
        <p:spPr>
          <a:xfrm>
            <a:off x="1143250" y="1014851"/>
            <a:ext cx="5114331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Recap the general syntax of defining a function in C as depicted in the given picture. </a:t>
            </a: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FA277F5F-E1BB-4739-0148-3166126E2617}"/>
              </a:ext>
            </a:extLst>
          </p:cNvPr>
          <p:cNvSpPr txBox="1"/>
          <p:nvPr/>
        </p:nvSpPr>
        <p:spPr>
          <a:xfrm>
            <a:off x="1253419" y="3282347"/>
            <a:ext cx="6105848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What are the built-in functions(methods!) in C?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2050" name="Picture 2" descr="C Functions - GeeksforGeeks">
            <a:extLst>
              <a:ext uri="{FF2B5EF4-FFF2-40B4-BE49-F238E27FC236}">
                <a16:creationId xmlns:a16="http://schemas.microsoft.com/office/drawing/2014/main" id="{9408C18F-3685-37CB-0FFD-F68109D6B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242" y="1257775"/>
            <a:ext cx="2996589" cy="214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16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50187AF-FDC6-B754-FBD2-F9B7FA0F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3F68C7D2-A40A-F50A-C12F-1A89B0F88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Binary and Decimal formats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5EE34798-7EC2-E706-B9F9-64F7C8D7E7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79358BF-3536-51AE-5DCE-A421268F17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D7E3969-DC90-73CA-05C2-2D33B2E762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1B1C0F5F-D95E-6534-9008-4271AC0CDC58}"/>
              </a:ext>
            </a:extLst>
          </p:cNvPr>
          <p:cNvSpPr txBox="1"/>
          <p:nvPr/>
        </p:nvSpPr>
        <p:spPr>
          <a:xfrm>
            <a:off x="1060931" y="1123900"/>
            <a:ext cx="7708495" cy="1714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C program that takes a binary number (up to 32 bits) as input from the user and converts it to its decimal (base-10) equivalent.</a:t>
            </a:r>
          </a:p>
        </p:txBody>
      </p:sp>
      <p:sp>
        <p:nvSpPr>
          <p:cNvPr id="11" name="Google Shape;472;p28">
            <a:extLst>
              <a:ext uri="{FF2B5EF4-FFF2-40B4-BE49-F238E27FC236}">
                <a16:creationId xmlns:a16="http://schemas.microsoft.com/office/drawing/2014/main" id="{89CCD7D4-B3ED-0715-D28A-908C49C95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250" y="2980112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98D08424-995D-5E8B-2CB6-47C52B9A6271}"/>
              </a:ext>
            </a:extLst>
          </p:cNvPr>
          <p:cNvSpPr txBox="1"/>
          <p:nvPr/>
        </p:nvSpPr>
        <p:spPr>
          <a:xfrm>
            <a:off x="1268416" y="2389545"/>
            <a:ext cx="6101868" cy="1714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You should develop a function for the conversion!</a:t>
            </a:r>
          </a:p>
        </p:txBody>
      </p:sp>
    </p:spTree>
    <p:extLst>
      <p:ext uri="{BB962C8B-B14F-4D97-AF65-F5344CB8AC3E}">
        <p14:creationId xmlns:p14="http://schemas.microsoft.com/office/powerpoint/2010/main" val="246819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5560732-9D9B-8264-DD98-E36C9D86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34ED924-8B92-9634-7D64-E2B868C9A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The Fibonacci Series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28DD3817-800E-A4F3-90A5-355C461825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E5BB27D-3DA3-86CE-D408-0AA17F27629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056DB4F-849A-5272-DA79-04FBEE2D5DB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7509BE81-2412-6A1F-3FC4-7312972378FB}"/>
              </a:ext>
            </a:extLst>
          </p:cNvPr>
          <p:cNvSpPr txBox="1"/>
          <p:nvPr/>
        </p:nvSpPr>
        <p:spPr>
          <a:xfrm>
            <a:off x="1159638" y="1025230"/>
            <a:ext cx="5830426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Are you familiar with this sequence?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84322-330C-744E-9F4F-65AE6814C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203" y="1967172"/>
            <a:ext cx="4439797" cy="1962644"/>
          </a:xfrm>
          <a:prstGeom prst="rect">
            <a:avLst/>
          </a:prstGeom>
        </p:spPr>
      </p:pic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5EDB0012-86BD-FFB0-B8E9-862FB969B95C}"/>
              </a:ext>
            </a:extLst>
          </p:cNvPr>
          <p:cNvSpPr txBox="1"/>
          <p:nvPr/>
        </p:nvSpPr>
        <p:spPr>
          <a:xfrm>
            <a:off x="1159638" y="3806512"/>
            <a:ext cx="5698362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It has got many application (search for it!)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E74B22-40C9-F162-53A9-1907B9FD8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777" y="604637"/>
            <a:ext cx="1036468" cy="1038525"/>
          </a:xfrm>
          <a:prstGeom prst="rect">
            <a:avLst/>
          </a:prstGeom>
        </p:spPr>
      </p:pic>
      <p:sp>
        <p:nvSpPr>
          <p:cNvPr id="11" name="Google Shape;583;p33">
            <a:extLst>
              <a:ext uri="{FF2B5EF4-FFF2-40B4-BE49-F238E27FC236}">
                <a16:creationId xmlns:a16="http://schemas.microsoft.com/office/drawing/2014/main" id="{D5836D37-7B75-1655-D274-990D58AFE2B9}"/>
              </a:ext>
            </a:extLst>
          </p:cNvPr>
          <p:cNvSpPr txBox="1"/>
          <p:nvPr/>
        </p:nvSpPr>
        <p:spPr>
          <a:xfrm>
            <a:off x="7509026" y="1381881"/>
            <a:ext cx="1634974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Fibonacci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(1170-1250)</a:t>
            </a:r>
          </a:p>
        </p:txBody>
      </p:sp>
    </p:spTree>
    <p:extLst>
      <p:ext uri="{BB962C8B-B14F-4D97-AF65-F5344CB8AC3E}">
        <p14:creationId xmlns:p14="http://schemas.microsoft.com/office/powerpoint/2010/main" val="2218697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0E85D9A-D508-B3E2-C450-3286B5A4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8A51E955-F1AC-2599-C7A4-47DC4A6FC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8750547-4751-7995-A5D9-020F8825EDF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5F35F21-1618-25F2-AA74-75E023DF6D8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22D42296-5F99-5A77-1144-D736E9B69E3D}"/>
              </a:ext>
            </a:extLst>
          </p:cNvPr>
          <p:cNvSpPr txBox="1"/>
          <p:nvPr/>
        </p:nvSpPr>
        <p:spPr>
          <a:xfrm>
            <a:off x="1143250" y="1378483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program implementing the </a:t>
            </a:r>
            <a:r>
              <a:rPr lang="en-US" sz="20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Fibonacci sequence,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so that calculates the nth Fibonacci number.</a:t>
            </a:r>
          </a:p>
        </p:txBody>
      </p:sp>
      <p:sp>
        <p:nvSpPr>
          <p:cNvPr id="7" name="Google Shape;471;p28">
            <a:extLst>
              <a:ext uri="{FF2B5EF4-FFF2-40B4-BE49-F238E27FC236}">
                <a16:creationId xmlns:a16="http://schemas.microsoft.com/office/drawing/2014/main" id="{8B5C7E8F-4169-87FC-B94B-5A1D4073C82A}"/>
              </a:ext>
            </a:extLst>
          </p:cNvPr>
          <p:cNvSpPr txBox="1">
            <a:spLocks/>
          </p:cNvSpPr>
          <p:nvPr/>
        </p:nvSpPr>
        <p:spPr>
          <a:xfrm>
            <a:off x="1060184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The Fibonacci Series;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32A4506-2A1E-71D0-85EF-CB2BE5D0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4F714E-A154-5E96-196D-D86F12F2A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71" y="2324152"/>
            <a:ext cx="2390660" cy="2173881"/>
          </a:xfrm>
          <a:prstGeom prst="rect">
            <a:avLst/>
          </a:prstGeom>
        </p:spPr>
      </p:pic>
      <p:sp>
        <p:nvSpPr>
          <p:cNvPr id="14" name="Google Shape;583;p33">
            <a:extLst>
              <a:ext uri="{FF2B5EF4-FFF2-40B4-BE49-F238E27FC236}">
                <a16:creationId xmlns:a16="http://schemas.microsoft.com/office/drawing/2014/main" id="{764EE8A4-8814-9B77-487A-D3C340A072BE}"/>
              </a:ext>
            </a:extLst>
          </p:cNvPr>
          <p:cNvSpPr txBox="1"/>
          <p:nvPr/>
        </p:nvSpPr>
        <p:spPr>
          <a:xfrm>
            <a:off x="1167817" y="2324152"/>
            <a:ext cx="7075333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Follow the rule which is shown in the picture!</a:t>
            </a:r>
          </a:p>
        </p:txBody>
      </p:sp>
      <p:sp>
        <p:nvSpPr>
          <p:cNvPr id="15" name="Google Shape;583;p33">
            <a:extLst>
              <a:ext uri="{FF2B5EF4-FFF2-40B4-BE49-F238E27FC236}">
                <a16:creationId xmlns:a16="http://schemas.microsoft.com/office/drawing/2014/main" id="{1ABACA95-B02A-B8BD-6BAA-2BA7C7B70C15}"/>
              </a:ext>
            </a:extLst>
          </p:cNvPr>
          <p:cNvSpPr txBox="1"/>
          <p:nvPr/>
        </p:nvSpPr>
        <p:spPr>
          <a:xfrm>
            <a:off x="1143250" y="3036604"/>
            <a:ext cx="5817355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Implement both iterative and recursive versions!</a:t>
            </a:r>
          </a:p>
        </p:txBody>
      </p:sp>
    </p:spTree>
    <p:extLst>
      <p:ext uri="{BB962C8B-B14F-4D97-AF65-F5344CB8AC3E}">
        <p14:creationId xmlns:p14="http://schemas.microsoft.com/office/powerpoint/2010/main" val="350548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C6898F5-D3E4-A236-D13A-F70AE8EE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A7F7B59-A7E4-D1AE-5972-1CADFE2438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27F75E4-3DC3-EEE2-2F66-9C1168B130F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1CACCF6A-9083-16D5-2284-22C4B532985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C01AFE0C-0CF3-4978-DBB1-02D4E7E89C0B}"/>
              </a:ext>
            </a:extLst>
          </p:cNvPr>
          <p:cNvSpPr txBox="1"/>
          <p:nvPr/>
        </p:nvSpPr>
        <p:spPr>
          <a:xfrm>
            <a:off x="1143250" y="1378483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" name="Google Shape;471;p28">
            <a:extLst>
              <a:ext uri="{FF2B5EF4-FFF2-40B4-BE49-F238E27FC236}">
                <a16:creationId xmlns:a16="http://schemas.microsoft.com/office/drawing/2014/main" id="{010FB26D-EE97-1C34-3F0A-FD46FF096B25}"/>
              </a:ext>
            </a:extLst>
          </p:cNvPr>
          <p:cNvSpPr txBox="1">
            <a:spLocks/>
          </p:cNvSpPr>
          <p:nvPr/>
        </p:nvSpPr>
        <p:spPr>
          <a:xfrm>
            <a:off x="1060184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The Fibonacci Series;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1C0FC48-6B9A-DB53-1140-0E7B223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Google Shape;583;p33">
            <a:extLst>
              <a:ext uri="{FF2B5EF4-FFF2-40B4-BE49-F238E27FC236}">
                <a16:creationId xmlns:a16="http://schemas.microsoft.com/office/drawing/2014/main" id="{3392F946-AD1F-1C86-7D9F-20C77D7999A5}"/>
              </a:ext>
            </a:extLst>
          </p:cNvPr>
          <p:cNvSpPr txBox="1"/>
          <p:nvPr/>
        </p:nvSpPr>
        <p:spPr>
          <a:xfrm>
            <a:off x="912942" y="1026196"/>
            <a:ext cx="7585084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Which version is faster as the size of the input grows? Why?</a:t>
            </a:r>
          </a:p>
        </p:txBody>
      </p:sp>
      <p:pic>
        <p:nvPicPr>
          <p:cNvPr id="5122" name="Picture 2" descr="What is Fibonacci Series in C: Mathematical and Programming Interpretation  | Simplilearn">
            <a:extLst>
              <a:ext uri="{FF2B5EF4-FFF2-40B4-BE49-F238E27FC236}">
                <a16:creationId xmlns:a16="http://schemas.microsoft.com/office/drawing/2014/main" id="{B551A3B7-9669-5847-081A-B6DBB88DA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416" y="1794581"/>
            <a:ext cx="4865099" cy="231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03D2DA33-B065-A291-3C95-9FFECFE1B78C}"/>
              </a:ext>
            </a:extLst>
          </p:cNvPr>
          <p:cNvSpPr txBox="1"/>
          <p:nvPr/>
        </p:nvSpPr>
        <p:spPr>
          <a:xfrm>
            <a:off x="802774" y="3896518"/>
            <a:ext cx="8440378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Try out different size of values for the input of both versions. </a:t>
            </a:r>
          </a:p>
        </p:txBody>
      </p:sp>
    </p:spTree>
    <p:extLst>
      <p:ext uri="{BB962C8B-B14F-4D97-AF65-F5344CB8AC3E}">
        <p14:creationId xmlns:p14="http://schemas.microsoft.com/office/powerpoint/2010/main" val="296079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9320756E-7583-EC87-938E-AC13F17D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2EF60AD5-24C1-26B6-45CF-843580D4D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Combination and Permutation;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DE382026-4314-60F7-48B7-A465F318BDD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0DDC9C0-E8EF-8047-695F-69870221D3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04F849B-41E4-D461-4304-5C6912B7D8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6" name="Picture 2" descr="How Combinations and Permutations Differ">
            <a:extLst>
              <a:ext uri="{FF2B5EF4-FFF2-40B4-BE49-F238E27FC236}">
                <a16:creationId xmlns:a16="http://schemas.microsoft.com/office/drawing/2014/main" id="{2EE52179-1331-81E3-8505-40028C156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225" y="1489285"/>
            <a:ext cx="3441995" cy="2164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583;p33">
            <a:extLst>
              <a:ext uri="{FF2B5EF4-FFF2-40B4-BE49-F238E27FC236}">
                <a16:creationId xmlns:a16="http://schemas.microsoft.com/office/drawing/2014/main" id="{196A4EC0-4AC0-FC13-6EF6-6A37C57ADABF}"/>
              </a:ext>
            </a:extLst>
          </p:cNvPr>
          <p:cNvSpPr txBox="1"/>
          <p:nvPr/>
        </p:nvSpPr>
        <p:spPr>
          <a:xfrm>
            <a:off x="951018" y="1888759"/>
            <a:ext cx="5235516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You might be familiar with factorial concept in math!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Which is the foundation of combination and permutation.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 (As shown in the picture!)</a:t>
            </a:r>
          </a:p>
        </p:txBody>
      </p:sp>
    </p:spTree>
    <p:extLst>
      <p:ext uri="{BB962C8B-B14F-4D97-AF65-F5344CB8AC3E}">
        <p14:creationId xmlns:p14="http://schemas.microsoft.com/office/powerpoint/2010/main" val="630654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AAE5630-0D4E-F8DF-08A2-30A0C4DD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40DE6ED3-E856-171C-D3B4-E4B39BE67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Combination and Permutation;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62CF8C2E-317A-F5D8-6BFD-1EF8CD4CBB2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CD40946-0774-C022-6D50-1AF567880B7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CC720A0-54C1-4B4A-06F2-A6E1B8064CA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6" name="Picture 2" descr="How Combinations and Permutations Differ">
            <a:extLst>
              <a:ext uri="{FF2B5EF4-FFF2-40B4-BE49-F238E27FC236}">
                <a16:creationId xmlns:a16="http://schemas.microsoft.com/office/drawing/2014/main" id="{8A1B0B17-1262-78CF-0A26-8BAE1AF5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070" y="1218527"/>
            <a:ext cx="2473201" cy="15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583;p33">
            <a:extLst>
              <a:ext uri="{FF2B5EF4-FFF2-40B4-BE49-F238E27FC236}">
                <a16:creationId xmlns:a16="http://schemas.microsoft.com/office/drawing/2014/main" id="{832461F6-57EC-A67C-92A2-C4274B4278A9}"/>
              </a:ext>
            </a:extLst>
          </p:cNvPr>
          <p:cNvSpPr txBox="1"/>
          <p:nvPr/>
        </p:nvSpPr>
        <p:spPr>
          <a:xfrm>
            <a:off x="1143250" y="1572296"/>
            <a:ext cx="5626052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Develop a program implementing combination and permutation.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You should have functions for calculating factorial and permutation and combination. </a:t>
            </a:r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85D56137-DFFF-4C12-1866-DB69C835A662}"/>
              </a:ext>
            </a:extLst>
          </p:cNvPr>
          <p:cNvSpPr txBox="1">
            <a:spLocks/>
          </p:cNvSpPr>
          <p:nvPr/>
        </p:nvSpPr>
        <p:spPr>
          <a:xfrm>
            <a:off x="1283817" y="3646397"/>
            <a:ext cx="7009465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285750" indent="-285750"/>
            <a:r>
              <a:rPr lang="en-US" dirty="0">
                <a:solidFill>
                  <a:srgbClr val="FF0000"/>
                </a:solidFill>
              </a:rPr>
              <a:t>According to the relation, notice that there are two inputs!</a:t>
            </a:r>
          </a:p>
        </p:txBody>
      </p:sp>
    </p:spTree>
    <p:extLst>
      <p:ext uri="{BB962C8B-B14F-4D97-AF65-F5344CB8AC3E}">
        <p14:creationId xmlns:p14="http://schemas.microsoft.com/office/powerpoint/2010/main" val="824880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6F8A451-A449-36B5-8F9D-427DECC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BCBC3170-BF81-A906-80D8-81D3F9F54E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Combination and Permutation;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3C951D14-5F13-C58D-805A-F2075090722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6096066-D8D2-E238-41F9-F0BBB6CA249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1ECE566-5E3A-16C7-037B-F3B881E53D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6" name="Picture 2" descr="How Combinations and Permutations Differ">
            <a:extLst>
              <a:ext uri="{FF2B5EF4-FFF2-40B4-BE49-F238E27FC236}">
                <a16:creationId xmlns:a16="http://schemas.microsoft.com/office/drawing/2014/main" id="{D145A8B2-BD09-DDC8-6533-249F096D3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070" y="1218527"/>
            <a:ext cx="2473201" cy="15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583;p33">
            <a:extLst>
              <a:ext uri="{FF2B5EF4-FFF2-40B4-BE49-F238E27FC236}">
                <a16:creationId xmlns:a16="http://schemas.microsoft.com/office/drawing/2014/main" id="{5DDDC6B9-B105-1373-894A-F9C3489F1A63}"/>
              </a:ext>
            </a:extLst>
          </p:cNvPr>
          <p:cNvSpPr txBox="1"/>
          <p:nvPr/>
        </p:nvSpPr>
        <p:spPr>
          <a:xfrm>
            <a:off x="1143250" y="1572296"/>
            <a:ext cx="5626052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Develop a program implementing combination and permutation.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You should have functions for calculating factorial and permutation and combination. </a:t>
            </a:r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8E086714-6DF5-2D61-F2F2-DD675618E524}"/>
              </a:ext>
            </a:extLst>
          </p:cNvPr>
          <p:cNvSpPr txBox="1">
            <a:spLocks/>
          </p:cNvSpPr>
          <p:nvPr/>
        </p:nvSpPr>
        <p:spPr>
          <a:xfrm>
            <a:off x="1283817" y="3646397"/>
            <a:ext cx="7009465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285750" indent="-285750"/>
            <a:r>
              <a:rPr lang="en-US" dirty="0">
                <a:solidFill>
                  <a:srgbClr val="FF0000"/>
                </a:solidFill>
              </a:rPr>
              <a:t>According to the relation, notice that there are two inputs!</a:t>
            </a:r>
          </a:p>
        </p:txBody>
      </p:sp>
    </p:spTree>
    <p:extLst>
      <p:ext uri="{BB962C8B-B14F-4D97-AF65-F5344CB8AC3E}">
        <p14:creationId xmlns:p14="http://schemas.microsoft.com/office/powerpoint/2010/main" val="3816342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9579649D-2404-F504-77EB-00A9A0AB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7A2E5FA8-E168-F0F2-6145-08DF452F53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Homework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33AF9F55-50B3-9DA2-0D70-9F216BB46C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C6ADAF1-A1B0-656F-4C45-64AE1D5D9E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9553B013-4EC6-2BAE-BA7E-91CC3C8047D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E9D0E10C-7F5F-5E4D-3449-C63A4D5E1361}"/>
              </a:ext>
            </a:extLst>
          </p:cNvPr>
          <p:cNvSpPr txBox="1"/>
          <p:nvPr/>
        </p:nvSpPr>
        <p:spPr>
          <a:xfrm>
            <a:off x="1220368" y="1213684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" name="Google Shape;583;p33">
            <a:extLst>
              <a:ext uri="{FF2B5EF4-FFF2-40B4-BE49-F238E27FC236}">
                <a16:creationId xmlns:a16="http://schemas.microsoft.com/office/drawing/2014/main" id="{8EC7DDFE-9D49-9E47-78DA-9FFB4F9BA636}"/>
              </a:ext>
            </a:extLst>
          </p:cNvPr>
          <p:cNvSpPr txBox="1"/>
          <p:nvPr/>
        </p:nvSpPr>
        <p:spPr>
          <a:xfrm>
            <a:off x="1220368" y="2061498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92D05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A2AF51F9-3A25-6F1C-F491-D6AD8270B2E4}"/>
              </a:ext>
            </a:extLst>
          </p:cNvPr>
          <p:cNvSpPr txBox="1"/>
          <p:nvPr/>
        </p:nvSpPr>
        <p:spPr>
          <a:xfrm>
            <a:off x="1220368" y="3082051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92D05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49683594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371</Words>
  <Application>Microsoft Office PowerPoint</Application>
  <PresentationFormat>On-screen Show (16:9)</PresentationFormat>
  <Paragraphs>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Fira Code</vt:lpstr>
      <vt:lpstr>Lalezar</vt:lpstr>
      <vt:lpstr>B Nazanin</vt:lpstr>
      <vt:lpstr>Arial</vt:lpstr>
      <vt:lpstr>Programming Language Workshop for Beginners by Slidesgo</vt:lpstr>
      <vt:lpstr>PowerPoint Presentation</vt:lpstr>
      <vt:lpstr>Function Implementation</vt:lpstr>
      <vt:lpstr>What is function?;</vt:lpstr>
      <vt:lpstr>What is function?;</vt:lpstr>
      <vt:lpstr>Binary and Decimal formats;</vt:lpstr>
      <vt:lpstr>The Fibonacci Series;</vt:lpstr>
      <vt:lpstr>PowerPoint Presentation</vt:lpstr>
      <vt:lpstr>PowerPoint Presentation</vt:lpstr>
      <vt:lpstr>Combination and Permutation;</vt:lpstr>
      <vt:lpstr>Combination and Permutation;</vt:lpstr>
      <vt:lpstr>Combination and Permutation;</vt:lpstr>
      <vt:lpstr>Homework;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Esmaeil Khosravi</cp:lastModifiedBy>
  <cp:revision>5</cp:revision>
  <dcterms:modified xsi:type="dcterms:W3CDTF">2025-07-22T20:48:24Z</dcterms:modified>
</cp:coreProperties>
</file>