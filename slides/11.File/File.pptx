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0"/>
  </p:notesMasterIdLst>
  <p:sldIdLst>
    <p:sldId id="256" r:id="rId2"/>
    <p:sldId id="268" r:id="rId3"/>
    <p:sldId id="257" r:id="rId4"/>
    <p:sldId id="270" r:id="rId5"/>
    <p:sldId id="272" r:id="rId6"/>
    <p:sldId id="271" r:id="rId7"/>
    <p:sldId id="273" r:id="rId8"/>
    <p:sldId id="274" r:id="rId9"/>
  </p:sldIdLst>
  <p:sldSz cx="9144000" cy="5143500" type="screen16x9"/>
  <p:notesSz cx="6858000" cy="9144000"/>
  <p:embeddedFontLst>
    <p:embeddedFont>
      <p:font typeface="Fira Code" panose="020B0809050000020004" pitchFamily="49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5060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BEAB1D1-4E42-4361-B4FD-13862715D387}">
  <a:tblStyle styleId="{4BEAB1D1-4E42-4361-B4FD-13862715D38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35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6" y="1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e7b513348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6" name="Google Shape;456;ge7b513348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1" name="Google Shape;811;ge7b3cc9d39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2" name="Google Shape;812;ge7b3cc9d39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BF2491A0-7386-F2CC-D5AD-03E13D6444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79D8D98C-D303-CDE7-B816-F12C334CF1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6558A0FB-CB71-C275-5DF0-2B08AE84A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86042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91D3B140-AAD4-FA20-8372-A62AE33E0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BD19AC7B-DC4A-A3C5-234F-FE875DEF88F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36C27BEB-6E6D-D62A-AD41-8291042DA86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16212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338C6E3B-8DCA-F6CE-3300-5FF1A40FD3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173488B1-DF70-850C-52C4-A34F5623348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A7DCB267-1F3D-2C9E-99A0-DA353FD14EE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87062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>
          <a:extLst>
            <a:ext uri="{FF2B5EF4-FFF2-40B4-BE49-F238E27FC236}">
              <a16:creationId xmlns:a16="http://schemas.microsoft.com/office/drawing/2014/main" id="{4EA068FD-5838-AE88-F747-6BD6E6A61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e7f9c668d6_0_0:notes">
            <a:extLst>
              <a:ext uri="{FF2B5EF4-FFF2-40B4-BE49-F238E27FC236}">
                <a16:creationId xmlns:a16="http://schemas.microsoft.com/office/drawing/2014/main" id="{FDCEA456-2411-CF4E-3E0D-D8F6288ADD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e7f9c668d6_0_0:notes">
            <a:extLst>
              <a:ext uri="{FF2B5EF4-FFF2-40B4-BE49-F238E27FC236}">
                <a16:creationId xmlns:a16="http://schemas.microsoft.com/office/drawing/2014/main" id="{E650CB88-8E5C-13D7-51E4-2FED699F4E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048968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0" y="0"/>
            <a:ext cx="4572000" cy="592800"/>
          </a:xfrm>
          <a:prstGeom prst="rect">
            <a:avLst/>
          </a:prstGeom>
          <a:solidFill>
            <a:schemeClr val="dk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ctrTitle"/>
          </p:nvPr>
        </p:nvSpPr>
        <p:spPr>
          <a:xfrm>
            <a:off x="1413525" y="1144250"/>
            <a:ext cx="5788800" cy="517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ubTitle" idx="1"/>
          </p:nvPr>
        </p:nvSpPr>
        <p:spPr>
          <a:xfrm>
            <a:off x="2231025" y="2765300"/>
            <a:ext cx="6202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800">
                <a:solidFill>
                  <a:schemeClr val="accent3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2"/>
          </p:nvPr>
        </p:nvSpPr>
        <p:spPr>
          <a:xfrm>
            <a:off x="1788725" y="1761800"/>
            <a:ext cx="5788800" cy="46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0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5" name="Google Shape;15;p2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6" name="Google Shape;16;p2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7" name="Google Shape;17;p2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8" name="Google Shape;18;p2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9" name="Google Shape;19;p2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0" name="Google Shape;20;p2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1" name="Google Shape;21;p2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2" name="Google Shape;22;p2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3" name="Google Shape;23;p2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4" name="Google Shape;24;p2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5" name="Google Shape;25;p2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6" name="Google Shape;26;p2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27" name="Google Shape;27;p2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4"/>
          <p:cNvSpPr/>
          <p:nvPr/>
        </p:nvSpPr>
        <p:spPr>
          <a:xfrm>
            <a:off x="4572000" y="0"/>
            <a:ext cx="4572000" cy="592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4"/>
          <p:cNvSpPr txBox="1">
            <a:spLocks noGrp="1"/>
          </p:cNvSpPr>
          <p:nvPr>
            <p:ph type="title"/>
          </p:nvPr>
        </p:nvSpPr>
        <p:spPr>
          <a:xfrm>
            <a:off x="1143250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4"/>
          <p:cNvSpPr txBox="1">
            <a:spLocks noGrp="1"/>
          </p:cNvSpPr>
          <p:nvPr>
            <p:ph type="body" idx="1"/>
          </p:nvPr>
        </p:nvSpPr>
        <p:spPr>
          <a:xfrm>
            <a:off x="1464250" y="1063175"/>
            <a:ext cx="6969600" cy="3416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∗"/>
              <a:defRPr sz="10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p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4" name="Google Shape;54;p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5" name="Google Shape;55;p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6" name="Google Shape;56;p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7" name="Google Shape;57;p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8" name="Google Shape;58;p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59" name="Google Shape;59;p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0" name="Google Shape;60;p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1" name="Google Shape;61;p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2" name="Google Shape;62;p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3" name="Google Shape;63;p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4" name="Google Shape;64;p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66" name="Google Shape;66;p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title"/>
          </p:nvPr>
        </p:nvSpPr>
        <p:spPr>
          <a:xfrm>
            <a:off x="710125" y="542575"/>
            <a:ext cx="3861900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9"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23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23"/>
          <p:cNvSpPr/>
          <p:nvPr/>
        </p:nvSpPr>
        <p:spPr>
          <a:xfrm>
            <a:off x="457200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23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0" name="Google Shape;420;p23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1" name="Google Shape;421;p23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2" name="Google Shape;422;p23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3" name="Google Shape;423;p23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4" name="Google Shape;424;p23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5" name="Google Shape;425;p23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6" name="Google Shape;426;p23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7" name="Google Shape;427;p23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8" name="Google Shape;428;p23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29" name="Google Shape;429;p23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0" name="Google Shape;430;p23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1" name="Google Shape;431;p23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2" name="Google Shape;432;p23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 1">
  <p:cSld name="CUSTOM_9_2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4"/>
          <p:cNvSpPr/>
          <p:nvPr/>
        </p:nvSpPr>
        <p:spPr>
          <a:xfrm>
            <a:off x="0" y="542575"/>
            <a:ext cx="9144000" cy="405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24"/>
          <p:cNvSpPr/>
          <p:nvPr/>
        </p:nvSpPr>
        <p:spPr>
          <a:xfrm>
            <a:off x="0" y="0"/>
            <a:ext cx="4572000" cy="626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24"/>
          <p:cNvSpPr txBox="1"/>
          <p:nvPr/>
        </p:nvSpPr>
        <p:spPr>
          <a:xfrm>
            <a:off x="710125" y="745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7" name="Google Shape;437;p24"/>
          <p:cNvSpPr txBox="1"/>
          <p:nvPr/>
        </p:nvSpPr>
        <p:spPr>
          <a:xfrm>
            <a:off x="710125" y="1009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8" name="Google Shape;438;p24"/>
          <p:cNvSpPr txBox="1"/>
          <p:nvPr/>
        </p:nvSpPr>
        <p:spPr>
          <a:xfrm>
            <a:off x="710125" y="1273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39" name="Google Shape;439;p24"/>
          <p:cNvSpPr txBox="1"/>
          <p:nvPr/>
        </p:nvSpPr>
        <p:spPr>
          <a:xfrm>
            <a:off x="710125" y="1537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0" name="Google Shape;440;p24"/>
          <p:cNvSpPr txBox="1"/>
          <p:nvPr/>
        </p:nvSpPr>
        <p:spPr>
          <a:xfrm>
            <a:off x="710125" y="18007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5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1" name="Google Shape;441;p24"/>
          <p:cNvSpPr txBox="1"/>
          <p:nvPr/>
        </p:nvSpPr>
        <p:spPr>
          <a:xfrm>
            <a:off x="710125" y="20644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6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2" name="Google Shape;442;p24"/>
          <p:cNvSpPr txBox="1"/>
          <p:nvPr/>
        </p:nvSpPr>
        <p:spPr>
          <a:xfrm>
            <a:off x="710125" y="23281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7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3" name="Google Shape;443;p24"/>
          <p:cNvSpPr txBox="1"/>
          <p:nvPr/>
        </p:nvSpPr>
        <p:spPr>
          <a:xfrm>
            <a:off x="710125" y="25918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8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4" name="Google Shape;444;p24"/>
          <p:cNvSpPr txBox="1"/>
          <p:nvPr/>
        </p:nvSpPr>
        <p:spPr>
          <a:xfrm>
            <a:off x="710125" y="28555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9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5" name="Google Shape;445;p24"/>
          <p:cNvSpPr txBox="1"/>
          <p:nvPr/>
        </p:nvSpPr>
        <p:spPr>
          <a:xfrm>
            <a:off x="710125" y="31192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6" name="Google Shape;446;p24"/>
          <p:cNvSpPr txBox="1"/>
          <p:nvPr/>
        </p:nvSpPr>
        <p:spPr>
          <a:xfrm>
            <a:off x="710125" y="33829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11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7" name="Google Shape;447;p24"/>
          <p:cNvSpPr txBox="1"/>
          <p:nvPr/>
        </p:nvSpPr>
        <p:spPr>
          <a:xfrm>
            <a:off x="710125" y="36466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12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8" name="Google Shape;448;p24"/>
          <p:cNvSpPr txBox="1"/>
          <p:nvPr/>
        </p:nvSpPr>
        <p:spPr>
          <a:xfrm>
            <a:off x="710125" y="39103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13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449" name="Google Shape;449;p24"/>
          <p:cNvSpPr txBox="1"/>
          <p:nvPr/>
        </p:nvSpPr>
        <p:spPr>
          <a:xfrm>
            <a:off x="710125" y="4174050"/>
            <a:ext cx="429000" cy="2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707070"/>
                </a:solidFill>
                <a:latin typeface="Fira Code"/>
                <a:ea typeface="Fira Code"/>
                <a:cs typeface="Fira Code"/>
                <a:sym typeface="Fira Code"/>
              </a:rPr>
              <a:t>14</a:t>
            </a:r>
            <a:endParaRPr>
              <a:solidFill>
                <a:srgbClr val="707070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5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Fira Code"/>
              <a:buNone/>
              <a:defRPr sz="2800">
                <a:solidFill>
                  <a:schemeClr val="lt1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Code"/>
              <a:buNone/>
              <a:defRPr sz="2800">
                <a:solidFill>
                  <a:schemeClr val="dk1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0" r:id="rId2"/>
    <p:sldLayoutId id="2147483656" r:id="rId3"/>
    <p:sldLayoutId id="2147483658" r:id="rId4"/>
    <p:sldLayoutId id="2147483669" r:id="rId5"/>
    <p:sldLayoutId id="2147483670" r:id="rId6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7"/>
          <p:cNvSpPr txBox="1">
            <a:spLocks noGrp="1"/>
          </p:cNvSpPr>
          <p:nvPr>
            <p:ph type="subTitle" idx="1"/>
          </p:nvPr>
        </p:nvSpPr>
        <p:spPr>
          <a:xfrm>
            <a:off x="754333" y="4669206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indent="0"/>
            <a:r>
              <a:rPr lang="en-US" sz="1100" dirty="0"/>
              <a:t>#1</a:t>
            </a:r>
            <a:endParaRPr sz="1100" dirty="0"/>
          </a:p>
        </p:txBody>
      </p:sp>
      <p:sp>
        <p:nvSpPr>
          <p:cNvPr id="12" name="AutoShape 4">
            <a:extLst>
              <a:ext uri="{FF2B5EF4-FFF2-40B4-BE49-F238E27FC236}">
                <a16:creationId xmlns:a16="http://schemas.microsoft.com/office/drawing/2014/main" id="{73A6F7C9-409A-797F-AF51-72A58DC2B3E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87D918C-E0AC-FDBE-0A5B-BBBF853694C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 bright="70000" contrast="-70000"/>
          </a:blip>
          <a:stretch>
            <a:fillRect/>
          </a:stretch>
        </p:blipFill>
        <p:spPr>
          <a:xfrm>
            <a:off x="3784285" y="779086"/>
            <a:ext cx="1439504" cy="149896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81BAAFEF-2D9E-F2CE-7133-52BC8A24DCB9}"/>
              </a:ext>
            </a:extLst>
          </p:cNvPr>
          <p:cNvSpPr txBox="1"/>
          <p:nvPr/>
        </p:nvSpPr>
        <p:spPr>
          <a:xfrm>
            <a:off x="2458994" y="2468693"/>
            <a:ext cx="4226011" cy="8901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 err="1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Amirkabir</a:t>
            </a: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 University of Technology 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(Tehran Polytechnic)</a:t>
            </a:r>
          </a:p>
          <a:p>
            <a:pPr algn="ctr">
              <a:lnSpc>
                <a:spcPct val="150000"/>
              </a:lnSpc>
              <a:buClr>
                <a:schemeClr val="dk2"/>
              </a:buClr>
              <a:buSzPts val="1400"/>
            </a:pPr>
            <a:r>
              <a:rPr lang="en-US" sz="1200" b="1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  <a:sym typeface="Fira Code"/>
              </a:rPr>
              <a:t>Department of Computer Engineering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7BBED3-F08C-3E20-661F-A0EDA0FFFE9B}"/>
              </a:ext>
            </a:extLst>
          </p:cNvPr>
          <p:cNvSpPr txBox="1"/>
          <p:nvPr/>
        </p:nvSpPr>
        <p:spPr>
          <a:xfrm>
            <a:off x="4297298" y="3408151"/>
            <a:ext cx="17114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>
                <a:solidFill>
                  <a:schemeClr val="accent3"/>
                </a:solidFill>
                <a:latin typeface="Arial" panose="020B0604020202020204" pitchFamily="34" charset="0"/>
                <a:ea typeface="Fira Code"/>
                <a:cs typeface="Arial" panose="020B0604020202020204" pitchFamily="34" charset="0"/>
              </a:rPr>
              <a:t>File</a:t>
            </a:r>
          </a:p>
        </p:txBody>
      </p:sp>
      <p:sp>
        <p:nvSpPr>
          <p:cNvPr id="5" name="Google Shape;473;p28">
            <a:extLst>
              <a:ext uri="{FF2B5EF4-FFF2-40B4-BE49-F238E27FC236}">
                <a16:creationId xmlns:a16="http://schemas.microsoft.com/office/drawing/2014/main" id="{4565DFF7-02E5-DF80-F84F-AE9E4ED4AF1E}"/>
              </a:ext>
            </a:extLst>
          </p:cNvPr>
          <p:cNvSpPr txBox="1">
            <a:spLocks/>
          </p:cNvSpPr>
          <p:nvPr/>
        </p:nvSpPr>
        <p:spPr>
          <a:xfrm>
            <a:off x="729503" y="4701324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Programming Language Lab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4" name="Google Shape;814;p39"/>
          <p:cNvSpPr txBox="1">
            <a:spLocks noGrp="1"/>
          </p:cNvSpPr>
          <p:nvPr>
            <p:ph type="title"/>
          </p:nvPr>
        </p:nvSpPr>
        <p:spPr>
          <a:xfrm>
            <a:off x="722000" y="370383"/>
            <a:ext cx="4853393" cy="142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dirty="0"/>
              <a:t>File</a:t>
            </a:r>
            <a:endParaRPr dirty="0">
              <a:solidFill>
                <a:schemeClr val="accent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/>
          <p:cNvSpPr txBox="1">
            <a:spLocks noGrp="1"/>
          </p:cNvSpPr>
          <p:nvPr>
            <p:ph type="title"/>
          </p:nvPr>
        </p:nvSpPr>
        <p:spPr>
          <a:xfrm>
            <a:off x="1053014" y="582700"/>
            <a:ext cx="72906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US" sz="2400" dirty="0">
                <a:solidFill>
                  <a:schemeClr val="accent2"/>
                </a:solidFill>
              </a:rPr>
              <a:t>File Handling</a:t>
            </a:r>
            <a:endParaRPr sz="24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/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/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File.c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BE0B1925-328B-2EDA-5EFE-724887B49975}"/>
              </a:ext>
            </a:extLst>
          </p:cNvPr>
          <p:cNvSpPr txBox="1"/>
          <p:nvPr/>
        </p:nvSpPr>
        <p:spPr>
          <a:xfrm>
            <a:off x="1124266" y="1192035"/>
            <a:ext cx="7832308" cy="275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r>
              <a:rPr 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Introduction to File Handling in C:</a:t>
            </a:r>
          </a:p>
          <a:p>
            <a:pPr algn="just"/>
            <a:r>
              <a:rPr 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In C, a file is a </a:t>
            </a:r>
            <a:r>
              <a:rPr lang="en-US" sz="1200" b="1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collection of data stored</a:t>
            </a:r>
            <a:r>
              <a:rPr 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 on a permanent storage device like a hard drive or SSD. File handling allows programs to </a:t>
            </a:r>
            <a:r>
              <a:rPr lang="en-US" sz="1200" b="1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store data </a:t>
            </a:r>
            <a:r>
              <a:rPr 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permanently, </a:t>
            </a:r>
            <a:r>
              <a:rPr lang="en-US" sz="1200" b="1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read previously stored data</a:t>
            </a:r>
            <a:r>
              <a:rPr 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, and share data between programs.</a:t>
            </a:r>
            <a:endParaRPr lang="fa-IR" sz="12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algn="just"/>
            <a:endParaRPr lang="fa-IR" sz="1200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algn="just"/>
            <a:endParaRPr lang="fa-IR" sz="1200" dirty="0">
              <a:solidFill>
                <a:schemeClr val="accent1"/>
              </a:solidFill>
              <a:latin typeface="Fira Code"/>
              <a:ea typeface="Fira Code"/>
              <a:sym typeface="Fira Code"/>
            </a:endParaRP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2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Using file handling, you can: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Save program output for later use.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Read input data from a file instead of the keyboard.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en-US" altLang="en-US" sz="12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Maintain records, logs, or databases in simple programs.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sz="1100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C provides a set of functions to work with files, such as </a:t>
            </a:r>
            <a:r>
              <a:rPr lang="en-US" altLang="en-US" sz="1100" b="1" dirty="0" err="1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fopen</a:t>
            </a:r>
            <a:r>
              <a:rPr lang="en-US" altLang="en-US" sz="11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, </a:t>
            </a:r>
            <a:r>
              <a:rPr lang="en-US" altLang="en-US" sz="1100" b="1" dirty="0" err="1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fclose</a:t>
            </a:r>
            <a:r>
              <a:rPr lang="en-US" altLang="en-US" sz="11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, </a:t>
            </a:r>
            <a:r>
              <a:rPr lang="en-US" altLang="en-US" sz="1100" b="1" dirty="0" err="1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fprintf</a:t>
            </a:r>
            <a:r>
              <a:rPr lang="en-US" altLang="en-US" sz="11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, </a:t>
            </a:r>
            <a:r>
              <a:rPr lang="en-US" altLang="en-US" sz="1100" b="1" dirty="0" err="1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fscanf</a:t>
            </a:r>
            <a:r>
              <a:rPr lang="en-US" altLang="en-US" sz="11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, </a:t>
            </a:r>
            <a:r>
              <a:rPr lang="en-US" altLang="en-US" sz="1100" b="1" dirty="0" err="1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fread</a:t>
            </a:r>
            <a:r>
              <a:rPr lang="en-US" altLang="en-US" sz="11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, and </a:t>
            </a:r>
            <a:r>
              <a:rPr lang="en-US" altLang="en-US" sz="1100" b="1" dirty="0" err="1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fwrite</a:t>
            </a:r>
            <a:r>
              <a:rPr lang="en-US" altLang="en-US" sz="1100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.</a:t>
            </a:r>
          </a:p>
          <a:p>
            <a:pPr algn="just"/>
            <a:endParaRPr lang="fa-IR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algn="just"/>
            <a:endParaRPr lang="en-US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ED1FD636-A210-B0E0-3223-1D7CC350035B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>
                <a:solidFill>
                  <a:schemeClr val="accent3"/>
                </a:solidFill>
              </a:rPr>
              <a:t>1</a:t>
            </a:r>
            <a:endParaRPr lang="en" dirty="0">
              <a:solidFill>
                <a:schemeClr val="accent3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30BCC57D-6161-8AF4-77C4-30C2879A7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D6DA0A76-B03B-C2C6-3944-F1FE777266F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1139" y="516067"/>
            <a:ext cx="72906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accent2"/>
                </a:solidFill>
              </a:rPr>
              <a:t>How can we write data to a file?</a:t>
            </a:r>
            <a:r>
              <a:rPr lang="en-US" sz="1600" dirty="0"/>
              <a:t> </a:t>
            </a:r>
            <a:br>
              <a:rPr lang="fa-IR" sz="1600" dirty="0"/>
            </a:br>
            <a:br>
              <a:rPr lang="fa-IR" sz="1600" dirty="0">
                <a:solidFill>
                  <a:schemeClr val="accent2"/>
                </a:solidFill>
              </a:rPr>
            </a:br>
            <a:br>
              <a:rPr lang="en-US" sz="1600" dirty="0"/>
            </a:br>
            <a:endParaRPr sz="16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83ABE9A7-5F84-F0E4-5099-879CCC975D40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15A514DF-7F6D-3975-8F4C-0A0D807B6447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File.c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969A889D-02D8-5AD7-40A2-07BA6DDC8772}"/>
              </a:ext>
            </a:extLst>
          </p:cNvPr>
          <p:cNvSpPr txBox="1"/>
          <p:nvPr/>
        </p:nvSpPr>
        <p:spPr>
          <a:xfrm>
            <a:off x="1124266" y="1192035"/>
            <a:ext cx="7832308" cy="275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endParaRPr lang="fa-IR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algn="just"/>
            <a:endParaRPr lang="en-US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C124633A-38A9-C914-5607-0C4BE7D5B18F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2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34221400-7DCC-BD1B-665E-F65AACE6DFCA}"/>
              </a:ext>
            </a:extLst>
          </p:cNvPr>
          <p:cNvSpPr/>
          <p:nvPr/>
        </p:nvSpPr>
        <p:spPr>
          <a:xfrm>
            <a:off x="1202889" y="1207843"/>
            <a:ext cx="7675061" cy="3022270"/>
          </a:xfrm>
          <a:prstGeom prst="roundRect">
            <a:avLst>
              <a:gd name="adj" fmla="val 3341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10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#include 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&lt;</a:t>
            </a:r>
            <a:r>
              <a:rPr lang="en-US" sz="1100" dirty="0" err="1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stdio.h</a:t>
            </a:r>
            <a:r>
              <a:rPr lang="en-US" sz="110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&gt;</a:t>
            </a:r>
            <a:endParaRPr lang="en-US" sz="1050" dirty="0">
              <a:solidFill>
                <a:srgbClr val="DBA0DB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int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main() {</a:t>
            </a:r>
            <a:endParaRPr lang="fa-IR" sz="1050" dirty="0">
              <a:solidFill>
                <a:srgbClr val="DBA0DB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endParaRPr lang="en-US" sz="1050" dirty="0">
              <a:solidFill>
                <a:srgbClr val="DBA0DB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FILE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*</a:t>
            </a:r>
            <a:r>
              <a:rPr lang="en-US" sz="1050" dirty="0" err="1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fp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; </a:t>
            </a:r>
            <a:endParaRPr lang="fa-IR" sz="1050" dirty="0">
              <a:solidFill>
                <a:srgbClr val="DBA0DB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 err="1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fp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= </a:t>
            </a:r>
            <a:r>
              <a:rPr lang="en-US" sz="1050" dirty="0" err="1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fopen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("output.txt", "w");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if(</a:t>
            </a:r>
            <a:r>
              <a:rPr lang="en-US" sz="1050" dirty="0" err="1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fp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== NULL) {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    </a:t>
            </a:r>
            <a:r>
              <a:rPr lang="en-US" sz="1050" dirty="0" err="1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printf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("Error opening file!\n");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    return 1;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}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endParaRPr lang="en-US" sz="1050" dirty="0">
              <a:solidFill>
                <a:srgbClr val="DBA0DB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 err="1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fprintf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</a:t>
            </a:r>
            <a:r>
              <a:rPr lang="en-US" sz="1050" dirty="0" err="1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fp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, "Hello, World!\n");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 err="1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fprintf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</a:t>
            </a:r>
            <a:r>
              <a:rPr lang="en-US" sz="1050" dirty="0" err="1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fp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, "This is a simple file writing example.\n");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 err="1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fclose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</a:t>
            </a:r>
            <a:r>
              <a:rPr lang="en-US" sz="1050" dirty="0" err="1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fp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);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endParaRPr lang="en-US" sz="1050" dirty="0">
              <a:solidFill>
                <a:srgbClr val="DBA0DB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 err="1">
                <a:solidFill>
                  <a:schemeClr val="tx2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printf</a:t>
            </a: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("Data has been written to the file.\n");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endParaRPr lang="en-US" sz="1050" dirty="0">
              <a:solidFill>
                <a:srgbClr val="DBA0DB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  <a:sym typeface="Fira Code"/>
            </a:endParaRP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    return 0;</a:t>
            </a:r>
          </a:p>
          <a:p>
            <a:pPr marL="139700" lvl="0">
              <a:buClr>
                <a:srgbClr val="72D9F0"/>
              </a:buClr>
              <a:buSzPts val="1400"/>
              <a:defRPr/>
            </a:pPr>
            <a:r>
              <a:rPr lang="en-US" sz="1050" dirty="0">
                <a:solidFill>
                  <a:srgbClr val="DBA0DB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Fira Code"/>
              </a:rPr>
              <a:t>}</a:t>
            </a:r>
          </a:p>
        </p:txBody>
      </p:sp>
      <p:sp>
        <p:nvSpPr>
          <p:cNvPr id="3" name="Google Shape;474;p28">
            <a:extLst>
              <a:ext uri="{FF2B5EF4-FFF2-40B4-BE49-F238E27FC236}">
                <a16:creationId xmlns:a16="http://schemas.microsoft.com/office/drawing/2014/main" id="{889F9F27-CDD4-DBE8-4779-620DF5D8091C}"/>
              </a:ext>
            </a:extLst>
          </p:cNvPr>
          <p:cNvSpPr txBox="1">
            <a:spLocks/>
          </p:cNvSpPr>
          <p:nvPr/>
        </p:nvSpPr>
        <p:spPr>
          <a:xfrm>
            <a:off x="4474981" y="125146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endParaRPr lang="en-US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469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755E001B-A242-CF3F-FCD6-A894B8E083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p28">
            <a:extLst>
              <a:ext uri="{FF2B5EF4-FFF2-40B4-BE49-F238E27FC236}">
                <a16:creationId xmlns:a16="http://schemas.microsoft.com/office/drawing/2014/main" id="{587A8A63-58DB-F396-531B-CA834C8995E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41139" y="432457"/>
            <a:ext cx="7290600" cy="35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50000"/>
              </a:lnSpc>
            </a:pPr>
            <a:r>
              <a:rPr lang="en-US" sz="1800" dirty="0">
                <a:solidFill>
                  <a:schemeClr val="accent2"/>
                </a:solidFill>
              </a:rPr>
              <a:t>How can we write data to a file?</a:t>
            </a:r>
            <a:r>
              <a:rPr lang="en-US" sz="1800" dirty="0"/>
              <a:t> </a:t>
            </a:r>
            <a:br>
              <a:rPr lang="fa-IR" sz="1800" dirty="0"/>
            </a:br>
            <a:br>
              <a:rPr lang="fa-IR" sz="1800" dirty="0">
                <a:solidFill>
                  <a:schemeClr val="accent2"/>
                </a:solidFill>
              </a:rPr>
            </a:br>
            <a:br>
              <a:rPr lang="en-US" sz="1800" dirty="0"/>
            </a:br>
            <a:endParaRPr sz="1800" dirty="0">
              <a:solidFill>
                <a:schemeClr val="accent2"/>
              </a:solidFill>
            </a:endParaRPr>
          </a:p>
        </p:txBody>
      </p:sp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2362F38B-3011-D633-35D8-8F24EB142BE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512A146-4FBF-2E2D-5505-43B335092DED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File.c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17E4F989-FD35-C1AC-F73A-A3A63E0DDECB}"/>
              </a:ext>
            </a:extLst>
          </p:cNvPr>
          <p:cNvSpPr txBox="1"/>
          <p:nvPr/>
        </p:nvSpPr>
        <p:spPr>
          <a:xfrm>
            <a:off x="1124266" y="1192035"/>
            <a:ext cx="7832308" cy="27594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algn="just"/>
            <a:endParaRPr lang="fa-IR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algn="just"/>
            <a:endParaRPr lang="en-US" dirty="0">
              <a:solidFill>
                <a:schemeClr val="accent1"/>
              </a:solidFill>
              <a:latin typeface="Fira Code"/>
              <a:ea typeface="Fira Code"/>
              <a:cs typeface="Fira Code"/>
              <a:sym typeface="Fira Code"/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B80B80B7-7FF6-A053-FBAD-BB8A29D58B36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3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3" name="Google Shape;474;p28">
            <a:extLst>
              <a:ext uri="{FF2B5EF4-FFF2-40B4-BE49-F238E27FC236}">
                <a16:creationId xmlns:a16="http://schemas.microsoft.com/office/drawing/2014/main" id="{42518EE6-9DD0-F79A-4932-9954023A24BD}"/>
              </a:ext>
            </a:extLst>
          </p:cNvPr>
          <p:cNvSpPr txBox="1">
            <a:spLocks/>
          </p:cNvSpPr>
          <p:nvPr/>
        </p:nvSpPr>
        <p:spPr>
          <a:xfrm>
            <a:off x="4474981" y="125146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Task 1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E87198B-6C96-F7EB-D66F-3BF8371D7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1139" y="900651"/>
            <a:ext cx="8024954" cy="27238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Define a struct Student that contains: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05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name (string, maximum 30 characters)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05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age (integer)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lang="en-US" altLang="en-US" sz="1050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grade (float)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Task:</a:t>
            </a:r>
          </a:p>
          <a:p>
            <a:pPr marL="0" marR="0" lvl="0" indent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/>
              <a:tabLst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Write a program that asks the user to enter information for 3 students.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2"/>
              <a:tabLst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Store the data in an array of Student.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3"/>
              <a:tabLst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Write all student information to a file named students.txt.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AutoNum type="arabicPeriod" startAt="4"/>
              <a:tabLst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Each student should be written on a separate line in the format: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accent2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52909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5417D-3D91-C940-08D3-F655989732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1800" dirty="0">
                <a:solidFill>
                  <a:schemeClr val="accent2"/>
                </a:solidFill>
              </a:rPr>
              <a:t>How can we read data from a file?</a:t>
            </a:r>
            <a:r>
              <a:rPr lang="en-US" sz="1800" dirty="0"/>
              <a:t> </a:t>
            </a:r>
            <a:br>
              <a:rPr lang="fa-IR" sz="1800" dirty="0"/>
            </a:br>
            <a:br>
              <a:rPr lang="fa-IR" sz="1800" dirty="0">
                <a:solidFill>
                  <a:schemeClr val="accent2"/>
                </a:solidFill>
              </a:rPr>
            </a:br>
            <a:br>
              <a:rPr lang="en-US" sz="1800" dirty="0"/>
            </a:br>
            <a:endParaRPr lang="en-US" sz="1800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A7BDC2F-1766-C0F7-8F8A-5C7F9E4CE4B4}"/>
              </a:ext>
            </a:extLst>
          </p:cNvPr>
          <p:cNvSpPr/>
          <p:nvPr/>
        </p:nvSpPr>
        <p:spPr>
          <a:xfrm>
            <a:off x="1184813" y="1123900"/>
            <a:ext cx="3170638" cy="3313216"/>
          </a:xfrm>
          <a:prstGeom prst="roundRect">
            <a:avLst>
              <a:gd name="adj" fmla="val 3943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3970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#include </a:t>
            </a:r>
            <a:r>
              <a:rPr lang="en-US" sz="900" dirty="0">
                <a:solidFill>
                  <a:schemeClr val="accent1"/>
                </a:solidFill>
              </a:rPr>
              <a:t>&lt;</a:t>
            </a:r>
            <a:r>
              <a:rPr lang="en-US" sz="900" dirty="0" err="1">
                <a:solidFill>
                  <a:schemeClr val="accent1"/>
                </a:solidFill>
              </a:rPr>
              <a:t>stdio.h</a:t>
            </a:r>
            <a:r>
              <a:rPr lang="en-US" sz="900" dirty="0">
                <a:solidFill>
                  <a:schemeClr val="accent1"/>
                </a:solidFill>
              </a:rPr>
              <a:t>&gt;</a:t>
            </a:r>
          </a:p>
          <a:p>
            <a:pPr marL="139700" indent="0">
              <a:buNone/>
            </a:pPr>
            <a:endParaRPr lang="en-US" sz="900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int</a:t>
            </a:r>
            <a:r>
              <a:rPr lang="en-US" sz="900" dirty="0">
                <a:solidFill>
                  <a:schemeClr val="accent1"/>
                </a:solidFill>
              </a:rPr>
              <a:t> main() {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</a:t>
            </a:r>
            <a:r>
              <a:rPr lang="en-US" sz="900" dirty="0">
                <a:solidFill>
                  <a:schemeClr val="tx2"/>
                </a:solidFill>
              </a:rPr>
              <a:t>FILE</a:t>
            </a:r>
            <a:r>
              <a:rPr lang="en-US" sz="900" dirty="0">
                <a:solidFill>
                  <a:schemeClr val="accent1"/>
                </a:solidFill>
              </a:rPr>
              <a:t> *</a:t>
            </a:r>
            <a:r>
              <a:rPr lang="en-US" sz="900" dirty="0" err="1">
                <a:solidFill>
                  <a:schemeClr val="accent1"/>
                </a:solidFill>
              </a:rPr>
              <a:t>fp</a:t>
            </a:r>
            <a:r>
              <a:rPr lang="en-US" sz="900" dirty="0">
                <a:solidFill>
                  <a:schemeClr val="accent1"/>
                </a:solidFill>
              </a:rPr>
              <a:t>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</a:t>
            </a:r>
            <a:r>
              <a:rPr lang="en-US" sz="900" dirty="0">
                <a:solidFill>
                  <a:schemeClr val="tx2"/>
                </a:solidFill>
              </a:rPr>
              <a:t>char</a:t>
            </a:r>
            <a:r>
              <a:rPr lang="en-US" sz="900" dirty="0">
                <a:solidFill>
                  <a:schemeClr val="accent1"/>
                </a:solidFill>
              </a:rPr>
              <a:t> line[100];</a:t>
            </a:r>
          </a:p>
          <a:p>
            <a:pPr marL="139700" indent="0">
              <a:buNone/>
            </a:pPr>
            <a:endParaRPr lang="en-US" sz="900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</a:t>
            </a:r>
            <a:r>
              <a:rPr lang="en-US" sz="900" dirty="0" err="1">
                <a:solidFill>
                  <a:schemeClr val="accent1"/>
                </a:solidFill>
              </a:rPr>
              <a:t>fp</a:t>
            </a:r>
            <a:r>
              <a:rPr lang="en-US" sz="900" dirty="0">
                <a:solidFill>
                  <a:schemeClr val="accent1"/>
                </a:solidFill>
              </a:rPr>
              <a:t> = </a:t>
            </a:r>
            <a:r>
              <a:rPr lang="en-US" sz="900" dirty="0" err="1">
                <a:solidFill>
                  <a:schemeClr val="tx2"/>
                </a:solidFill>
              </a:rPr>
              <a:t>fopen</a:t>
            </a:r>
            <a:r>
              <a:rPr lang="en-US" sz="900" dirty="0">
                <a:solidFill>
                  <a:schemeClr val="accent1"/>
                </a:solidFill>
              </a:rPr>
              <a:t>("students.txt", "r");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if(</a:t>
            </a:r>
            <a:r>
              <a:rPr lang="en-US" sz="900" dirty="0" err="1">
                <a:solidFill>
                  <a:schemeClr val="accent1"/>
                </a:solidFill>
              </a:rPr>
              <a:t>fp</a:t>
            </a:r>
            <a:r>
              <a:rPr lang="en-US" sz="900" dirty="0">
                <a:solidFill>
                  <a:schemeClr val="accent1"/>
                </a:solidFill>
              </a:rPr>
              <a:t> == NULL) {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    </a:t>
            </a:r>
            <a:r>
              <a:rPr lang="en-US" sz="900" dirty="0" err="1">
                <a:solidFill>
                  <a:schemeClr val="tx2"/>
                </a:solidFill>
              </a:rPr>
              <a:t>printf</a:t>
            </a:r>
            <a:r>
              <a:rPr lang="en-US" sz="900" dirty="0">
                <a:solidFill>
                  <a:schemeClr val="accent1"/>
                </a:solidFill>
              </a:rPr>
              <a:t>("Error opening file!\n");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    </a:t>
            </a:r>
            <a:r>
              <a:rPr lang="en-US" sz="900" dirty="0">
                <a:solidFill>
                  <a:schemeClr val="tx2"/>
                </a:solidFill>
              </a:rPr>
              <a:t>return</a:t>
            </a:r>
            <a:r>
              <a:rPr lang="en-US" sz="900" dirty="0">
                <a:solidFill>
                  <a:schemeClr val="accent1"/>
                </a:solidFill>
              </a:rPr>
              <a:t> 1;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}</a:t>
            </a:r>
          </a:p>
          <a:p>
            <a:pPr marL="139700" indent="0">
              <a:buNone/>
            </a:pPr>
            <a:endParaRPr lang="en-US" sz="900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</a:t>
            </a:r>
            <a:r>
              <a:rPr lang="en-US" sz="900" dirty="0" err="1">
                <a:solidFill>
                  <a:schemeClr val="tx2"/>
                </a:solidFill>
              </a:rPr>
              <a:t>printf</a:t>
            </a:r>
            <a:r>
              <a:rPr lang="en-US" sz="900" dirty="0">
                <a:solidFill>
                  <a:schemeClr val="accent1"/>
                </a:solidFill>
              </a:rPr>
              <a:t>("Reading data from file:\n");</a:t>
            </a:r>
          </a:p>
          <a:p>
            <a:pPr marL="139700" indent="0">
              <a:buNone/>
            </a:pPr>
            <a:endParaRPr lang="en-US" sz="900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    while</a:t>
            </a:r>
            <a:r>
              <a:rPr lang="en-US" sz="900" dirty="0">
                <a:solidFill>
                  <a:schemeClr val="accent1"/>
                </a:solidFill>
              </a:rPr>
              <a:t>(</a:t>
            </a:r>
            <a:r>
              <a:rPr lang="en-US" sz="900" dirty="0" err="1">
                <a:solidFill>
                  <a:schemeClr val="tx2"/>
                </a:solidFill>
              </a:rPr>
              <a:t>fgets</a:t>
            </a:r>
            <a:r>
              <a:rPr lang="en-US" sz="900" dirty="0">
                <a:solidFill>
                  <a:schemeClr val="accent1"/>
                </a:solidFill>
              </a:rPr>
              <a:t>(line, </a:t>
            </a:r>
            <a:r>
              <a:rPr lang="en-US" sz="900" dirty="0" err="1">
                <a:solidFill>
                  <a:schemeClr val="accent1"/>
                </a:solidFill>
              </a:rPr>
              <a:t>sizeof</a:t>
            </a:r>
            <a:r>
              <a:rPr lang="en-US" sz="900" dirty="0">
                <a:solidFill>
                  <a:schemeClr val="accent1"/>
                </a:solidFill>
              </a:rPr>
              <a:t>(line), </a:t>
            </a:r>
            <a:r>
              <a:rPr lang="en-US" sz="900" dirty="0" err="1">
                <a:solidFill>
                  <a:schemeClr val="accent1"/>
                </a:solidFill>
              </a:rPr>
              <a:t>fp</a:t>
            </a:r>
            <a:r>
              <a:rPr lang="en-US" sz="900" dirty="0">
                <a:solidFill>
                  <a:schemeClr val="accent1"/>
                </a:solidFill>
              </a:rPr>
              <a:t>) != NULL) {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    </a:t>
            </a:r>
            <a:r>
              <a:rPr lang="en-US" sz="900" dirty="0" err="1">
                <a:solidFill>
                  <a:schemeClr val="tx2"/>
                </a:solidFill>
              </a:rPr>
              <a:t>printf</a:t>
            </a:r>
            <a:r>
              <a:rPr lang="en-US" sz="900" dirty="0">
                <a:solidFill>
                  <a:schemeClr val="accent1"/>
                </a:solidFill>
              </a:rPr>
              <a:t>("%s", line);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}</a:t>
            </a:r>
          </a:p>
          <a:p>
            <a:pPr marL="139700" indent="0">
              <a:buNone/>
            </a:pPr>
            <a:endParaRPr lang="en-US" sz="900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    </a:t>
            </a:r>
            <a:r>
              <a:rPr lang="en-US" sz="900" dirty="0" err="1">
                <a:solidFill>
                  <a:schemeClr val="tx2"/>
                </a:solidFill>
              </a:rPr>
              <a:t>fclose</a:t>
            </a:r>
            <a:r>
              <a:rPr lang="en-US" sz="900" dirty="0">
                <a:solidFill>
                  <a:schemeClr val="accent1"/>
                </a:solidFill>
              </a:rPr>
              <a:t>(</a:t>
            </a:r>
            <a:r>
              <a:rPr lang="en-US" sz="900" dirty="0" err="1">
                <a:solidFill>
                  <a:schemeClr val="accent1"/>
                </a:solidFill>
              </a:rPr>
              <a:t>fp</a:t>
            </a:r>
            <a:r>
              <a:rPr lang="en-US" sz="900" dirty="0">
                <a:solidFill>
                  <a:schemeClr val="accent1"/>
                </a:solidFill>
              </a:rPr>
              <a:t>); </a:t>
            </a:r>
            <a:endParaRPr lang="fa-IR" sz="900" dirty="0">
              <a:solidFill>
                <a:schemeClr val="accent1"/>
              </a:solidFill>
            </a:endParaRPr>
          </a:p>
          <a:p>
            <a:pPr marL="139700" indent="0">
              <a:buNone/>
            </a:pPr>
            <a:r>
              <a:rPr lang="fa-IR" sz="900" dirty="0">
                <a:solidFill>
                  <a:schemeClr val="accent1"/>
                </a:solidFill>
              </a:rPr>
              <a:t>    </a:t>
            </a:r>
            <a:r>
              <a:rPr lang="en-US" sz="900" dirty="0">
                <a:solidFill>
                  <a:schemeClr val="accent1"/>
                </a:solidFill>
              </a:rPr>
              <a:t>return 0;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}</a:t>
            </a:r>
          </a:p>
          <a:p>
            <a:endParaRPr lang="en-US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69D5650-A039-AFCC-A180-CBDADB5F834D}"/>
              </a:ext>
            </a:extLst>
          </p:cNvPr>
          <p:cNvSpPr/>
          <p:nvPr/>
        </p:nvSpPr>
        <p:spPr>
          <a:xfrm>
            <a:off x="4788549" y="2299260"/>
            <a:ext cx="2793845" cy="541200"/>
          </a:xfrm>
          <a:prstGeom prst="roundRect">
            <a:avLst>
              <a:gd name="adj" fmla="val 13814"/>
            </a:avLst>
          </a:prstGeom>
          <a:solidFill>
            <a:schemeClr val="accent5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Name: Alice, Age: 20, Grade: 18.50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Name: Bob, Age: 21, Grade: 17.00</a:t>
            </a:r>
          </a:p>
          <a:p>
            <a:pPr marL="139700" indent="0">
              <a:buNone/>
            </a:pPr>
            <a:r>
              <a:rPr lang="en-US" sz="900" dirty="0">
                <a:solidFill>
                  <a:schemeClr val="accent1"/>
                </a:solidFill>
              </a:rPr>
              <a:t>Name: Charlie, Age: 22, Grade: 19.00</a:t>
            </a:r>
            <a:endParaRPr lang="en-US" dirty="0">
              <a:solidFill>
                <a:schemeClr val="accent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87369B8-1182-E964-6460-DD32A8BCFE36}"/>
              </a:ext>
            </a:extLst>
          </p:cNvPr>
          <p:cNvSpPr txBox="1"/>
          <p:nvPr/>
        </p:nvSpPr>
        <p:spPr>
          <a:xfrm>
            <a:off x="4788549" y="2045344"/>
            <a:ext cx="1146468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chemeClr val="accent3"/>
                </a:solidFill>
                <a:latin typeface="Fira Code"/>
                <a:ea typeface="Fira Code"/>
                <a:cs typeface="Fira Code"/>
                <a:sym typeface="Fira Code"/>
              </a:rPr>
              <a:t>Students.txt</a:t>
            </a:r>
          </a:p>
        </p:txBody>
      </p:sp>
      <p:sp>
        <p:nvSpPr>
          <p:cNvPr id="3" name="Google Shape;473;p28">
            <a:extLst>
              <a:ext uri="{FF2B5EF4-FFF2-40B4-BE49-F238E27FC236}">
                <a16:creationId xmlns:a16="http://schemas.microsoft.com/office/drawing/2014/main" id="{D5F99E9A-E471-FC98-BC4B-ADE26E285F3E}"/>
              </a:ext>
            </a:extLst>
          </p:cNvPr>
          <p:cNvSpPr txBox="1">
            <a:spLocks/>
          </p:cNvSpPr>
          <p:nvPr/>
        </p:nvSpPr>
        <p:spPr>
          <a:xfrm>
            <a:off x="710125" y="4694725"/>
            <a:ext cx="48651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-US">
                <a:solidFill>
                  <a:schemeClr val="accent3"/>
                </a:solidFill>
              </a:rPr>
              <a:t>Programming Language Lab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4" name="Google Shape;473;p28">
            <a:extLst>
              <a:ext uri="{FF2B5EF4-FFF2-40B4-BE49-F238E27FC236}">
                <a16:creationId xmlns:a16="http://schemas.microsoft.com/office/drawing/2014/main" id="{F213C359-F767-2743-E1DF-C8880C7DAAFE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4</a:t>
            </a:r>
            <a:endParaRPr lang="en" dirty="0">
              <a:solidFill>
                <a:schemeClr val="accent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60498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86405E04-30E7-FD62-593B-4D72ED35B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918F40D8-61D0-1E5A-1C02-2036D2F2B54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CEFCD83F-9553-3422-AECF-35D7861E82D1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File.c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F67519B3-5117-422C-500C-B939ECEE9BB7}"/>
              </a:ext>
            </a:extLst>
          </p:cNvPr>
          <p:cNvSpPr txBox="1"/>
          <p:nvPr/>
        </p:nvSpPr>
        <p:spPr>
          <a:xfrm>
            <a:off x="1141089" y="831273"/>
            <a:ext cx="7832308" cy="3319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Suppose there is a file named numbers.txt that contains integers, one per line, like this:</a:t>
            </a:r>
            <a:endParaRPr lang="fa-IR" altLang="en-US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10</a:t>
            </a:r>
            <a:endParaRPr lang="fa-IR" altLang="en-US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20 </a:t>
            </a:r>
            <a:endParaRPr lang="fa-IR" altLang="en-US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30 </a:t>
            </a:r>
            <a:endParaRPr lang="fa-IR" altLang="en-US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40 </a:t>
            </a:r>
            <a:endParaRPr lang="fa-IR" altLang="en-US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50</a:t>
            </a:r>
            <a:endParaRPr lang="fa-IR" altLang="en-US" dirty="0">
              <a:solidFill>
                <a:schemeClr val="accent2"/>
              </a:solidFill>
              <a:latin typeface="Fira Code"/>
              <a:ea typeface="Fira Code"/>
              <a:cs typeface="Fira Code"/>
              <a:sym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Task: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Write a program in C that reads all the numbers from the file.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Calculate the average of these numbers.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  <a:sym typeface="Fira Code"/>
              </a:rPr>
              <a:t>Print the average on the screen.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accent1"/>
              </a:solidFill>
              <a:latin typeface="Arial" panose="020B0604020202020204" pitchFamily="34" charset="0"/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43EFFB40-6959-7897-E326-1EBDA847EBBE}"/>
              </a:ext>
            </a:extLst>
          </p:cNvPr>
          <p:cNvSpPr txBox="1">
            <a:spLocks/>
          </p:cNvSpPr>
          <p:nvPr/>
        </p:nvSpPr>
        <p:spPr>
          <a:xfrm>
            <a:off x="8433851" y="469467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5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3" name="Google Shape;474;p28">
            <a:extLst>
              <a:ext uri="{FF2B5EF4-FFF2-40B4-BE49-F238E27FC236}">
                <a16:creationId xmlns:a16="http://schemas.microsoft.com/office/drawing/2014/main" id="{F2D3C5B3-58E7-0670-34BA-CFD159CFE2F7}"/>
              </a:ext>
            </a:extLst>
          </p:cNvPr>
          <p:cNvSpPr txBox="1">
            <a:spLocks/>
          </p:cNvSpPr>
          <p:nvPr/>
        </p:nvSpPr>
        <p:spPr>
          <a:xfrm>
            <a:off x="4474981" y="125146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Task 2</a:t>
            </a:r>
          </a:p>
        </p:txBody>
      </p:sp>
    </p:spTree>
    <p:extLst>
      <p:ext uri="{BB962C8B-B14F-4D97-AF65-F5344CB8AC3E}">
        <p14:creationId xmlns:p14="http://schemas.microsoft.com/office/powerpoint/2010/main" val="12928198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70">
          <a:extLst>
            <a:ext uri="{FF2B5EF4-FFF2-40B4-BE49-F238E27FC236}">
              <a16:creationId xmlns:a16="http://schemas.microsoft.com/office/drawing/2014/main" id="{4234848F-5D6B-4211-EAAB-E6B3592D1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28">
            <a:extLst>
              <a:ext uri="{FF2B5EF4-FFF2-40B4-BE49-F238E27FC236}">
                <a16:creationId xmlns:a16="http://schemas.microsoft.com/office/drawing/2014/main" id="{E1CBCF49-B32C-D985-746E-740C9F13A6A8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710125" y="4694725"/>
            <a:ext cx="48651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Programming Language Lab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474" name="Google Shape;474;p28">
            <a:extLst>
              <a:ext uri="{FF2B5EF4-FFF2-40B4-BE49-F238E27FC236}">
                <a16:creationId xmlns:a16="http://schemas.microsoft.com/office/drawing/2014/main" id="{6D44E27E-7BA5-2131-EB82-8FAADAE0F2BA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>
          <a:xfrm>
            <a:off x="-5975" y="91525"/>
            <a:ext cx="4572000" cy="357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>
                <a:solidFill>
                  <a:schemeClr val="accent3"/>
                </a:solidFill>
              </a:rPr>
              <a:t>File.c</a:t>
            </a:r>
            <a:endParaRPr sz="1400" dirty="0">
              <a:solidFill>
                <a:schemeClr val="accent3"/>
              </a:solidFill>
            </a:endParaRPr>
          </a:p>
        </p:txBody>
      </p:sp>
      <p:sp>
        <p:nvSpPr>
          <p:cNvPr id="6" name="Google Shape;583;p33">
            <a:extLst>
              <a:ext uri="{FF2B5EF4-FFF2-40B4-BE49-F238E27FC236}">
                <a16:creationId xmlns:a16="http://schemas.microsoft.com/office/drawing/2014/main" id="{B75015C1-4B63-1B3D-88BD-D13885C73849}"/>
              </a:ext>
            </a:extLst>
          </p:cNvPr>
          <p:cNvSpPr txBox="1"/>
          <p:nvPr/>
        </p:nvSpPr>
        <p:spPr>
          <a:xfrm>
            <a:off x="1117339" y="914728"/>
            <a:ext cx="7832308" cy="334761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Suppose you have a file named </a:t>
            </a: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input.txt </a:t>
            </a: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that contains integers, one per line </a:t>
            </a:r>
            <a:r>
              <a:rPr 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for example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5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10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15 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20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dirty="0">
              <a:solidFill>
                <a:schemeClr val="accent1"/>
              </a:solidFill>
              <a:latin typeface="Fira Code"/>
              <a:ea typeface="Fira Code"/>
              <a:cs typeface="Fira Code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Task: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Write a program in C that reads all the numbers from input.txt.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2"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Multiply each number by 2.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AutoNum type="arabicPeriod" startAt="3"/>
            </a:pP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Write the results into another file called </a:t>
            </a:r>
            <a:r>
              <a:rPr lang="en-US" altLang="en-US" dirty="0">
                <a:solidFill>
                  <a:schemeClr val="accent2"/>
                </a:solidFill>
                <a:latin typeface="Fira Code"/>
                <a:ea typeface="Fira Code"/>
                <a:cs typeface="Fira Code"/>
              </a:rPr>
              <a:t>output.txt</a:t>
            </a:r>
            <a:r>
              <a:rPr lang="en-US" altLang="en-US" dirty="0">
                <a:solidFill>
                  <a:schemeClr val="accent1"/>
                </a:solidFill>
                <a:latin typeface="Fira Code"/>
                <a:ea typeface="Fira Code"/>
                <a:cs typeface="Fira Code"/>
              </a:rPr>
              <a:t>, one number per line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1200" dirty="0">
              <a:solidFill>
                <a:schemeClr val="accent1"/>
              </a:solidFill>
              <a:latin typeface="Arial" panose="020B0604020202020204" pitchFamily="34" charset="0"/>
            </a:endParaRP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en-US" altLang="en-US" sz="4000" dirty="0">
              <a:solidFill>
                <a:schemeClr val="tx1"/>
              </a:solidFill>
              <a:latin typeface="Arial" panose="020B0604020202020204" pitchFamily="34" charset="0"/>
            </a:endParaRPr>
          </a:p>
        </p:txBody>
      </p:sp>
      <p:sp>
        <p:nvSpPr>
          <p:cNvPr id="14" name="Google Shape;473;p28">
            <a:extLst>
              <a:ext uri="{FF2B5EF4-FFF2-40B4-BE49-F238E27FC236}">
                <a16:creationId xmlns:a16="http://schemas.microsoft.com/office/drawing/2014/main" id="{B7E852BA-16B9-9E7C-68D3-773BBE6D930A}"/>
              </a:ext>
            </a:extLst>
          </p:cNvPr>
          <p:cNvSpPr txBox="1">
            <a:spLocks/>
          </p:cNvSpPr>
          <p:nvPr/>
        </p:nvSpPr>
        <p:spPr>
          <a:xfrm>
            <a:off x="8433875" y="4694725"/>
            <a:ext cx="319124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>
              <a:buFont typeface="Fira Code"/>
              <a:buNone/>
            </a:pPr>
            <a:r>
              <a:rPr lang="en" sz="1100" dirty="0">
                <a:solidFill>
                  <a:schemeClr val="accent3"/>
                </a:solidFill>
              </a:rPr>
              <a:t>6</a:t>
            </a:r>
            <a:endParaRPr lang="en" dirty="0">
              <a:solidFill>
                <a:schemeClr val="accent3"/>
              </a:solidFill>
            </a:endParaRPr>
          </a:p>
        </p:txBody>
      </p:sp>
      <p:sp>
        <p:nvSpPr>
          <p:cNvPr id="3" name="Google Shape;474;p28">
            <a:extLst>
              <a:ext uri="{FF2B5EF4-FFF2-40B4-BE49-F238E27FC236}">
                <a16:creationId xmlns:a16="http://schemas.microsoft.com/office/drawing/2014/main" id="{C62B620C-22EE-1DC1-EB17-5561B2D74D0A}"/>
              </a:ext>
            </a:extLst>
          </p:cNvPr>
          <p:cNvSpPr txBox="1">
            <a:spLocks/>
          </p:cNvSpPr>
          <p:nvPr/>
        </p:nvSpPr>
        <p:spPr>
          <a:xfrm>
            <a:off x="4474981" y="125146"/>
            <a:ext cx="4572000" cy="35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●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○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Fira Code"/>
              <a:buChar char="■"/>
              <a:defRPr sz="1400" b="0" i="0" u="none" strike="noStrike" cap="none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9pPr>
          </a:lstStyle>
          <a:p>
            <a:pPr marL="0" indent="0" algn="ctr">
              <a:buFont typeface="Fira Code"/>
              <a:buNone/>
            </a:pPr>
            <a:r>
              <a:rPr lang="en-US" dirty="0">
                <a:solidFill>
                  <a:schemeClr val="accent3"/>
                </a:solidFill>
              </a:rPr>
              <a:t>HW 1</a:t>
            </a:r>
          </a:p>
        </p:txBody>
      </p:sp>
    </p:spTree>
    <p:extLst>
      <p:ext uri="{BB962C8B-B14F-4D97-AF65-F5344CB8AC3E}">
        <p14:creationId xmlns:p14="http://schemas.microsoft.com/office/powerpoint/2010/main" val="3813973566"/>
      </p:ext>
    </p:extLst>
  </p:cSld>
  <p:clrMapOvr>
    <a:masterClrMapping/>
  </p:clrMapOvr>
</p:sld>
</file>

<file path=ppt/theme/theme1.xml><?xml version="1.0" encoding="utf-8"?>
<a:theme xmlns:a="http://schemas.openxmlformats.org/drawingml/2006/main" name="Programming Language Workshop for Beginners by Slidesgo">
  <a:themeElements>
    <a:clrScheme name="Simple Light">
      <a:dk1>
        <a:srgbClr val="2E323B"/>
      </a:dk1>
      <a:lt1>
        <a:srgbClr val="FF5858"/>
      </a:lt1>
      <a:dk2>
        <a:srgbClr val="72D9F0"/>
      </a:dk2>
      <a:lt2>
        <a:srgbClr val="FCC642"/>
      </a:lt2>
      <a:accent1>
        <a:srgbClr val="DBA0DB"/>
      </a:accent1>
      <a:accent2>
        <a:srgbClr val="A5CF27"/>
      </a:accent2>
      <a:accent3>
        <a:srgbClr val="E7E7E7"/>
      </a:accent3>
      <a:accent4>
        <a:srgbClr val="707070"/>
      </a:accent4>
      <a:accent5>
        <a:srgbClr val="16191F"/>
      </a:accent5>
      <a:accent6>
        <a:srgbClr val="FFFFFF"/>
      </a:accent6>
      <a:hlink>
        <a:srgbClr val="FF585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1157</TotalTime>
  <Words>638</Words>
  <Application>Microsoft Office PowerPoint</Application>
  <PresentationFormat>On-screen Show (16:9)</PresentationFormat>
  <Paragraphs>115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Fira Code</vt:lpstr>
      <vt:lpstr>Programming Language Workshop for Beginners by Slidesgo</vt:lpstr>
      <vt:lpstr>PowerPoint Presentation</vt:lpstr>
      <vt:lpstr>File</vt:lpstr>
      <vt:lpstr>File Handling</vt:lpstr>
      <vt:lpstr>How can we write data to a file?    </vt:lpstr>
      <vt:lpstr>How can we write data to a file?    </vt:lpstr>
      <vt:lpstr>How can we read data from a file?   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shayan naghizadeh</dc:creator>
  <cp:lastModifiedBy>shayan naghizadeh</cp:lastModifiedBy>
  <cp:revision>33</cp:revision>
  <dcterms:modified xsi:type="dcterms:W3CDTF">2025-09-04T13:58:23Z</dcterms:modified>
</cp:coreProperties>
</file>