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56" r:id="rId2"/>
    <p:sldId id="268" r:id="rId3"/>
    <p:sldId id="257" r:id="rId4"/>
    <p:sldId id="301" r:id="rId5"/>
    <p:sldId id="302" r:id="rId6"/>
    <p:sldId id="300" r:id="rId7"/>
    <p:sldId id="304" r:id="rId8"/>
    <p:sldId id="305" r:id="rId9"/>
    <p:sldId id="303" r:id="rId10"/>
    <p:sldId id="306" r:id="rId11"/>
    <p:sldId id="308" r:id="rId12"/>
    <p:sldId id="309" r:id="rId13"/>
  </p:sldIdLst>
  <p:sldSz cx="9144000" cy="5143500" type="screen16x9"/>
  <p:notesSz cx="6858000" cy="9144000"/>
  <p:embeddedFontLst>
    <p:embeddedFont>
      <p:font typeface="Fira Code" panose="020B0809050000020004" pitchFamily="49" charset="0"/>
      <p:regular r:id="rId15"/>
      <p:bold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0607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62" d="100"/>
          <a:sy n="162" d="100"/>
        </p:scale>
        <p:origin x="14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1FCFDB7F-8415-BBE7-93E9-7DF0CBFE0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5661E0C-59C7-0A0E-5949-24C143BDC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C511FC1-86F2-AC8C-A599-8836B4BF81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38435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C986BD86-A03F-4F4B-AB60-0F5C12C06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5519F06-BEF0-905A-E155-3E2346CA15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4656811-946F-AD7F-285F-EFCCBFB5B5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06471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E326C263-FCC6-E0E7-F9F7-4F7EAA8A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65E3470C-7BBC-8B3B-9C88-656A31246A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D1BCD563-6BAF-08FE-A514-595E0D35BE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46402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2EAF4CD9-A39C-30B0-E93C-0E4C15F9F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290524AA-CB47-E01F-57EA-7036195306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6789529-2971-DA33-A989-EF14FFAFFB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45256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C6BC590-137D-66B5-B0F2-1FA3A2984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1900646-734D-5706-6A05-E267C0FC0A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763453E1-DE64-012A-7D35-B37EE17967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95807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22D04C8-845E-A9EE-7E92-A82E72607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5578B2AE-7C78-013C-692C-757063E4CF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E987450-E7FD-1A70-7A0E-44EBFB1DB3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98025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0BCCCE4B-4281-8E07-93E7-2D709FF38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6CC506D1-AD52-DCFF-6FF5-77FD67272E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7572397E-0E92-7A8E-6965-41F9FF4B6B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16764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1EE3FC01-93A3-8972-B811-13B5177BE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D278B14D-9EB6-D369-1468-45E3A8BF02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37AC88E7-1E0C-6EF4-A35B-A1EFAB6080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49435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455C41BE-B8BF-0DB1-F7FA-1636A1FA7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F67356A2-121F-2F5E-C641-0D5ED9AEA6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533BC51E-85AF-C427-262B-208DBC9870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68130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6" r:id="rId3"/>
    <p:sldLayoutId id="2147483658" r:id="rId4"/>
    <p:sldLayoutId id="2147483669" r:id="rId5"/>
    <p:sldLayoutId id="2147483670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9565ED-3E87-65C7-9698-DB0493F167B8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C220A8-A79B-8051-75C3-36C23996680E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E5C1B7-FE2C-CBD6-BB29-3A2A3FF44AC1}"/>
              </a:ext>
            </a:extLst>
          </p:cNvPr>
          <p:cNvSpPr txBox="1"/>
          <p:nvPr/>
        </p:nvSpPr>
        <p:spPr>
          <a:xfrm>
            <a:off x="4124865" y="3358808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Decision</a:t>
            </a:r>
          </a:p>
        </p:txBody>
      </p:sp>
      <p:sp>
        <p:nvSpPr>
          <p:cNvPr id="13" name="Google Shape;473;p28">
            <a:extLst>
              <a:ext uri="{FF2B5EF4-FFF2-40B4-BE49-F238E27FC236}">
                <a16:creationId xmlns:a16="http://schemas.microsoft.com/office/drawing/2014/main" id="{47103798-A9C4-2AF2-0236-1BBB9491512F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Decision Making In Programming 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Decision making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/>
          <p:cNvSpPr txBox="1">
            <a:spLocks noGrp="1"/>
          </p:cNvSpPr>
          <p:nvPr>
            <p:ph type="subTitle" idx="4294967295"/>
          </p:nvPr>
        </p:nvSpPr>
        <p:spPr>
          <a:xfrm>
            <a:off x="8433851" y="4694675"/>
            <a:ext cx="319124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3"/>
                </a:solidFill>
              </a:rPr>
              <a:t>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Diamond 1">
            <a:extLst>
              <a:ext uri="{FF2B5EF4-FFF2-40B4-BE49-F238E27FC236}">
                <a16:creationId xmlns:a16="http://schemas.microsoft.com/office/drawing/2014/main" id="{E8F27ED7-9236-3681-1D7A-2172C0F7C366}"/>
              </a:ext>
            </a:extLst>
          </p:cNvPr>
          <p:cNvSpPr/>
          <p:nvPr/>
        </p:nvSpPr>
        <p:spPr>
          <a:xfrm>
            <a:off x="3006106" y="1498067"/>
            <a:ext cx="3341600" cy="1073683"/>
          </a:xfrm>
          <a:prstGeom prst="diamond">
            <a:avLst/>
          </a:prstGeom>
          <a:noFill/>
          <a:ln w="9525" cap="flat" cmpd="sng" algn="ctr">
            <a:solidFill>
              <a:schemeClr val="accent2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/>
                </a:solidFill>
              </a:rPr>
              <a:t>Selection code </a:t>
            </a:r>
          </a:p>
          <a:p>
            <a:pPr algn="ctr"/>
            <a:r>
              <a:rPr lang="en-US" dirty="0">
                <a:solidFill>
                  <a:schemeClr val="accent6"/>
                </a:solidFill>
              </a:rPr>
              <a:t>(Decision making) </a:t>
            </a:r>
          </a:p>
        </p:txBody>
      </p: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F205FA80-74C1-18A1-8CFB-5BF56CE1FA54}"/>
              </a:ext>
            </a:extLst>
          </p:cNvPr>
          <p:cNvCxnSpPr>
            <a:cxnSpLocks/>
            <a:stCxn id="2" idx="1"/>
          </p:cNvCxnSpPr>
          <p:nvPr/>
        </p:nvCxnSpPr>
        <p:spPr>
          <a:xfrm rot="10800000" flipV="1">
            <a:off x="2235856" y="2034908"/>
            <a:ext cx="770251" cy="1056353"/>
          </a:xfrm>
          <a:prstGeom prst="bentConnector2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ADF67300-EA4D-52DF-7B2B-A901E57F9D3B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6347706" y="2034909"/>
            <a:ext cx="884903" cy="1056353"/>
          </a:xfrm>
          <a:prstGeom prst="bentConnector2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89E59C0F-CF45-D2D1-FD02-B986955AED31}"/>
              </a:ext>
            </a:extLst>
          </p:cNvPr>
          <p:cNvSpPr/>
          <p:nvPr/>
        </p:nvSpPr>
        <p:spPr>
          <a:xfrm>
            <a:off x="1309656" y="3091262"/>
            <a:ext cx="1852397" cy="828417"/>
          </a:xfrm>
          <a:prstGeom prst="rect">
            <a:avLst/>
          </a:prstGeom>
          <a:noFill/>
          <a:ln w="9525" cap="flat" cmpd="sng" algn="ctr">
            <a:solidFill>
              <a:schemeClr val="accent2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FAF1C4-3942-13DA-A4E2-4BB0C9210FE5}"/>
              </a:ext>
            </a:extLst>
          </p:cNvPr>
          <p:cNvSpPr/>
          <p:nvPr/>
        </p:nvSpPr>
        <p:spPr>
          <a:xfrm>
            <a:off x="6306410" y="3091262"/>
            <a:ext cx="1852397" cy="828417"/>
          </a:xfrm>
          <a:prstGeom prst="rect">
            <a:avLst/>
          </a:prstGeom>
          <a:noFill/>
          <a:ln w="9525" cap="flat" cmpd="sng" algn="ctr">
            <a:solidFill>
              <a:schemeClr val="accent2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A254AF-8240-F7EF-07E5-966CC1FB126C}"/>
              </a:ext>
            </a:extLst>
          </p:cNvPr>
          <p:cNvSpPr txBox="1"/>
          <p:nvPr/>
        </p:nvSpPr>
        <p:spPr>
          <a:xfrm>
            <a:off x="1740310" y="3380330"/>
            <a:ext cx="932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Branch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E10F51-CA56-2684-C484-3693E4222C5B}"/>
              </a:ext>
            </a:extLst>
          </p:cNvPr>
          <p:cNvSpPr txBox="1"/>
          <p:nvPr/>
        </p:nvSpPr>
        <p:spPr>
          <a:xfrm>
            <a:off x="6766559" y="3351582"/>
            <a:ext cx="932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Branch 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D6FC78-EE56-230C-9C1E-499D243FA6E0}"/>
              </a:ext>
            </a:extLst>
          </p:cNvPr>
          <p:cNvSpPr txBox="1"/>
          <p:nvPr/>
        </p:nvSpPr>
        <p:spPr>
          <a:xfrm>
            <a:off x="2235854" y="2408507"/>
            <a:ext cx="1148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If True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505A4C-D08B-1D04-3FF4-D30813EE1EBA}"/>
              </a:ext>
            </a:extLst>
          </p:cNvPr>
          <p:cNvSpPr txBox="1"/>
          <p:nvPr/>
        </p:nvSpPr>
        <p:spPr>
          <a:xfrm>
            <a:off x="6481055" y="2342623"/>
            <a:ext cx="1148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If False</a:t>
            </a:r>
          </a:p>
        </p:txBody>
      </p:sp>
      <p:sp>
        <p:nvSpPr>
          <p:cNvPr id="20" name="Google Shape;473;p28">
            <a:extLst>
              <a:ext uri="{FF2B5EF4-FFF2-40B4-BE49-F238E27FC236}">
                <a16:creationId xmlns:a16="http://schemas.microsoft.com/office/drawing/2014/main" id="{91FC9CD2-A01E-FC09-DFF8-6D10D9FFE452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D50187AF-FDC6-B754-FBD2-F9B7FA0FA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3F68C7D2-A40A-F50A-C12F-1A89B0F880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Angles and Positions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79358BF-3536-51AE-5DCE-A421268F17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D7E3969-DC90-73CA-05C2-2D33B2E762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Task 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1B1C0F5F-D95E-6534-9008-4271AC0CDC58}"/>
              </a:ext>
            </a:extLst>
          </p:cNvPr>
          <p:cNvSpPr txBox="1"/>
          <p:nvPr/>
        </p:nvSpPr>
        <p:spPr>
          <a:xfrm>
            <a:off x="1096327" y="794102"/>
            <a:ext cx="7970981" cy="14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program that takes an angle value as input (in degrees) and determines the position of that angle on the unit circle</a:t>
            </a: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.</a:t>
            </a:r>
          </a:p>
        </p:txBody>
      </p:sp>
      <p:sp>
        <p:nvSpPr>
          <p:cNvPr id="11" name="Google Shape;472;p28">
            <a:extLst>
              <a:ext uri="{FF2B5EF4-FFF2-40B4-BE49-F238E27FC236}">
                <a16:creationId xmlns:a16="http://schemas.microsoft.com/office/drawing/2014/main" id="{89CCD7D4-B3ED-0715-D28A-908C49C95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21833" y="2999875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rgbClr val="92D050"/>
                </a:solidFill>
              </a:rPr>
              <a:t>You need to use if and else if syntax.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23A5BFB-F210-AA61-1D38-6760BD1CF561}"/>
              </a:ext>
            </a:extLst>
          </p:cNvPr>
          <p:cNvSpPr/>
          <p:nvPr/>
        </p:nvSpPr>
        <p:spPr>
          <a:xfrm>
            <a:off x="6908145" y="2808093"/>
            <a:ext cx="1663618" cy="1539732"/>
          </a:xfrm>
          <a:prstGeom prst="ellipse">
            <a:avLst/>
          </a:prstGeom>
          <a:noFill/>
          <a:ln w="9525" cap="flat" cmpd="sng" algn="ctr">
            <a:solidFill>
              <a:schemeClr val="accent2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06395B1-7C6A-33F6-2AC2-BA3881F02A17}"/>
              </a:ext>
            </a:extLst>
          </p:cNvPr>
          <p:cNvCxnSpPr>
            <a:cxnSpLocks/>
          </p:cNvCxnSpPr>
          <p:nvPr/>
        </p:nvCxnSpPr>
        <p:spPr>
          <a:xfrm flipH="1" flipV="1">
            <a:off x="7739954" y="2619314"/>
            <a:ext cx="42787" cy="18278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65D5715-6975-CDAC-7056-86C4064090EC}"/>
              </a:ext>
            </a:extLst>
          </p:cNvPr>
          <p:cNvCxnSpPr>
            <a:cxnSpLocks/>
          </p:cNvCxnSpPr>
          <p:nvPr/>
        </p:nvCxnSpPr>
        <p:spPr>
          <a:xfrm>
            <a:off x="6796057" y="3571875"/>
            <a:ext cx="19733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CF1A522-127E-3904-BBB5-E49E567FDFFE}"/>
              </a:ext>
            </a:extLst>
          </p:cNvPr>
          <p:cNvSpPr txBox="1"/>
          <p:nvPr/>
        </p:nvSpPr>
        <p:spPr>
          <a:xfrm>
            <a:off x="7172665" y="3023473"/>
            <a:ext cx="5672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 +</a:t>
            </a:r>
          </a:p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Cos -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22243C-A0C2-CD1C-886F-183D908B80EF}"/>
              </a:ext>
            </a:extLst>
          </p:cNvPr>
          <p:cNvSpPr txBox="1"/>
          <p:nvPr/>
        </p:nvSpPr>
        <p:spPr>
          <a:xfrm>
            <a:off x="7782741" y="3003144"/>
            <a:ext cx="5672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 +</a:t>
            </a:r>
          </a:p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Cos 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1DB748-6934-72AD-570E-A69A85E0F255}"/>
              </a:ext>
            </a:extLst>
          </p:cNvPr>
          <p:cNvSpPr txBox="1"/>
          <p:nvPr/>
        </p:nvSpPr>
        <p:spPr>
          <a:xfrm>
            <a:off x="7172663" y="3709720"/>
            <a:ext cx="5672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 -</a:t>
            </a:r>
          </a:p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Cos -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657FF1-5C3A-CA60-A37A-B9EAFE9890C9}"/>
              </a:ext>
            </a:extLst>
          </p:cNvPr>
          <p:cNvSpPr txBox="1"/>
          <p:nvPr/>
        </p:nvSpPr>
        <p:spPr>
          <a:xfrm>
            <a:off x="7819660" y="3709720"/>
            <a:ext cx="5672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 -</a:t>
            </a:r>
          </a:p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Cos +</a:t>
            </a:r>
          </a:p>
        </p:txBody>
      </p:sp>
      <p:sp>
        <p:nvSpPr>
          <p:cNvPr id="19" name="Google Shape;473;p28">
            <a:extLst>
              <a:ext uri="{FF2B5EF4-FFF2-40B4-BE49-F238E27FC236}">
                <a16:creationId xmlns:a16="http://schemas.microsoft.com/office/drawing/2014/main" id="{459CE1BA-501B-0BBA-686F-D4936781001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20" name="Google Shape;473;p28">
            <a:extLst>
              <a:ext uri="{FF2B5EF4-FFF2-40B4-BE49-F238E27FC236}">
                <a16:creationId xmlns:a16="http://schemas.microsoft.com/office/drawing/2014/main" id="{3BDDE30A-7723-741C-6F59-9BB53091CD23}"/>
              </a:ext>
            </a:extLst>
          </p:cNvPr>
          <p:cNvSpPr txBox="1">
            <a:spLocks/>
          </p:cNvSpPr>
          <p:nvPr/>
        </p:nvSpPr>
        <p:spPr>
          <a:xfrm>
            <a:off x="732739" y="469467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468197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5560732-9D9B-8264-DD98-E36C9D864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34ED924-8B92-9634-7D64-E2B868C9A0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E5BB27D-3DA3-86CE-D408-0AA17F27629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056DB4F-849A-5272-DA79-04FBEE2D5DB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509BE81-2412-6A1F-3FC4-7312972378FB}"/>
              </a:ext>
            </a:extLst>
          </p:cNvPr>
          <p:cNvSpPr txBox="1"/>
          <p:nvPr/>
        </p:nvSpPr>
        <p:spPr>
          <a:xfrm>
            <a:off x="1143250" y="1025943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Do you know how banking operations are done in practice? 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2328BCCB-8B06-115F-8EA3-9996607231F5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3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215768C8-DB78-819F-49D6-569B04232FCF}"/>
              </a:ext>
            </a:extLst>
          </p:cNvPr>
          <p:cNvSpPr txBox="1">
            <a:spLocks/>
          </p:cNvSpPr>
          <p:nvPr/>
        </p:nvSpPr>
        <p:spPr>
          <a:xfrm>
            <a:off x="726840" y="4724630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218697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F72D481D-598E-945B-E935-B3E9AEEAD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15733BB-ACC5-8C1C-0FC3-D1F2911525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62F1A9BF-4923-BA31-09D1-C46F42DCFF3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7371" y="4693464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766D1DF6-F885-3CB2-7230-36C3D7CCBA7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DCCE11AC-EA54-56E5-FF2A-81A43E55B023}"/>
              </a:ext>
            </a:extLst>
          </p:cNvPr>
          <p:cNvSpPr txBox="1"/>
          <p:nvPr/>
        </p:nvSpPr>
        <p:spPr>
          <a:xfrm>
            <a:off x="1143250" y="1123900"/>
            <a:ext cx="7708495" cy="1714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Banking operations are full of conditions!</a:t>
            </a: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Where banking systems (programs) need to decide what to do in case of every possible condition.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That’s where ‘if’ and ‘else if’ come in handy.  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31AF54F6-3C83-FE86-5B1B-892E4D060B2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4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4" name="Google Shape;475;p28">
            <a:extLst>
              <a:ext uri="{FF2B5EF4-FFF2-40B4-BE49-F238E27FC236}">
                <a16:creationId xmlns:a16="http://schemas.microsoft.com/office/drawing/2014/main" id="{8C29FC7C-3D93-AE70-821D-FA1EE63B9260}"/>
              </a:ext>
            </a:extLst>
          </p:cNvPr>
          <p:cNvSpPr txBox="1">
            <a:spLocks/>
          </p:cNvSpPr>
          <p:nvPr/>
        </p:nvSpPr>
        <p:spPr>
          <a:xfrm>
            <a:off x="4566025" y="71252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Task 2</a:t>
            </a:r>
          </a:p>
        </p:txBody>
      </p:sp>
    </p:spTree>
    <p:extLst>
      <p:ext uri="{BB962C8B-B14F-4D97-AF65-F5344CB8AC3E}">
        <p14:creationId xmlns:p14="http://schemas.microsoft.com/office/powerpoint/2010/main" val="24129671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0E85D9A-D508-B3E2-C450-3286B5A48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BF920BB3-E70A-9BF6-8EF2-0CFF10BF48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8A51E955-F1AC-2599-C7A4-47DC4A6FC3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E8750547-4751-7995-A5D9-020F8825EDF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5F35F21-1618-25F2-AA74-75E023DF6D8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22D42296-5F99-5A77-1144-D736E9B69E3D}"/>
              </a:ext>
            </a:extLst>
          </p:cNvPr>
          <p:cNvSpPr txBox="1"/>
          <p:nvPr/>
        </p:nvSpPr>
        <p:spPr>
          <a:xfrm>
            <a:off x="1212550" y="954760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C program to simulate a simple ATM machine interface</a:t>
            </a:r>
          </a:p>
        </p:txBody>
      </p:sp>
      <p:pic>
        <p:nvPicPr>
          <p:cNvPr id="3" name="Picture 13" descr="‪48 ATM facts to know | ATM Marketplace‬‏">
            <a:extLst>
              <a:ext uri="{FF2B5EF4-FFF2-40B4-BE49-F238E27FC236}">
                <a16:creationId xmlns:a16="http://schemas.microsoft.com/office/drawing/2014/main" id="{55E05DDC-7517-CF58-6DF1-8AA9053F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5655" y="2412203"/>
            <a:ext cx="28575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D971CCCF-1D7A-8C6D-2F73-8C2F8DB7619A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5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483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9320756E-7583-EC87-938E-AC13F17D3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2EF60AD5-24C1-26B6-45CF-843580D4D5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DE382026-4314-60F7-48B7-A465F318BDD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0DDC9C0-E8EF-8047-695F-69870221D32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04F849B-41E4-D461-4304-5C6912B7D8F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E98BA527-200E-E071-4C87-704930363ABA}"/>
              </a:ext>
            </a:extLst>
          </p:cNvPr>
          <p:cNvSpPr txBox="1"/>
          <p:nvPr/>
        </p:nvSpPr>
        <p:spPr>
          <a:xfrm>
            <a:off x="1110456" y="1009647"/>
            <a:ext cx="7804943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C program to simulate a simple ATM machine interface</a:t>
            </a: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F2B10735-0CB4-4B17-66B1-33EDEE5996B3}"/>
              </a:ext>
            </a:extLst>
          </p:cNvPr>
          <p:cNvSpPr txBox="1"/>
          <p:nvPr/>
        </p:nvSpPr>
        <p:spPr>
          <a:xfrm>
            <a:off x="2154964" y="3601815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Just like the given picture </a:t>
            </a:r>
          </a:p>
        </p:txBody>
      </p:sp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A59E5EBA-56C6-0E1F-3D60-209DA48FB3C5}"/>
              </a:ext>
            </a:extLst>
          </p:cNvPr>
          <p:cNvSpPr txBox="1"/>
          <p:nvPr/>
        </p:nvSpPr>
        <p:spPr>
          <a:xfrm>
            <a:off x="1482936" y="2213873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First develop a menu for choice of the user!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61FC14-7022-3F29-B706-11544A2FFD93}"/>
              </a:ext>
            </a:extLst>
          </p:cNvPr>
          <p:cNvSpPr/>
          <p:nvPr/>
        </p:nvSpPr>
        <p:spPr>
          <a:xfrm>
            <a:off x="6815888" y="3061146"/>
            <a:ext cx="2099511" cy="1129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/>
              <a:t>ATM Menu: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dirty="0"/>
              <a:t>Check Balance</a:t>
            </a:r>
          </a:p>
          <a:p>
            <a:pPr marL="342900" indent="-342900">
              <a:buAutoNum type="arabicPeriod"/>
            </a:pPr>
            <a:r>
              <a:rPr lang="en-US" dirty="0"/>
              <a:t>Withdraw Money</a:t>
            </a:r>
          </a:p>
          <a:p>
            <a:pPr marL="342900" indent="-342900">
              <a:buAutoNum type="arabicPeriod"/>
            </a:pPr>
            <a:r>
              <a:rPr lang="en-US" dirty="0"/>
              <a:t>Exit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C51CE989-638A-B5C4-5594-D6EC5717B022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6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06540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9579649D-2404-F504-77EB-00A9A0AB0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7A2E5FA8-E168-F0F2-6145-08DF452F53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33AF9F55-50B3-9DA2-0D70-9F216BB46C5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C6ADAF1-A1B0-656F-4C45-64AE1D5D9E2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9553B013-4EC6-2BAE-BA7E-91CC3C8047D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E9D0E10C-7F5F-5E4D-3449-C63A4D5E1361}"/>
              </a:ext>
            </a:extLst>
          </p:cNvPr>
          <p:cNvSpPr txBox="1"/>
          <p:nvPr/>
        </p:nvSpPr>
        <p:spPr>
          <a:xfrm>
            <a:off x="1220368" y="1213684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C program to simulate a simple ATM machine interface with the following features:</a:t>
            </a:r>
          </a:p>
        </p:txBody>
      </p:sp>
      <p:sp>
        <p:nvSpPr>
          <p:cNvPr id="9" name="Google Shape;583;p33">
            <a:extLst>
              <a:ext uri="{FF2B5EF4-FFF2-40B4-BE49-F238E27FC236}">
                <a16:creationId xmlns:a16="http://schemas.microsoft.com/office/drawing/2014/main" id="{8EC7DDFE-9D49-9E47-78DA-9FFB4F9BA636}"/>
              </a:ext>
            </a:extLst>
          </p:cNvPr>
          <p:cNvSpPr txBox="1"/>
          <p:nvPr/>
        </p:nvSpPr>
        <p:spPr>
          <a:xfrm>
            <a:off x="1220368" y="2061498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For each choice of user, you should make a decision!</a:t>
            </a: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A2AF51F9-3A25-6F1C-F491-D6AD8270B2E4}"/>
              </a:ext>
            </a:extLst>
          </p:cNvPr>
          <p:cNvSpPr txBox="1"/>
          <p:nvPr/>
        </p:nvSpPr>
        <p:spPr>
          <a:xfrm>
            <a:off x="1220368" y="3082051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You can use ‘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Fira Code"/>
                <a:ea typeface="Fira Code"/>
                <a:cs typeface="Fira Code"/>
                <a:sym typeface="Fira Code"/>
              </a:rPr>
              <a:t>switch-case</a:t>
            </a: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’ syntax as well.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6E75E2CA-DDDB-C528-F9C8-956587BF94C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7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68359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09A8315F-2926-4B2A-4EA8-82913EC10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9FD34EC4-6D2C-8BF3-FDC1-CB7F56EA3B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1618BFC0-6089-1D6B-B938-79146E8B3D8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4BD3E066-3B8A-261B-A8AF-0D606F4A1A1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972F5F4B-456A-0804-34BE-647C1FA83A7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4A11C7A-AFAD-4C63-EEE1-01D9E927F6D3}"/>
              </a:ext>
            </a:extLst>
          </p:cNvPr>
          <p:cNvSpPr txBox="1"/>
          <p:nvPr/>
        </p:nvSpPr>
        <p:spPr>
          <a:xfrm>
            <a:off x="1143250" y="1459556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Fira Code"/>
                <a:ea typeface="Fira Code"/>
                <a:cs typeface="Fira Code"/>
                <a:sym typeface="Fira Code"/>
              </a:rPr>
              <a:t>In the menu: 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Fira Code"/>
                <a:ea typeface="Fira Code"/>
                <a:cs typeface="Fira Code"/>
                <a:sym typeface="Fira Code"/>
              </a:rPr>
              <a:t>   Option 1: Should display the current balance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02B58287-7E1B-FF25-0D57-8A0210F62791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8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28255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51BBA4BE-4133-13A9-E429-3DBE4327F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8B6E9310-51E5-09F4-461D-346FA98C4F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7741E0FB-2313-497E-081B-4F11CC00461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7DAFCDBE-778F-C926-1E98-9830D747DDD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05BF33B-8F17-F8D2-BB4F-5EAF309F2E5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FB1F042-BD7D-9954-14A9-C627E18CFD95}"/>
              </a:ext>
            </a:extLst>
          </p:cNvPr>
          <p:cNvSpPr txBox="1"/>
          <p:nvPr/>
        </p:nvSpPr>
        <p:spPr>
          <a:xfrm>
            <a:off x="1143250" y="2108693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just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Fira Code"/>
                <a:ea typeface="Fira Code"/>
                <a:cs typeface="Fira Code"/>
                <a:sym typeface="Fira Code"/>
              </a:rPr>
              <a:t>Options 2: should ask the user to enter a withdrawal amount.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Fira Code"/>
                <a:ea typeface="Fira Code"/>
                <a:cs typeface="Fira Code"/>
                <a:sym typeface="Fira Code"/>
              </a:rPr>
              <a:t>Only allow the withdrawal of 100, 200, or 500 units.</a:t>
            </a: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Check if the balance is sufficient.</a:t>
            </a: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If valid, deduct the amount and display the new balance.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92D050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If not, show an "Insufficient funds" message.</a:t>
            </a: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rgbClr val="92D050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If an invalid amount is entered, show an "Invalid amount" message.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E37D2456-29F5-F0A6-A8BF-3214F245B9C0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9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8977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0D8D3EC1-F515-6F0A-DE39-01DAD0B30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1E243595-5D83-8068-8CC3-E92830E558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Banking Operations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515FF174-9B0D-709A-5C01-1B246FC438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D704666E-0F65-1BAC-CDE1-492E7BE245F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0DD6F47-55D1-03A3-479E-B71ED8B9373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08E24231-66E8-95AA-5DD3-B8FFF55C9570}"/>
              </a:ext>
            </a:extLst>
          </p:cNvPr>
          <p:cNvSpPr txBox="1"/>
          <p:nvPr/>
        </p:nvSpPr>
        <p:spPr>
          <a:xfrm>
            <a:off x="1143250" y="1459556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In the menu: 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en-US" sz="16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  Option 3: Exit the program with a goodbye message.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E5CA1F94-9854-1DA0-B436-0585EAF7D0AD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42108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10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3457278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635</TotalTime>
  <Words>439</Words>
  <Application>Microsoft Office PowerPoint</Application>
  <PresentationFormat>On-screen Show (16:9)</PresentationFormat>
  <Paragraphs>106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Fira Code</vt:lpstr>
      <vt:lpstr>Programming Language Workshop for Beginners by Slidesgo</vt:lpstr>
      <vt:lpstr>PowerPoint Presentation</vt:lpstr>
      <vt:lpstr>Decision Making In Programming </vt:lpstr>
      <vt:lpstr>Decision making;</vt:lpstr>
      <vt:lpstr>Angles and Positions;</vt:lpstr>
      <vt:lpstr>Banking Operations;</vt:lpstr>
      <vt:lpstr>Banking Operations;</vt:lpstr>
      <vt:lpstr>Banking Operations;</vt:lpstr>
      <vt:lpstr>Banking Operations;</vt:lpstr>
      <vt:lpstr>Banking Operations;</vt:lpstr>
      <vt:lpstr>Banking Operations;</vt:lpstr>
      <vt:lpstr>Banking Operations;</vt:lpstr>
      <vt:lpstr>Banking Operations;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shayan naghizadeh</cp:lastModifiedBy>
  <cp:revision>8</cp:revision>
  <dcterms:modified xsi:type="dcterms:W3CDTF">2025-08-07T08:26:44Z</dcterms:modified>
</cp:coreProperties>
</file>