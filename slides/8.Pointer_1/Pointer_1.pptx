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3"/>
  </p:notesMasterIdLst>
  <p:sldIdLst>
    <p:sldId id="256" r:id="rId3"/>
    <p:sldId id="268" r:id="rId4"/>
    <p:sldId id="302" r:id="rId5"/>
    <p:sldId id="317" r:id="rId6"/>
    <p:sldId id="318" r:id="rId7"/>
    <p:sldId id="324" r:id="rId8"/>
    <p:sldId id="325" r:id="rId9"/>
    <p:sldId id="323" r:id="rId10"/>
    <p:sldId id="322" r:id="rId11"/>
    <p:sldId id="316" r:id="rId12"/>
  </p:sldIdLst>
  <p:sldSz cx="9144000" cy="5143500" type="screen16x9"/>
  <p:notesSz cx="6858000" cy="9144000"/>
  <p:embeddedFontLst>
    <p:embeddedFont>
      <p:font typeface="Eras Medium ITC" panose="020B0602030504020804" pitchFamily="34" charset="0"/>
      <p:regular r:id="rId14"/>
    </p:embeddedFont>
    <p:embeddedFont>
      <p:font typeface="Fira Code" panose="020B0809050000020004" pitchFamily="49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4" autoAdjust="0"/>
    <p:restoredTop sz="90920" autoAdjust="0"/>
  </p:normalViewPr>
  <p:slideViewPr>
    <p:cSldViewPr snapToGrid="0">
      <p:cViewPr varScale="1">
        <p:scale>
          <a:sx n="133" d="100"/>
          <a:sy n="133" d="100"/>
        </p:scale>
        <p:origin x="96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64F14AAE-DAFD-4678-933F-29E24F58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E8AC989-3FD8-D00D-4618-E64596290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5C52449-B22E-9729-3BCA-E14FB2775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69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0633D6D3-71FC-F4FA-C657-A296DF80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BE3F4101-3A16-6627-4C49-D5815B0BF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FCC4F662-6662-76EA-0FC7-C3D2D3270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921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315DE8A0-24CB-47E8-4C10-02C51734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4979BB87-6F70-F36E-4F09-D4FFA0496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4A1EA922-8050-D243-53AC-A4AA500AC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44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8F0ED45C-F65A-FC52-0C81-B73190DB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DF92C777-63B6-8E56-19E8-CABC2DC5F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747F28E4-16EF-61BC-2367-E000DF1AC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1201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B935A26C-B712-1174-1145-23ECB32E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FA550DA0-17D8-0A32-BD41-336DE9F76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482E57C8-12B9-A389-C4A3-B93361972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871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DED4C0A-B2E1-8028-18AD-5656DF7A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B0828171-E043-9052-35DE-234271760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8823315C-9833-3F7E-7BBB-B3CB0E69E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8493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F827FD26-3392-96F0-8E1F-5EE87B1F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29C06DC0-47BE-E4A4-3932-A1FF3860B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DFF9CFCC-D069-48DB-94D7-62D256D47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7791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A3E319A7-71A1-1334-70CA-C0F832B2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BA91C89-9D91-0602-626F-D06756924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7B1F8178-391D-CC6D-D2CB-6C035559D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647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79718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81687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09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41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2270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ackground  1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11034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72580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4BD535-FD73-68B5-4BE5-860DA0541C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D45637-B11C-F7F6-DCA4-E0AE67DAF9EE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241D8-4EDA-5CE1-0015-3864259E023C}"/>
              </a:ext>
            </a:extLst>
          </p:cNvPr>
          <p:cNvSpPr txBox="1"/>
          <p:nvPr/>
        </p:nvSpPr>
        <p:spPr>
          <a:xfrm>
            <a:off x="4272348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Pointers 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7883D40C-C45D-E65E-55F1-8C32CA9B554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170675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Pinters and Memory address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2CCD27B-1F3A-6104-A6A9-C9B968D4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264DF29-B9AC-EC90-9E40-A479F209C8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14C772F-CD13-D2C6-DA77-ECB208271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0465E-896B-243B-5D49-7C62ED51663E}"/>
              </a:ext>
            </a:extLst>
          </p:cNvPr>
          <p:cNvSpPr txBox="1"/>
          <p:nvPr/>
        </p:nvSpPr>
        <p:spPr>
          <a:xfrm>
            <a:off x="1005895" y="757579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The picture shows the model of memory.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5D1F74F-26AC-B649-41DF-9B743FD77529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Pointers and Memory addresses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2052E68-90C5-A5ED-7E12-6803CFDEB8A4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2CCB60C1-E6B0-EE92-1FFF-21CB6A86A0F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pic>
        <p:nvPicPr>
          <p:cNvPr id="1030" name="Picture 6" descr="6.4. Main Memory — CS160 Reader">
            <a:extLst>
              <a:ext uri="{FF2B5EF4-FFF2-40B4-BE49-F238E27FC236}">
                <a16:creationId xmlns:a16="http://schemas.microsoft.com/office/drawing/2014/main" id="{BF38675C-9279-9267-B0ED-E1A4B6749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975" y="1227663"/>
            <a:ext cx="1860000" cy="259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2F7EB4-9D19-8FC0-08D8-24AE82CAB836}"/>
              </a:ext>
            </a:extLst>
          </p:cNvPr>
          <p:cNvSpPr txBox="1"/>
          <p:nvPr/>
        </p:nvSpPr>
        <p:spPr>
          <a:xfrm>
            <a:off x="1057495" y="1481831"/>
            <a:ext cx="4767305" cy="107721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Every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content (value)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which is stored in RAM is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indexed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by an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address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77979-4B9C-F21C-A719-F62B25EEF7EC}"/>
              </a:ext>
            </a:extLst>
          </p:cNvPr>
          <p:cNvSpPr txBox="1"/>
          <p:nvPr/>
        </p:nvSpPr>
        <p:spPr>
          <a:xfrm>
            <a:off x="1057495" y="2557656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Those values are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accessible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by their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address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37929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0109647-842A-FA0F-BCEF-39956463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0F537B3-6F71-515D-4CD0-5EB743C73B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8E71DA8-A0ED-C105-9D0B-6BDB375CF1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0DD4D-B6B7-A9E0-C955-9A628E34D7CC}"/>
              </a:ext>
            </a:extLst>
          </p:cNvPr>
          <p:cNvSpPr txBox="1"/>
          <p:nvPr/>
        </p:nvSpPr>
        <p:spPr>
          <a:xfrm>
            <a:off x="1005895" y="1071152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4237FED5-F25B-A809-0DB4-497AD63AD660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Pointers Operators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58031A29-370A-9986-408E-312B34422A61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0CE75D19-EC81-6B0C-E86D-2A93B917E5F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374EC-3C27-3CFA-BEBF-BF6CCCCCDA1C}"/>
              </a:ext>
            </a:extLst>
          </p:cNvPr>
          <p:cNvSpPr txBox="1"/>
          <p:nvPr/>
        </p:nvSpPr>
        <p:spPr>
          <a:xfrm>
            <a:off x="1159200" y="1162024"/>
            <a:ext cx="767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pointer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is a variable that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stores the address 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of another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variable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AB93AD-DF67-89E5-7C61-D1AAD3475FC7}"/>
              </a:ext>
            </a:extLst>
          </p:cNvPr>
          <p:cNvSpPr txBox="1"/>
          <p:nvPr/>
        </p:nvSpPr>
        <p:spPr>
          <a:xfrm>
            <a:off x="1159200" y="1329752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Pointers have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type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and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value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FEBBD-5D11-F844-5588-BC97B30C2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800" y="2141482"/>
            <a:ext cx="3964875" cy="21274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5C091F-08E6-F2AE-74D4-D034582F1B18}"/>
              </a:ext>
            </a:extLst>
          </p:cNvPr>
          <p:cNvSpPr txBox="1"/>
          <p:nvPr/>
        </p:nvSpPr>
        <p:spPr>
          <a:xfrm>
            <a:off x="1000153" y="2324590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74342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CAD5AFF4-E77B-D2B8-B009-349FE0D2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711EC1AC-DCBE-3C9C-8963-C1E66DF492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F5D96283-C24D-AEEB-C259-F52AE1B16D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D5937-7794-69FA-E8F8-B1BD6E6DB8FF}"/>
              </a:ext>
            </a:extLst>
          </p:cNvPr>
          <p:cNvSpPr txBox="1"/>
          <p:nvPr/>
        </p:nvSpPr>
        <p:spPr>
          <a:xfrm>
            <a:off x="1005895" y="1071152"/>
            <a:ext cx="7993294" cy="830997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21FA8A12-2F5B-2747-4FEB-601A12AEA0F2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Pointers Operators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806E9A70-0E01-B636-AF27-2F94AE7D3CF0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9283DBEC-60FF-5051-6267-AE657D54EC24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059D4-B0B5-56E3-C30B-87E861324D2D}"/>
              </a:ext>
            </a:extLst>
          </p:cNvPr>
          <p:cNvSpPr txBox="1"/>
          <p:nvPr/>
        </p:nvSpPr>
        <p:spPr>
          <a:xfrm>
            <a:off x="1159200" y="1329752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Let’s recap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operators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for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pointer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88D35-A56E-1DC5-F2D3-1E36944109C0}"/>
              </a:ext>
            </a:extLst>
          </p:cNvPr>
          <p:cNvSpPr txBox="1"/>
          <p:nvPr/>
        </p:nvSpPr>
        <p:spPr>
          <a:xfrm>
            <a:off x="1856953" y="1790244"/>
            <a:ext cx="7993294" cy="1323439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Adress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operator: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Eras Medium ITC" panose="020B0602030504020804" pitchFamily="34" charset="0"/>
                <a:ea typeface="Fira Code"/>
                <a:cs typeface="B Nazanin" panose="00000400000000000000" pitchFamily="2" charset="-78"/>
                <a:sym typeface="Fira Code"/>
              </a:rPr>
              <a:t>&amp;</a:t>
            </a:r>
          </a:p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285750" indent="-285750" algn="just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Dereference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Operator: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*</a:t>
            </a: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4085C1-F5C1-AA1D-84D9-F1F207392A2D}"/>
              </a:ext>
            </a:extLst>
          </p:cNvPr>
          <p:cNvSpPr txBox="1"/>
          <p:nvPr/>
        </p:nvSpPr>
        <p:spPr>
          <a:xfrm>
            <a:off x="1225200" y="3359904"/>
            <a:ext cx="7993294" cy="58477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Review what you have learnt for declaring pointers.</a:t>
            </a: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250059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F642FE5E-4311-0A70-75E3-11434734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C581DA4-F1BF-0111-3AAA-6C957B6E04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00D3559-066E-8BC4-501B-30C0CA131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E9C23-6599-ABFF-B442-13AE5345870C}"/>
              </a:ext>
            </a:extLst>
          </p:cNvPr>
          <p:cNvSpPr txBox="1"/>
          <p:nvPr/>
        </p:nvSpPr>
        <p:spPr>
          <a:xfrm>
            <a:off x="1005895" y="1071152"/>
            <a:ext cx="4163705" cy="181588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What are the output of the following? </a:t>
            </a: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(first guess the output without coding it)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E2445B35-F22E-40D7-4D48-90309B55E1E2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 Arithmetic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CE5E4A5-D124-A723-BB4D-B753507BCFC8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082BEE52-CC60-D6DE-2C79-FB7D46DC5965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3417A-CBF2-6572-CDB1-0F42A5DCAEDF}"/>
              </a:ext>
            </a:extLst>
          </p:cNvPr>
          <p:cNvSpPr txBox="1"/>
          <p:nvPr/>
        </p:nvSpPr>
        <p:spPr>
          <a:xfrm>
            <a:off x="1000153" y="2324590"/>
            <a:ext cx="4248647" cy="75405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100" dirty="0">
              <a:solidFill>
                <a:schemeClr val="accent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8" name="Google Shape;465;p27">
            <a:extLst>
              <a:ext uri="{FF2B5EF4-FFF2-40B4-BE49-F238E27FC236}">
                <a16:creationId xmlns:a16="http://schemas.microsoft.com/office/drawing/2014/main" id="{6BAF0F4C-153D-07B7-EC1B-25A89804245B}"/>
              </a:ext>
            </a:extLst>
          </p:cNvPr>
          <p:cNvSpPr txBox="1">
            <a:spLocks/>
          </p:cNvSpPr>
          <p:nvPr/>
        </p:nvSpPr>
        <p:spPr>
          <a:xfrm>
            <a:off x="4566025" y="7830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5ED434-10F0-863B-DA01-7BEEE72B1189}"/>
              </a:ext>
            </a:extLst>
          </p:cNvPr>
          <p:cNvSpPr/>
          <p:nvPr/>
        </p:nvSpPr>
        <p:spPr>
          <a:xfrm>
            <a:off x="5248800" y="1144107"/>
            <a:ext cx="3504175" cy="1637193"/>
          </a:xfrm>
          <a:prstGeom prst="roundRect">
            <a:avLst>
              <a:gd name="adj" fmla="val 541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a[3] = {5, 10, 15};</a:t>
            </a: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*p = a;</a:t>
            </a:r>
          </a:p>
          <a:p>
            <a:endParaRPr lang="en-US" sz="1100" dirty="0">
              <a:solidFill>
                <a:schemeClr val="tx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1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*p);   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?</a:t>
            </a:r>
          </a:p>
          <a:p>
            <a:r>
              <a:rPr lang="en-US" sz="11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*(p+1));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?</a:t>
            </a:r>
          </a:p>
          <a:p>
            <a:r>
              <a:rPr lang="en-US" sz="11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("%p", &amp;a);   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?</a:t>
            </a:r>
          </a:p>
          <a:p>
            <a:r>
              <a:rPr lang="en-US" sz="11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("%p", &amp;a[0]);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?</a:t>
            </a:r>
          </a:p>
        </p:txBody>
      </p:sp>
    </p:spTree>
    <p:extLst>
      <p:ext uri="{BB962C8B-B14F-4D97-AF65-F5344CB8AC3E}">
        <p14:creationId xmlns:p14="http://schemas.microsoft.com/office/powerpoint/2010/main" val="2878205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018400E6-2537-869D-3160-458B1888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C728C645-D720-4265-6746-B296FBAB14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DFB5B6B-193F-A278-D7DD-70253236E3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6DE7B-B3EF-D614-6BC8-D3002D0880ED}"/>
              </a:ext>
            </a:extLst>
          </p:cNvPr>
          <p:cNvSpPr txBox="1"/>
          <p:nvPr/>
        </p:nvSpPr>
        <p:spPr>
          <a:xfrm>
            <a:off x="1051400" y="911051"/>
            <a:ext cx="4221305" cy="206210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Run the given program and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justify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the result. </a:t>
            </a: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Do the results make sense? 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FB76AA86-A1D3-6596-A8B1-9BC4266B7DA0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 Arithmetic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63BED803-8C68-DB07-B2E0-CB244B9161E0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97BB45CB-439C-B062-A26E-2BEEB1031D6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Google Shape;465;p27">
            <a:extLst>
              <a:ext uri="{FF2B5EF4-FFF2-40B4-BE49-F238E27FC236}">
                <a16:creationId xmlns:a16="http://schemas.microsoft.com/office/drawing/2014/main" id="{3CD76E71-EA6A-F4EC-EC43-CA20C324C059}"/>
              </a:ext>
            </a:extLst>
          </p:cNvPr>
          <p:cNvSpPr txBox="1">
            <a:spLocks/>
          </p:cNvSpPr>
          <p:nvPr/>
        </p:nvSpPr>
        <p:spPr>
          <a:xfrm>
            <a:off x="4449047" y="56687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4804EA-C9EC-655F-5B9B-BAD513C13B7E}"/>
              </a:ext>
            </a:extLst>
          </p:cNvPr>
          <p:cNvSpPr/>
          <p:nvPr/>
        </p:nvSpPr>
        <p:spPr>
          <a:xfrm>
            <a:off x="4913274" y="1423634"/>
            <a:ext cx="4030503" cy="2248284"/>
          </a:xfrm>
          <a:prstGeom prst="roundRect">
            <a:avLst>
              <a:gd name="adj" fmla="val 541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</a:t>
            </a:r>
          </a:p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{</a:t>
            </a:r>
          </a:p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int a[5] =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{1, 2, 3, 4, 5};</a:t>
            </a:r>
          </a:p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lu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\n", 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sizeof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(a));</a:t>
            </a:r>
          </a:p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int *</a:t>
            </a:r>
            <a:r>
              <a:rPr lang="en-US" sz="100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ptr</a:t>
            </a:r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(int *)( &amp;a + 1 );</a:t>
            </a:r>
          </a:p>
          <a:p>
            <a:endParaRPr lang="en-US" sz="1100" dirty="0">
              <a:solidFill>
                <a:schemeClr val="accent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 %d\n", *(a + 1), *(</a:t>
            </a:r>
            <a:r>
              <a:rPr lang="en-US" sz="1100" dirty="0" err="1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ptr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- 1));</a:t>
            </a:r>
          </a:p>
          <a:p>
            <a:endParaRPr lang="en-US" sz="1100" dirty="0">
              <a:solidFill>
                <a:schemeClr val="accent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0;</a:t>
            </a:r>
          </a:p>
          <a:p>
            <a:r>
              <a:rPr lang="en-US" sz="10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048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D71D6C0-A7FA-741E-1351-13D41BA9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CC402AF2-B9F0-E273-2AD8-3370DA5675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Encoding.c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435B9D9-BF43-0A47-B091-8F90DFBCB4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3A738164-6658-4E87-2FB9-31C7E8CA39F1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Array of Pointers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961DA982-477D-CEB2-4B7F-B660C27333C1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45DE7606-1663-D4DE-BA32-1AB5827C4C9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AACFBE81-7901-843B-C75A-DCC3254D0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155" y="2847064"/>
            <a:ext cx="2784325" cy="139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DB51C8-6211-9EA9-0715-B4F4D8EE246A}"/>
              </a:ext>
            </a:extLst>
          </p:cNvPr>
          <p:cNvSpPr txBox="1"/>
          <p:nvPr/>
        </p:nvSpPr>
        <p:spPr>
          <a:xfrm>
            <a:off x="1051400" y="876981"/>
            <a:ext cx="4221305" cy="3231654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Complete the program to have array of pointers. </a:t>
            </a: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Each of pointers should point to each of defined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variables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</a:p>
          <a:p>
            <a:pPr algn="l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Traverse the array and print the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value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 of variables and their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address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 </a:t>
            </a:r>
          </a:p>
          <a:p>
            <a:pPr algn="l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What is the difference between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pointer to array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and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array of pointers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?</a:t>
            </a:r>
          </a:p>
        </p:txBody>
      </p:sp>
      <p:sp>
        <p:nvSpPr>
          <p:cNvPr id="9" name="Google Shape;465;p27">
            <a:extLst>
              <a:ext uri="{FF2B5EF4-FFF2-40B4-BE49-F238E27FC236}">
                <a16:creationId xmlns:a16="http://schemas.microsoft.com/office/drawing/2014/main" id="{E02363CA-3E4A-E9A5-2A16-3F0F0267C031}"/>
              </a:ext>
            </a:extLst>
          </p:cNvPr>
          <p:cNvSpPr txBox="1">
            <a:spLocks/>
          </p:cNvSpPr>
          <p:nvPr/>
        </p:nvSpPr>
        <p:spPr>
          <a:xfrm>
            <a:off x="4449047" y="56687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1D6470-93C3-8FF4-34A4-D6B91E413195}"/>
              </a:ext>
            </a:extLst>
          </p:cNvPr>
          <p:cNvSpPr/>
          <p:nvPr/>
        </p:nvSpPr>
        <p:spPr>
          <a:xfrm>
            <a:off x="5434823" y="937881"/>
            <a:ext cx="3504175" cy="1637193"/>
          </a:xfrm>
          <a:prstGeom prst="roundRect">
            <a:avLst>
              <a:gd name="adj" fmla="val 541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11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11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endParaRPr lang="en-US" sz="1100" dirty="0">
              <a:solidFill>
                <a:schemeClr val="tx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</a:t>
            </a: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{</a:t>
            </a: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int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var1 = 10;</a:t>
            </a: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int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var2 = 20;</a:t>
            </a: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int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var3 = 30;</a:t>
            </a: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5126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59643B0A-EEF4-6B12-C6A0-76610F92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5F6E5DE8-E3CE-2261-F379-D0D057D35B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Pointer.c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14B461C-3C78-74FD-704B-5CF98F528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12F86-F2D2-7911-B78B-022647247E30}"/>
              </a:ext>
            </a:extLst>
          </p:cNvPr>
          <p:cNvSpPr txBox="1"/>
          <p:nvPr/>
        </p:nvSpPr>
        <p:spPr>
          <a:xfrm>
            <a:off x="1051400" y="911051"/>
            <a:ext cx="4221305" cy="255454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 rtl="1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Predict the output of the code</a:t>
            </a:r>
          </a:p>
          <a:p>
            <a:pPr algn="l">
              <a:buClr>
                <a:schemeClr val="accent3"/>
              </a:buClr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without compiling it. </a:t>
            </a: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Why dose it output such a result? </a:t>
            </a:r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4DB7C1AB-FE93-36B5-B465-5259FD1F9CD7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Pointer to Pointer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94D8A52B-745D-AD2D-59A1-E20F91153CD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968ADAAB-D7E2-D822-5356-2994721D059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Google Shape;465;p27">
            <a:extLst>
              <a:ext uri="{FF2B5EF4-FFF2-40B4-BE49-F238E27FC236}">
                <a16:creationId xmlns:a16="http://schemas.microsoft.com/office/drawing/2014/main" id="{7B621B67-AE36-1638-B427-357059D7FAEF}"/>
              </a:ext>
            </a:extLst>
          </p:cNvPr>
          <p:cNvSpPr txBox="1">
            <a:spLocks/>
          </p:cNvSpPr>
          <p:nvPr/>
        </p:nvSpPr>
        <p:spPr>
          <a:xfrm>
            <a:off x="4449047" y="56687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/>
            <a:r>
              <a:rPr lang="en-US" sz="1000" dirty="0"/>
              <a:t>Task 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0CE6FC-A8AB-D9D9-47F3-D0C896F0DB57}"/>
              </a:ext>
            </a:extLst>
          </p:cNvPr>
          <p:cNvSpPr/>
          <p:nvPr/>
        </p:nvSpPr>
        <p:spPr>
          <a:xfrm>
            <a:off x="5272705" y="1626901"/>
            <a:ext cx="3639337" cy="1707621"/>
          </a:xfrm>
          <a:prstGeom prst="roundRect">
            <a:avLst>
              <a:gd name="adj" fmla="val 541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fun(char **);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*list[] = </a:t>
            </a:r>
            <a:r>
              <a:rPr lang="en-US" sz="7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{"one", "two", "three", "four", "five"};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fun(list);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endParaRPr lang="en-US" sz="700" dirty="0">
              <a:solidFill>
                <a:schemeClr val="tx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fun(char **p) {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*s;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s = </a:t>
            </a:r>
            <a:r>
              <a:rPr lang="en-US" sz="7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(p += 3)[-2];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70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700" dirty="0">
                <a:solidFill>
                  <a:schemeClr val="accent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("%s\n", s);</a:t>
            </a:r>
          </a:p>
          <a:p>
            <a:r>
              <a:rPr lang="en-US" sz="7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44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867973E8-309B-D235-E203-A46CFF25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8B5F3C1-C0A6-E61B-F5BA-7BCF17FCEF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97685" y="84876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HW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CB363D7A-E969-BCDA-AC9A-2C5E75274E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54A43F61-8DD3-1EEA-1990-B67776C0ECC5}"/>
              </a:ext>
            </a:extLst>
          </p:cNvPr>
          <p:cNvSpPr txBox="1">
            <a:spLocks/>
          </p:cNvSpPr>
          <p:nvPr/>
        </p:nvSpPr>
        <p:spPr>
          <a:xfrm>
            <a:off x="1005895" y="95486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1226E-6F79-2ACF-F863-0B8EE3F7328B}"/>
              </a:ext>
            </a:extLst>
          </p:cNvPr>
          <p:cNvSpPr txBox="1"/>
          <p:nvPr/>
        </p:nvSpPr>
        <p:spPr>
          <a:xfrm>
            <a:off x="950400" y="950886"/>
            <a:ext cx="7995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1714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27D7923B-9E1B-B91A-362D-D18FF2A0516B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E04F1622-1905-2CA2-F30C-23BEBD4FF94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438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r>
              <a:rPr lang="fa-IR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B0FC5-DBD4-9170-45A2-50AE55E852A5}"/>
              </a:ext>
            </a:extLst>
          </p:cNvPr>
          <p:cNvSpPr txBox="1"/>
          <p:nvPr/>
        </p:nvSpPr>
        <p:spPr>
          <a:xfrm>
            <a:off x="1292400" y="1166329"/>
            <a:ext cx="765389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Assignment: 7.12 —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Fira Code"/>
                <a:ea typeface="Fira Code"/>
                <a:cs typeface="B Nazanin" panose="00000400000000000000" pitchFamily="2" charset="-78"/>
              </a:rPr>
              <a:t>Card Shuffling and Dealing: Dealing Poker Hands</a:t>
            </a:r>
          </a:p>
          <a:p>
            <a:br>
              <a:rPr lang="en-US" sz="1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sz="1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Source: C How to Program, 9th Edition (Deitel)</a:t>
            </a:r>
          </a:p>
          <a:p>
            <a:endParaRPr lang="en-US" sz="18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You should write functions for a-f parts.</a:t>
            </a:r>
          </a:p>
        </p:txBody>
      </p:sp>
    </p:spTree>
    <p:extLst>
      <p:ext uri="{BB962C8B-B14F-4D97-AF65-F5344CB8AC3E}">
        <p14:creationId xmlns:p14="http://schemas.microsoft.com/office/powerpoint/2010/main" val="1614182316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537</Words>
  <Application>Microsoft Office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Fira Code</vt:lpstr>
      <vt:lpstr>Eras Medium ITC</vt:lpstr>
      <vt:lpstr>Programming Language Workshop for Beginners by Slidesgo</vt:lpstr>
      <vt:lpstr>1_Programming Language Workshop for Beginners by Slidesgo</vt:lpstr>
      <vt:lpstr>PowerPoint Presentation</vt:lpstr>
      <vt:lpstr>Pinters and Memory address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Esmaeil Khosravi</cp:lastModifiedBy>
  <cp:revision>38</cp:revision>
  <dcterms:modified xsi:type="dcterms:W3CDTF">2025-09-04T14:51:37Z</dcterms:modified>
</cp:coreProperties>
</file>