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41"/>
  </p:notesMasterIdLst>
  <p:sldIdLst>
    <p:sldId id="256" r:id="rId2"/>
    <p:sldId id="268" r:id="rId3"/>
    <p:sldId id="302" r:id="rId4"/>
    <p:sldId id="257" r:id="rId5"/>
    <p:sldId id="305" r:id="rId6"/>
    <p:sldId id="303" r:id="rId7"/>
    <p:sldId id="304" r:id="rId8"/>
    <p:sldId id="307" r:id="rId9"/>
    <p:sldId id="306" r:id="rId10"/>
    <p:sldId id="308" r:id="rId11"/>
    <p:sldId id="309" r:id="rId12"/>
    <p:sldId id="314" r:id="rId13"/>
    <p:sldId id="315" r:id="rId14"/>
    <p:sldId id="316" r:id="rId15"/>
    <p:sldId id="319" r:id="rId16"/>
    <p:sldId id="329" r:id="rId17"/>
    <p:sldId id="310" r:id="rId18"/>
    <p:sldId id="311" r:id="rId19"/>
    <p:sldId id="320" r:id="rId20"/>
    <p:sldId id="318" r:id="rId21"/>
    <p:sldId id="321" r:id="rId22"/>
    <p:sldId id="317" r:id="rId23"/>
    <p:sldId id="327" r:id="rId24"/>
    <p:sldId id="328" r:id="rId25"/>
    <p:sldId id="323" r:id="rId26"/>
    <p:sldId id="331" r:id="rId27"/>
    <p:sldId id="325" r:id="rId28"/>
    <p:sldId id="324" r:id="rId29"/>
    <p:sldId id="326" r:id="rId30"/>
    <p:sldId id="330" r:id="rId31"/>
    <p:sldId id="332" r:id="rId32"/>
    <p:sldId id="333" r:id="rId33"/>
    <p:sldId id="258" r:id="rId34"/>
    <p:sldId id="334" r:id="rId35"/>
    <p:sldId id="335" r:id="rId36"/>
    <p:sldId id="336" r:id="rId37"/>
    <p:sldId id="337" r:id="rId38"/>
    <p:sldId id="338" r:id="rId39"/>
    <p:sldId id="340" r:id="rId40"/>
  </p:sldIdLst>
  <p:sldSz cx="9144000" cy="5143500" type="screen16x9"/>
  <p:notesSz cx="6858000" cy="9144000"/>
  <p:embeddedFontLst>
    <p:embeddedFont>
      <p:font typeface="B Nazanin" panose="00000400000000000000" pitchFamily="2" charset="-78"/>
      <p:regular r:id="rId42"/>
      <p:bold r:id="rId43"/>
    </p:embeddedFont>
    <p:embeddedFont>
      <p:font typeface="Fira Code" panose="020B0809050000020004" pitchFamily="49" charset="0"/>
      <p:regular r:id="rId44"/>
      <p:bold r:id="rId45"/>
    </p:embeddedFont>
    <p:embeddedFont>
      <p:font typeface="Lalezar" panose="00000500000000000000" pitchFamily="2" charset="-78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0920" autoAdjust="0"/>
  </p:normalViewPr>
  <p:slideViewPr>
    <p:cSldViewPr snapToGrid="0">
      <p:cViewPr varScale="1">
        <p:scale>
          <a:sx n="84" d="100"/>
          <a:sy n="84" d="100"/>
        </p:scale>
        <p:origin x="109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64F14AAE-DAFD-4678-933F-29E24F58F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AE8AC989-3FD8-D00D-4618-E64596290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15C52449-B22E-9729-3BCA-E14FB2775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069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780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13D0C84-039E-98A2-770D-E7521AC5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358091FB-AE62-840D-F4D9-D7BD742F8E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39A034E-D4CD-45B9-A989-3EE354C55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619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9F302E91-5697-68FC-EDBE-B93449B8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CC4C040-74FF-4C56-8BFF-30712C60F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AAE85740-2E10-B4FF-A234-7E8064CC7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477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AD3D05D0-2DE1-C97C-B9F2-53AACB1F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0B533F8C-8857-34A5-785A-B1217C631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081C4A6-DF8A-69D6-7E27-7475BEBAF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32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85A373C-E08B-9996-4D99-10364C7F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278AFF8-3DB3-3F3D-FAF5-5F27C155F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5FCA6339-68A4-554B-3F69-9445549AA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6158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871B9D9-8995-D296-AABE-CF24E469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DBF9646-4D5C-E971-F2FB-EB339D863A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7C2EC69-FC9E-AB66-7E33-6D1FB75B9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695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4E1DC8C-1711-8C1B-ABE5-D03A50F94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0D0E729-286B-B0F8-1C7B-1445C469A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9183F6DF-B786-20DA-9F9D-32AC76DF6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491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2AD9C667-14B8-DBCC-E81F-987E9686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600F1E0B-C4FD-BFA9-B4E3-2171FC7E2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D9D5F708-08A1-3149-2750-8889F79DE3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7481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95F3EE0-4C0C-596F-D698-9BBF34FA2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86F3C08-182C-8431-B767-8DC6408635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CE8ADFF9-7705-3AD7-1A2B-8EA355C07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4382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35AADED-0DC2-B1B5-7C85-60F2F74C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14684B0F-FF69-9239-36C8-A7E4FFF79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94EECA09-D0D9-3A05-71F8-7C7F5945F8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421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79C9548-948F-6770-8717-A8845C519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25DFF18C-F68D-325B-8718-85A83D6F20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71CF681-4BC5-527B-335A-484F414B44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1498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AC34B7F2-3731-B74C-16D7-22D1B9CA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E77F7F20-9FA4-DBA1-0A52-95668511F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B2858A88-56AB-DBFC-C93D-9A926F659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907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F5CE81E-C216-6E66-7F58-B1B21597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A667057-BB1C-5256-2EEB-438B83264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3941576F-AD03-675A-54AC-49FF86F24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6624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98DBA1C-9155-9CAF-1FE2-B973DEEE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BD092A7E-48A5-348D-F328-1FED4CC4C0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6EF06939-0C4A-F528-BB15-87FF185BF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964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9FA19937-FE19-9176-767C-430E4649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104EA597-F144-F577-1140-4A21C54DB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09F6E292-6D37-57CA-784A-641007D45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75345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78363923-C09F-2B14-1E67-3046500F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2670B454-B53E-6C5F-D0C2-5A4C19EEBC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37CC2D83-89C9-796C-0FBC-8E71678AB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506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9A70173E-323C-F63B-19EF-78ED9A8A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DE326B3-B1DE-949F-2818-4C2634960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EEB5B8A8-C221-E826-7DB3-789FA6ED16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75292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5AA61020-557E-2403-4985-17520883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1624856-E7E4-2DE8-89B0-09E98FA8C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5FB5AE95-6EFD-26CB-5E96-EFCF3F38B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10623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A8263420-D803-ABCE-8252-805572F9C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F88C257-6D51-2562-3851-0BAFCD206E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3AD1CFA-65EF-D47E-D0B9-C0DCE5517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555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7197029B-B0BB-1C65-BE17-953D319D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729676FE-97DE-BA34-ED87-66A471EF3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C1CEFBD2-4D56-3802-3181-8A5C8CD53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551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B7FDD03-69EC-AD18-627E-F14FC1A3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36AB780A-1FCD-1745-2086-DD5B35645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6A1E1574-CA7E-20AD-6897-914C24373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71880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33DB2D3-06F1-41AA-DDD2-1F926544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9D8F955-EA1A-F545-E238-B76F171A5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E8B4E8D-CAC5-C7CF-A172-30EDC711A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9549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C8EC612-3700-CA70-FD3D-D97B145B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6B867499-E086-5C1F-1BC1-94D692FA28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106A2C7C-E6A7-73C3-8DDF-75CE56E8A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4557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2A170B93-1431-5A3D-7CE1-6166491F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572F406-5029-0A5B-AC09-769EC622B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1303FC8A-98A3-DDCB-D1C3-18377D0EE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4537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37237A2A-F5A3-4683-A8AE-418AA035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1FFC4263-B699-6ACF-4C60-B210A8B7C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4445B89A-BD0D-4C70-577C-4E4FAE332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03356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08DCE963-255B-BCDD-A9A9-CEEBB078F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5DADA81A-8271-81AF-FB87-FA1760153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06CE5D13-0D71-2F2D-DA57-BDDC223AF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98921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8A6E2715-B875-28A5-1B93-CA6089DF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4CFA540-D6B1-5CC5-E5F8-18215C6B7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E1017DB-3E6E-72AE-7EBC-398BE5850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769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32A341F9-1056-1663-D000-BA5B7498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6A92053-58A9-026F-330A-A8AA65CE4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03133E3-983E-4CA6-FAAE-0E38F1DCD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09367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1DB28F34-8C06-6AAA-F835-63D3DED4F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D041BC08-C1F1-9CD7-CCEE-4C502A674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E0E9C18E-0AE6-7F27-536B-C63216AB5A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4923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0FE73EDD-50B2-C8FD-18AC-0F6FFE35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52787523-47AC-2B06-7FE8-E0B6A3ABF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4A0CB238-E1AE-EEAE-E643-97F9E3A32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262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C3E2AB20-71F2-EC59-2C2A-754127D4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DD3C8AC9-75BF-5AF5-E924-995E810704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4E3D6CFD-A66C-AE1F-D21B-5203E6FAF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4725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4FA44D1A-6E55-9C56-CD5B-A357FD02E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4A94B361-6D8A-A51F-C25F-267DB42C9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D4091C3D-1B33-42C8-FFAF-EF10A8610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9099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504527EA-CF9D-7371-C5AB-BBEDE523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B3F4A20A-78B6-D8CC-7D6B-6498F3C498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92E5F64F-F7EB-D75B-D082-576A54A769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8029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9C6B9ED9-4623-0041-1CB5-4FB18537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EA01F4B5-6978-01C5-448D-840459923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05C9B86E-C47F-DE5B-D175-34BA013EFA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372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59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cpp/config-mingw#_installing-the-mingww64-toolchain" TargetMode="Externa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www.youtube.com/watch?v=DMWD7wfhgNY" TargetMode="External"/><Relationship Id="rId4" Type="http://schemas.openxmlformats.org/officeDocument/2006/relationships/hyperlink" Target="https://github.com/msys2/msys2-installer/releases/download/2024-12-08/msys2-x86_64-20241208.exe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s/desktop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</a:t>
            </a:r>
            <a:endParaRPr sz="1100" dirty="0"/>
          </a:p>
        </p:txBody>
      </p: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0" y="116994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7936E9-7FC1-30C1-7397-1B2AB8776D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613" y="759349"/>
            <a:ext cx="2106820" cy="1900123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453E56-EC32-C5A9-7C2B-A7AEA24CFF8C}"/>
              </a:ext>
            </a:extLst>
          </p:cNvPr>
          <p:cNvSpPr txBox="1"/>
          <p:nvPr/>
        </p:nvSpPr>
        <p:spPr>
          <a:xfrm>
            <a:off x="3119787" y="2815859"/>
            <a:ext cx="2892474" cy="36933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6"/>
                </a:solidFill>
                <a:latin typeface="Lalezar" panose="00000500000000000000" pitchFamily="2" charset="-78"/>
                <a:cs typeface="B Nazanin" panose="00000400000000000000" pitchFamily="2" charset="-78"/>
                <a:sym typeface="Roboto Black"/>
              </a:rPr>
              <a:t>Programming Lab</a:t>
            </a:r>
            <a:endParaRPr lang="en-US" sz="1800" b="1" dirty="0">
              <a:solidFill>
                <a:schemeClr val="accent6"/>
              </a:solidFill>
              <a:cs typeface="B Nazanin" panose="00000400000000000000" pitchFamily="2" charset="-78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820962" y="216993"/>
            <a:ext cx="3591711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Basic Concepts</a:t>
            </a: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42CCD27B-1F3A-6104-A6A9-C9B968D4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E4D1B80C-4E3D-9DCF-00F8-3365428AC40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#2</a:t>
            </a:r>
            <a:endParaRPr sz="1100" dirty="0"/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A264DF29-B9AC-EC90-9E40-A479F209C8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Intro.c</a:t>
            </a:r>
            <a:endParaRPr sz="10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A14C772F-CD13-D2C6-DA77-ECB208271B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0465E-896B-243B-5D49-7C62ED51663E}"/>
              </a:ext>
            </a:extLst>
          </p:cNvPr>
          <p:cNvSpPr txBox="1"/>
          <p:nvPr/>
        </p:nvSpPr>
        <p:spPr>
          <a:xfrm>
            <a:off x="1061884" y="678426"/>
            <a:ext cx="7841523" cy="6494085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rtl="1"/>
            <a:r>
              <a:rPr lang="fa-IR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قراره تو این کارگاه چی کار کنیم؟</a:t>
            </a:r>
            <a:endParaRPr lang="en-US" sz="1600" b="1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r" rtl="1"/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تبدیل آموخته‌های نظری به تجربه‌ی عملی</a:t>
            </a: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تمرین تفکر، همکاری، جست‌وجو و حل مسئله</a:t>
            </a: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  <a:sym typeface="Fira Code"/>
              </a:rPr>
              <a:t>آماده شدن برای دنیای واقعی برنامه‌نویسی</a:t>
            </a: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r" rtl="1">
              <a:buClr>
                <a:schemeClr val="accent3"/>
              </a:buClr>
            </a:pPr>
            <a:r>
              <a:rPr lang="fa-IR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از کجا شروع می‌کنیم؟</a:t>
            </a: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شناخت ساختار و اجزای کامپیوتر</a:t>
            </a: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آشنایی با پشت‌صحنه‌ی اجرای برنامه‌ها</a:t>
            </a: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ایجاد دید بهتر برای رفع اشکال و درک عمیق‌تر</a:t>
            </a: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algn="r" rtl="1">
              <a:buClr>
                <a:schemeClr val="accent3"/>
              </a:buClr>
            </a:pPr>
            <a:r>
              <a:rPr lang="fa-IR" sz="1600" b="1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چرا این قدم مهمه؟</a:t>
            </a: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درک بهتر از "کامپیوتر چطور کار می‌کنه" = برنامه‌نویس بهتر</a:t>
            </a: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فهم ساختار کامپیوتر = حل مسئله‌ی هوشمندانه‌تر</a:t>
            </a: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accent3"/>
                </a:solidFill>
                <a:latin typeface="Fira Code"/>
                <a:ea typeface="Fira Code"/>
                <a:cs typeface="B Nazanin" panose="00000400000000000000" pitchFamily="2" charset="-78"/>
              </a:rPr>
              <a:t>این شروع مسیر یادگیری عمیق و حرفه‌ایه</a:t>
            </a: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  <a:p>
            <a:pPr marL="171450" indent="-171450" algn="r" rtl="1"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fa-IR" sz="1600" dirty="0">
              <a:solidFill>
                <a:schemeClr val="accent3"/>
              </a:solidFill>
              <a:latin typeface="Fira Code"/>
              <a:ea typeface="Fira Code"/>
              <a:cs typeface="B Nazanin" panose="00000400000000000000" pitchFamily="2" charset="-78"/>
              <a:sym typeface="Fira Cod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BE63B-E874-D63D-A828-9C3225C98429}"/>
              </a:ext>
            </a:extLst>
          </p:cNvPr>
          <p:cNvSpPr txBox="1"/>
          <p:nvPr/>
        </p:nvSpPr>
        <p:spPr>
          <a:xfrm>
            <a:off x="948812" y="722037"/>
            <a:ext cx="422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/*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7DED86-05F3-E8DB-A37A-2341C1975B93}"/>
                  </a:ext>
                </a:extLst>
              </p:cNvPr>
              <p:cNvSpPr txBox="1"/>
              <p:nvPr/>
            </p:nvSpPr>
            <p:spPr>
              <a:xfrm>
                <a:off x="1037303" y="4185074"/>
                <a:ext cx="33429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0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m:t>∗</m:t>
                      </m:r>
                      <m:r>
                        <m:rPr>
                          <m:nor/>
                        </m:rPr>
                        <a:rPr lang="en-US" sz="10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m:t>/</m:t>
                      </m:r>
                    </m:oMath>
                  </m:oMathPara>
                </a14:m>
                <a:endParaRPr lang="en-US" sz="1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7DED86-05F3-E8DB-A37A-2341C1975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03" y="4185074"/>
                <a:ext cx="334297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CF465EB3-F53B-4CEF-A5F4-89EDBC02D0C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929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83000"/>
          </a:schemeClr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kinds of </a:t>
            </a:r>
            <a:r>
              <a:rPr lang="en-US" dirty="0">
                <a:solidFill>
                  <a:schemeClr val="accent2"/>
                </a:solidFill>
              </a:rPr>
              <a:t>Processors</a:t>
            </a:r>
            <a:r>
              <a:rPr lang="en" dirty="0">
                <a:solidFill>
                  <a:schemeClr val="accent2"/>
                </a:solidFill>
              </a:rPr>
              <a:t>’;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1214219" y="370231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2400" dirty="0">
                <a:solidFill>
                  <a:schemeClr val="accent3"/>
                </a:solidFill>
              </a:rPr>
              <a:t>CPU</a:t>
            </a:r>
          </a:p>
          <a:p>
            <a:pPr marL="0" indent="0">
              <a:lnSpc>
                <a:spcPct val="300000"/>
              </a:lnSpc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</a:rPr>
              <a:t>GPU</a:t>
            </a:r>
            <a:endParaRPr lang="en-US" sz="2400" dirty="0">
              <a:solidFill>
                <a:schemeClr val="accent3"/>
              </a:solidFill>
            </a:endParaRPr>
          </a:p>
          <a:p>
            <a:pPr marL="171450" indent="-171450"/>
            <a:endParaRPr lang="en-US" sz="2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</a:rPr>
              <a:t>FPGA</a:t>
            </a:r>
            <a:endParaRPr lang="en-US" sz="24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Processors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5744A02-F585-EDB2-6FE0-B759E0BC9A6C}"/>
              </a:ext>
            </a:extLst>
          </p:cNvPr>
          <p:cNvSpPr/>
          <p:nvPr/>
        </p:nvSpPr>
        <p:spPr>
          <a:xfrm>
            <a:off x="1107281" y="2055296"/>
            <a:ext cx="1271588" cy="687904"/>
          </a:xfrm>
          <a:custGeom>
            <a:avLst/>
            <a:gdLst>
              <a:gd name="connsiteX0" fmla="*/ 792957 w 1271588"/>
              <a:gd name="connsiteY0" fmla="*/ 2104 h 687904"/>
              <a:gd name="connsiteX1" fmla="*/ 842963 w 1271588"/>
              <a:gd name="connsiteY1" fmla="*/ 23535 h 687904"/>
              <a:gd name="connsiteX2" fmla="*/ 992982 w 1271588"/>
              <a:gd name="connsiteY2" fmla="*/ 80685 h 687904"/>
              <a:gd name="connsiteX3" fmla="*/ 1207294 w 1271588"/>
              <a:gd name="connsiteY3" fmla="*/ 187842 h 687904"/>
              <a:gd name="connsiteX4" fmla="*/ 1250157 w 1271588"/>
              <a:gd name="connsiteY4" fmla="*/ 244992 h 687904"/>
              <a:gd name="connsiteX5" fmla="*/ 1271588 w 1271588"/>
              <a:gd name="connsiteY5" fmla="*/ 330717 h 687904"/>
              <a:gd name="connsiteX6" fmla="*/ 1171575 w 1271588"/>
              <a:gd name="connsiteY6" fmla="*/ 402154 h 687904"/>
              <a:gd name="connsiteX7" fmla="*/ 1050132 w 1271588"/>
              <a:gd name="connsiteY7" fmla="*/ 445017 h 687904"/>
              <a:gd name="connsiteX8" fmla="*/ 992982 w 1271588"/>
              <a:gd name="connsiteY8" fmla="*/ 473592 h 687904"/>
              <a:gd name="connsiteX9" fmla="*/ 892969 w 1271588"/>
              <a:gd name="connsiteY9" fmla="*/ 616467 h 687904"/>
              <a:gd name="connsiteX10" fmla="*/ 828675 w 1271588"/>
              <a:gd name="connsiteY10" fmla="*/ 687904 h 687904"/>
              <a:gd name="connsiteX11" fmla="*/ 607219 w 1271588"/>
              <a:gd name="connsiteY11" fmla="*/ 680760 h 687904"/>
              <a:gd name="connsiteX12" fmla="*/ 550069 w 1271588"/>
              <a:gd name="connsiteY12" fmla="*/ 673617 h 687904"/>
              <a:gd name="connsiteX13" fmla="*/ 500063 w 1271588"/>
              <a:gd name="connsiteY13" fmla="*/ 666473 h 687904"/>
              <a:gd name="connsiteX14" fmla="*/ 364332 w 1271588"/>
              <a:gd name="connsiteY14" fmla="*/ 637898 h 687904"/>
              <a:gd name="connsiteX15" fmla="*/ 300038 w 1271588"/>
              <a:gd name="connsiteY15" fmla="*/ 609323 h 687904"/>
              <a:gd name="connsiteX16" fmla="*/ 242888 w 1271588"/>
              <a:gd name="connsiteY16" fmla="*/ 573604 h 687904"/>
              <a:gd name="connsiteX17" fmla="*/ 50007 w 1271588"/>
              <a:gd name="connsiteY17" fmla="*/ 559317 h 687904"/>
              <a:gd name="connsiteX18" fmla="*/ 7144 w 1271588"/>
              <a:gd name="connsiteY18" fmla="*/ 480735 h 687904"/>
              <a:gd name="connsiteX19" fmla="*/ 0 w 1271588"/>
              <a:gd name="connsiteY19" fmla="*/ 437873 h 687904"/>
              <a:gd name="connsiteX20" fmla="*/ 57150 w 1271588"/>
              <a:gd name="connsiteY20" fmla="*/ 252135 h 687904"/>
              <a:gd name="connsiteX21" fmla="*/ 157163 w 1271588"/>
              <a:gd name="connsiteY21" fmla="*/ 159267 h 687904"/>
              <a:gd name="connsiteX22" fmla="*/ 292894 w 1271588"/>
              <a:gd name="connsiteY22" fmla="*/ 73542 h 687904"/>
              <a:gd name="connsiteX23" fmla="*/ 507207 w 1271588"/>
              <a:gd name="connsiteY23" fmla="*/ 23535 h 687904"/>
              <a:gd name="connsiteX24" fmla="*/ 564357 w 1271588"/>
              <a:gd name="connsiteY24" fmla="*/ 16392 h 687904"/>
              <a:gd name="connsiteX25" fmla="*/ 628650 w 1271588"/>
              <a:gd name="connsiteY25" fmla="*/ 9248 h 687904"/>
              <a:gd name="connsiteX26" fmla="*/ 664369 w 1271588"/>
              <a:gd name="connsiteY26" fmla="*/ 2104 h 687904"/>
              <a:gd name="connsiteX27" fmla="*/ 792957 w 1271588"/>
              <a:gd name="connsiteY27" fmla="*/ 2104 h 68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71588" h="687904">
                <a:moveTo>
                  <a:pt x="792957" y="2104"/>
                </a:moveTo>
                <a:cubicBezTo>
                  <a:pt x="822723" y="5676"/>
                  <a:pt x="826084" y="16904"/>
                  <a:pt x="842963" y="23535"/>
                </a:cubicBezTo>
                <a:cubicBezTo>
                  <a:pt x="892769" y="43102"/>
                  <a:pt x="943663" y="59919"/>
                  <a:pt x="992982" y="80685"/>
                </a:cubicBezTo>
                <a:cubicBezTo>
                  <a:pt x="1081578" y="117989"/>
                  <a:pt x="1125846" y="143985"/>
                  <a:pt x="1207294" y="187842"/>
                </a:cubicBezTo>
                <a:cubicBezTo>
                  <a:pt x="1221582" y="206892"/>
                  <a:pt x="1238951" y="223981"/>
                  <a:pt x="1250157" y="244992"/>
                </a:cubicBezTo>
                <a:cubicBezTo>
                  <a:pt x="1258615" y="260850"/>
                  <a:pt x="1267463" y="310094"/>
                  <a:pt x="1271588" y="330717"/>
                </a:cubicBezTo>
                <a:cubicBezTo>
                  <a:pt x="1238250" y="354529"/>
                  <a:pt x="1207981" y="383364"/>
                  <a:pt x="1171575" y="402154"/>
                </a:cubicBezTo>
                <a:cubicBezTo>
                  <a:pt x="1133428" y="421843"/>
                  <a:pt x="1089990" y="429074"/>
                  <a:pt x="1050132" y="445017"/>
                </a:cubicBezTo>
                <a:cubicBezTo>
                  <a:pt x="1030357" y="452927"/>
                  <a:pt x="1012032" y="464067"/>
                  <a:pt x="992982" y="473592"/>
                </a:cubicBezTo>
                <a:cubicBezTo>
                  <a:pt x="957657" y="520691"/>
                  <a:pt x="922738" y="565048"/>
                  <a:pt x="892969" y="616467"/>
                </a:cubicBezTo>
                <a:cubicBezTo>
                  <a:pt x="851555" y="688001"/>
                  <a:pt x="899818" y="652333"/>
                  <a:pt x="828675" y="687904"/>
                </a:cubicBezTo>
                <a:lnTo>
                  <a:pt x="607219" y="680760"/>
                </a:lnTo>
                <a:cubicBezTo>
                  <a:pt x="588046" y="679777"/>
                  <a:pt x="569099" y="676154"/>
                  <a:pt x="550069" y="673617"/>
                </a:cubicBezTo>
                <a:cubicBezTo>
                  <a:pt x="533379" y="671392"/>
                  <a:pt x="516645" y="669399"/>
                  <a:pt x="500063" y="666473"/>
                </a:cubicBezTo>
                <a:cubicBezTo>
                  <a:pt x="454919" y="658506"/>
                  <a:pt x="409099" y="647846"/>
                  <a:pt x="364332" y="637898"/>
                </a:cubicBezTo>
                <a:cubicBezTo>
                  <a:pt x="342901" y="628373"/>
                  <a:pt x="320401" y="620959"/>
                  <a:pt x="300038" y="609323"/>
                </a:cubicBezTo>
                <a:cubicBezTo>
                  <a:pt x="274248" y="594586"/>
                  <a:pt x="270977" y="576413"/>
                  <a:pt x="242888" y="573604"/>
                </a:cubicBezTo>
                <a:cubicBezTo>
                  <a:pt x="178738" y="567189"/>
                  <a:pt x="114301" y="564079"/>
                  <a:pt x="50007" y="559317"/>
                </a:cubicBezTo>
                <a:cubicBezTo>
                  <a:pt x="25895" y="527168"/>
                  <a:pt x="20773" y="525031"/>
                  <a:pt x="7144" y="480735"/>
                </a:cubicBezTo>
                <a:cubicBezTo>
                  <a:pt x="2884" y="466891"/>
                  <a:pt x="2381" y="452160"/>
                  <a:pt x="0" y="437873"/>
                </a:cubicBezTo>
                <a:cubicBezTo>
                  <a:pt x="11375" y="375312"/>
                  <a:pt x="18554" y="306169"/>
                  <a:pt x="57150" y="252135"/>
                </a:cubicBezTo>
                <a:cubicBezTo>
                  <a:pt x="83593" y="215115"/>
                  <a:pt x="120900" y="186739"/>
                  <a:pt x="157163" y="159267"/>
                </a:cubicBezTo>
                <a:cubicBezTo>
                  <a:pt x="199817" y="126954"/>
                  <a:pt x="245342" y="98085"/>
                  <a:pt x="292894" y="73542"/>
                </a:cubicBezTo>
                <a:cubicBezTo>
                  <a:pt x="348821" y="44676"/>
                  <a:pt x="451369" y="30514"/>
                  <a:pt x="507207" y="23535"/>
                </a:cubicBezTo>
                <a:lnTo>
                  <a:pt x="564357" y="16392"/>
                </a:lnTo>
                <a:cubicBezTo>
                  <a:pt x="585772" y="13873"/>
                  <a:pt x="607304" y="12298"/>
                  <a:pt x="628650" y="9248"/>
                </a:cubicBezTo>
                <a:cubicBezTo>
                  <a:pt x="640670" y="7531"/>
                  <a:pt x="652236" y="2571"/>
                  <a:pt x="664369" y="2104"/>
                </a:cubicBezTo>
                <a:cubicBezTo>
                  <a:pt x="714338" y="182"/>
                  <a:pt x="763191" y="-1468"/>
                  <a:pt x="792957" y="2104"/>
                </a:cubicBez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C65986C4-3FC3-6FB9-2F47-345E3D8A2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248287"/>
            <a:ext cx="2101970" cy="132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ARM big.LITTLE - Wikipedia">
            <a:extLst>
              <a:ext uri="{FF2B5EF4-FFF2-40B4-BE49-F238E27FC236}">
                <a16:creationId xmlns:a16="http://schemas.microsoft.com/office/drawing/2014/main" id="{A52C0111-FC30-EEA9-8C28-181CD1590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730" y="1710499"/>
            <a:ext cx="3643239" cy="241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1E16C7-56AF-9791-E722-B6EE74B22590}"/>
              </a:ext>
            </a:extLst>
          </p:cNvPr>
          <p:cNvSpPr txBox="1"/>
          <p:nvPr/>
        </p:nvSpPr>
        <p:spPr>
          <a:xfrm>
            <a:off x="6718000" y="3025302"/>
            <a:ext cx="2241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/>
            <a:r>
              <a:rPr lang="en-US" sz="1400" dirty="0">
                <a:solidFill>
                  <a:srgbClr val="92D050"/>
                </a:solidFill>
              </a:rPr>
              <a:t>In CPU, speed matters</a:t>
            </a:r>
            <a:r>
              <a:rPr lang="en-US" dirty="0">
                <a:solidFill>
                  <a:srgbClr val="92D050"/>
                </a:solidFill>
              </a:rPr>
              <a:t>!</a:t>
            </a:r>
            <a:endParaRPr lang="en-US" sz="2800" dirty="0">
              <a:solidFill>
                <a:srgbClr val="92D05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7E1306-9112-B500-2858-AA13072245E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850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DE7D-5E0B-34EE-13EA-17A2815F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6E766-90C0-37C2-7F1C-46C196469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93D9E2-CBB7-46A6-711B-E682A3EF6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8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29168D7-D37C-BCE0-CECE-3BE91763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078701C-26BA-C644-DC9D-5BED2DCBCE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kinds of </a:t>
            </a:r>
            <a:r>
              <a:rPr lang="en-US" dirty="0">
                <a:solidFill>
                  <a:schemeClr val="accent2"/>
                </a:solidFill>
              </a:rPr>
              <a:t>Processors</a:t>
            </a:r>
            <a:r>
              <a:rPr lang="en" dirty="0">
                <a:solidFill>
                  <a:schemeClr val="accent2"/>
                </a:solidFill>
              </a:rPr>
              <a:t>’;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D35F0DB0-31A4-B285-4905-5CB76A3EF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250" y="758158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CPU</a:t>
            </a:r>
            <a:endParaRPr lang="en-US" sz="2400" dirty="0">
              <a:solidFill>
                <a:schemeClr val="accent3"/>
              </a:solidFill>
            </a:endParaRPr>
          </a:p>
          <a:p>
            <a:pPr marL="0" indent="0">
              <a:lnSpc>
                <a:spcPct val="300000"/>
              </a:lnSpc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2400" dirty="0">
                <a:solidFill>
                  <a:schemeClr val="accent3"/>
                </a:solidFill>
              </a:rPr>
              <a:t>GPU</a:t>
            </a: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200" dirty="0">
                <a:solidFill>
                  <a:schemeClr val="accent3"/>
                </a:solidFill>
              </a:rPr>
              <a:t>FPGA</a:t>
            </a:r>
          </a:p>
          <a:p>
            <a:pPr marL="171450" indent="-171450"/>
            <a:endParaRPr lang="en-US" sz="1200" dirty="0">
              <a:solidFill>
                <a:schemeClr val="accent3"/>
              </a:solidFill>
            </a:endParaRPr>
          </a:p>
          <a:p>
            <a:pPr marL="171450" indent="-171450"/>
            <a:endParaRPr lang="en-US" sz="12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DC281EB3-03B8-C58F-B2AD-7F8CC95E43D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0D26C15-6F4D-4F8E-2715-62FF8A9087D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Processors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BB81A2B-7317-3CEC-D4A1-B68F5B067EB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7B7ED71-AED4-A764-28BD-0A3325B33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644" y="2654566"/>
            <a:ext cx="281940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F844BB5-4987-3589-1B57-3C8B250CE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044" y="1128707"/>
            <a:ext cx="2902744" cy="193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DF6929-7D9B-10CB-C5CC-9DD5E52F12D2}"/>
              </a:ext>
            </a:extLst>
          </p:cNvPr>
          <p:cNvSpPr txBox="1"/>
          <p:nvPr/>
        </p:nvSpPr>
        <p:spPr>
          <a:xfrm>
            <a:off x="5959696" y="3356092"/>
            <a:ext cx="2432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</a:rPr>
              <a:t>In GPU, throughput matters!</a:t>
            </a:r>
            <a:endParaRPr lang="en-US" sz="2800" dirty="0">
              <a:solidFill>
                <a:srgbClr val="92D050"/>
              </a:solidFill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4A63AC-36A4-23DE-0559-94C41761A28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0726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04BC4DA-C2DC-B294-2CA2-5DD314B96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F6059F63-B981-9967-1E6E-4DF2B7508D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kinds of </a:t>
            </a:r>
            <a:r>
              <a:rPr lang="en-US" dirty="0">
                <a:solidFill>
                  <a:schemeClr val="accent2"/>
                </a:solidFill>
              </a:rPr>
              <a:t>Processors</a:t>
            </a:r>
            <a:r>
              <a:rPr lang="en" dirty="0">
                <a:solidFill>
                  <a:schemeClr val="accent2"/>
                </a:solidFill>
              </a:rPr>
              <a:t>’;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A531E344-C3F3-CFC4-5528-711206D29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4219" y="370231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CPU</a:t>
            </a:r>
          </a:p>
          <a:p>
            <a:pPr marL="0" indent="0">
              <a:lnSpc>
                <a:spcPct val="300000"/>
              </a:lnSpc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</a:rPr>
              <a:t>GPU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2400" dirty="0">
                <a:solidFill>
                  <a:schemeClr val="accent3"/>
                </a:solidFill>
              </a:rPr>
              <a:t>FPGA</a:t>
            </a: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38B160C9-8468-683A-7CFD-3E20735E0C7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880840F-C025-C929-3824-C11388B09D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Processors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4B36DDE-20CA-63E5-6D39-C91757B9F56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2052" name="Picture 4" descr="ZedBoard Zynq-7000 Development Board - Digilent | Mouser">
            <a:extLst>
              <a:ext uri="{FF2B5EF4-FFF2-40B4-BE49-F238E27FC236}">
                <a16:creationId xmlns:a16="http://schemas.microsoft.com/office/drawing/2014/main" id="{B3A191D2-A569-1FD1-CE5B-2BA4B7304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668" y="2054121"/>
            <a:ext cx="3414713" cy="248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FBA24ABE-C16A-9547-FE9A-C3E0A6E20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903" y="1029213"/>
            <a:ext cx="2967038" cy="24100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71271E-C4D8-4D1B-DD33-80FAE4384E6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6475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5CB71CCD-ED7D-571F-32E4-310D3CAAC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68A01386-B691-C054-24C6-7934639EDD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kinds of </a:t>
            </a:r>
            <a:r>
              <a:rPr lang="en-US" dirty="0">
                <a:solidFill>
                  <a:schemeClr val="accent2"/>
                </a:solidFill>
              </a:rPr>
              <a:t>Memories</a:t>
            </a:r>
            <a:r>
              <a:rPr lang="en" dirty="0">
                <a:solidFill>
                  <a:schemeClr val="accent2"/>
                </a:solidFill>
              </a:rPr>
              <a:t>’;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95DB068E-C447-C71F-9918-26FF3A93E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4219" y="1123900"/>
            <a:ext cx="6565108" cy="20487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800" dirty="0">
                <a:solidFill>
                  <a:schemeClr val="accent3"/>
                </a:solidFill>
              </a:rPr>
              <a:t>Secondary Storage (SSD Or HDD)</a:t>
            </a:r>
          </a:p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Random Access Memory (RAM)</a:t>
            </a: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1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F9B7626A-6AA4-B522-2AFF-61578686DE2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F41FBF73-FEF8-F046-73D8-5F480413482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Memory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7240F46-AC3C-258F-CEE0-373ECC97D42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5" name="Picture 2" descr="HDD vs SSD: Exploring the Battle Between Traditional Hard Drives and  Solid-State Drives | Geekboots">
            <a:extLst>
              <a:ext uri="{FF2B5EF4-FFF2-40B4-BE49-F238E27FC236}">
                <a16:creationId xmlns:a16="http://schemas.microsoft.com/office/drawing/2014/main" id="{038C5097-487D-95E0-5730-B6695134D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466" y="2241814"/>
            <a:ext cx="3474825" cy="231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3DB267-C4EC-1647-EB0A-1E55FF2CFDA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243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8010F72F-5618-B110-0232-634CA62A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22B3590-3D7D-9AAF-A9D4-78268F4B23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kinds of </a:t>
            </a:r>
            <a:r>
              <a:rPr lang="en-US" dirty="0">
                <a:solidFill>
                  <a:schemeClr val="accent2"/>
                </a:solidFill>
              </a:rPr>
              <a:t>Memories</a:t>
            </a:r>
            <a:r>
              <a:rPr lang="en" dirty="0">
                <a:solidFill>
                  <a:schemeClr val="accent2"/>
                </a:solidFill>
              </a:rPr>
              <a:t>’;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7B31653C-03A8-9F4A-7578-8787C593F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4219" y="1257775"/>
            <a:ext cx="6565108" cy="17209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Secondary Storage (SSD Or HDD)</a:t>
            </a:r>
          </a:p>
          <a:p>
            <a:pPr marL="171450" indent="-171450">
              <a:lnSpc>
                <a:spcPct val="300000"/>
              </a:lnSpc>
            </a:pPr>
            <a:r>
              <a:rPr lang="en-US" sz="1800" dirty="0">
                <a:solidFill>
                  <a:schemeClr val="accent3"/>
                </a:solidFill>
              </a:rPr>
              <a:t>Random Access Memory (RAM)</a:t>
            </a:r>
          </a:p>
          <a:p>
            <a:pPr marL="171450" indent="-171450"/>
            <a:endParaRPr lang="en-US" sz="1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7F506EAE-11D4-0128-8A08-D16ED1B7139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7552F8EC-38CF-E2A7-836F-D18D64B1088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Memory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93F21D05-05C7-7FBE-873F-BF8E41C81D2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B18674-ED80-0C99-6EB4-4DED50483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351" y="2503294"/>
            <a:ext cx="3299297" cy="18912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3972C44-78FE-EB45-68C0-7631BBB26EC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4538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27E50D2E-0755-EBB5-E4FC-86014369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8762DCE6-DEEB-7574-7FE9-8846E60A58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Computer Architecture;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63C3562D-2224-9B04-6210-F1C45905F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John Von Neumann Architecture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23C1CD06-6762-B424-D775-616606F1732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28D43BF7-21FD-50E3-2F13-2DCDE173D11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Architecture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D8032FD-09E0-9610-70C9-92388362727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148" name="Picture 4" descr="Difference Between Von Neumann and Harvard Architecture - Circuit Globe">
            <a:extLst>
              <a:ext uri="{FF2B5EF4-FFF2-40B4-BE49-F238E27FC236}">
                <a16:creationId xmlns:a16="http://schemas.microsoft.com/office/drawing/2014/main" id="{13F79B77-D3E6-34F4-1723-2B0840A37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564" y="2015529"/>
            <a:ext cx="3914088" cy="2188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he World John von Neumann Built | The Nation">
            <a:extLst>
              <a:ext uri="{FF2B5EF4-FFF2-40B4-BE49-F238E27FC236}">
                <a16:creationId xmlns:a16="http://schemas.microsoft.com/office/drawing/2014/main" id="{6EA9AC67-12D6-4EDE-9107-366788815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443" y="582700"/>
            <a:ext cx="1640831" cy="103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7D3E24-08AB-44CE-BFC4-3248F292FA8F}"/>
              </a:ext>
            </a:extLst>
          </p:cNvPr>
          <p:cNvSpPr txBox="1"/>
          <p:nvPr/>
        </p:nvSpPr>
        <p:spPr>
          <a:xfrm>
            <a:off x="7204581" y="1617092"/>
            <a:ext cx="1952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</a:rPr>
              <a:t>John Von Neumann</a:t>
            </a:r>
          </a:p>
          <a:p>
            <a:pPr algn="ctr"/>
            <a:r>
              <a:rPr lang="en-US" sz="1100" dirty="0">
                <a:solidFill>
                  <a:schemeClr val="accent3"/>
                </a:solidFill>
              </a:rPr>
              <a:t>(1903 – 1957)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3F2D1-360C-E4C6-B2CC-11CC2790239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8627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2CD879CE-BB27-984F-4E5F-4E5911636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9DD37B3-4601-25FD-5B3F-B2C463F88A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Computer Architecture;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1F7CE347-7E53-FA10-6281-4D5AEF0AC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John Von Neumann Architecture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A199EA6A-ACD6-939E-F010-CD18FC8BC29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0FF83CB5-DF5F-4EC0-0BAE-4258473726E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Architecture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B6D46E2-6F85-2F74-E342-5A115ABA3E4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146" name="Picture 2" descr="The World John von Neumann Built | The Nation">
            <a:extLst>
              <a:ext uri="{FF2B5EF4-FFF2-40B4-BE49-F238E27FC236}">
                <a16:creationId xmlns:a16="http://schemas.microsoft.com/office/drawing/2014/main" id="{9834C0C4-CDF4-98B3-CBCE-D6D9D3CD6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443" y="582700"/>
            <a:ext cx="1640831" cy="103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169988-2BFF-FA8A-B2DB-00D16A4396BA}"/>
              </a:ext>
            </a:extLst>
          </p:cNvPr>
          <p:cNvSpPr txBox="1"/>
          <p:nvPr/>
        </p:nvSpPr>
        <p:spPr>
          <a:xfrm>
            <a:off x="7204581" y="1617092"/>
            <a:ext cx="1952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</a:rPr>
              <a:t>John Von Neumann</a:t>
            </a:r>
          </a:p>
          <a:p>
            <a:pPr algn="ctr"/>
            <a:r>
              <a:rPr lang="en-US" sz="1100" dirty="0">
                <a:solidFill>
                  <a:schemeClr val="accent3"/>
                </a:solidFill>
              </a:rPr>
              <a:t>(1903 – 1957)</a:t>
            </a:r>
          </a:p>
        </p:txBody>
      </p:sp>
      <p:pic>
        <p:nvPicPr>
          <p:cNvPr id="4" name="Picture 3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A2CF6E38-5DE0-6BA2-3EA3-A2D8394FE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087" y="2033704"/>
            <a:ext cx="3608925" cy="21194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230014-B7AF-4DC5-C1C4-8DB83426D03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245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F3417C96-DFD5-04C6-1059-73217F21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EA38F568-74EC-68E0-7693-008163C30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Execution Model of CPU;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81EF55F4-B59D-5991-5067-6C7243828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213223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CPU executes data in binary format. </a:t>
            </a: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F2ED836C-F6C4-328B-FEBB-3C4EB22E1E7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2383C568-5D97-B3FD-11B9-891B398A651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Architecture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414D4D6A-8E00-20C0-E130-DBD7119B756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9218" name="Picture 2" descr="Javanotes 9, Section 1.1 -- The Fetch and Execute Cycle: Machine Language">
            <a:extLst>
              <a:ext uri="{FF2B5EF4-FFF2-40B4-BE49-F238E27FC236}">
                <a16:creationId xmlns:a16="http://schemas.microsoft.com/office/drawing/2014/main" id="{64224FAD-4DBF-8BC3-6C2F-F4FABA642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660" y="1841596"/>
            <a:ext cx="3698732" cy="217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EFCF20-1A08-CE4E-D90C-FA55853D7828}"/>
              </a:ext>
            </a:extLst>
          </p:cNvPr>
          <p:cNvSpPr txBox="1"/>
          <p:nvPr/>
        </p:nvSpPr>
        <p:spPr>
          <a:xfrm>
            <a:off x="5420368" y="2435672"/>
            <a:ext cx="3422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CPU understands 0 and 1 as the low and high voltage!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D18B5-FF46-88BA-6EC5-DB41022317D2}"/>
              </a:ext>
            </a:extLst>
          </p:cNvPr>
          <p:cNvSpPr txBox="1"/>
          <p:nvPr/>
        </p:nvSpPr>
        <p:spPr>
          <a:xfrm>
            <a:off x="5420368" y="1841596"/>
            <a:ext cx="3938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CPU just understands 0 and 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73551-3C7E-F17A-FC6B-B1963BD2DE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6608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B7CAACDD-A7B0-32AF-DE8C-F2349F2D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4B42DA81-F5D7-3DE1-0D05-32E76616F7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Binary Representation of Data;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402B572D-FFF7-86FB-CB76-B391ABE06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213223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Data is stored and processed in binary format. </a:t>
            </a: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5707CD61-D711-CE80-9A63-6DF3FD44212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A0EEBF3-E02F-D0AE-232E-0999886DB9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binary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039208D4-44E0-9544-B5FF-D174669111E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1026" name="Picture 2" descr="1.2. Binary representation in memory — Snefru: Learning Programming with C">
            <a:extLst>
              <a:ext uri="{FF2B5EF4-FFF2-40B4-BE49-F238E27FC236}">
                <a16:creationId xmlns:a16="http://schemas.microsoft.com/office/drawing/2014/main" id="{749CF72F-8CC9-9659-F371-EAAF2EBDD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097" y="1843638"/>
            <a:ext cx="3599218" cy="221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CD0E01-33FF-6432-C17E-8753FD8AC16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900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4573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B787460C-D86A-BA9A-7644-B9E789300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4E9B8B5-92F7-A037-12D9-1A735682E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Binary Representation of Data;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1A884B78-F666-026D-4760-E636C753AC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3650" y="1957708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As a practice, try to work with </a:t>
            </a:r>
            <a:r>
              <a:rPr lang="en-US" sz="1400" dirty="0">
                <a:solidFill>
                  <a:schemeClr val="accent2"/>
                </a:solidFill>
              </a:rPr>
              <a:t>Programmer</a:t>
            </a:r>
            <a:r>
              <a:rPr lang="en-US" sz="1400" dirty="0">
                <a:solidFill>
                  <a:schemeClr val="accent3"/>
                </a:solidFill>
              </a:rPr>
              <a:t> mode of the calculator of your PC.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See </a:t>
            </a:r>
            <a:r>
              <a:rPr lang="en-US" sz="1400" dirty="0">
                <a:solidFill>
                  <a:schemeClr val="accent2"/>
                </a:solidFill>
              </a:rPr>
              <a:t>different formats of numbers</a:t>
            </a:r>
            <a:r>
              <a:rPr lang="en-US" sz="1400" dirty="0">
                <a:solidFill>
                  <a:schemeClr val="accent3"/>
                </a:solidFill>
              </a:rPr>
              <a:t>. 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A543E9B4-74C6-B511-A43B-FD98D55E773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E68D30F9-56F3-4157-C65E-17EC892D77F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binary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6F6E33C3-BC2F-1004-DD81-D4F3EEAE44C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4A558D-2D44-29E2-438C-A5AB6B4D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436" y="1257775"/>
            <a:ext cx="1904785" cy="31470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22BA50-D17C-3597-F4DE-7F34EB4C263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661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59B20D5-A2E7-88F8-E1A3-E3134364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137EC97D-F239-CE31-6946-0416D649A2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Binary Representation of Data;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6861E6DF-E2A3-E484-694A-9A2F04ABC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669" y="2230969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As a practice, try to get to know the </a:t>
            </a:r>
            <a:r>
              <a:rPr lang="en-US" sz="1400" dirty="0">
                <a:solidFill>
                  <a:srgbClr val="92D050"/>
                </a:solidFill>
              </a:rPr>
              <a:t>ASCII table</a:t>
            </a:r>
            <a:r>
              <a:rPr lang="en-US" sz="1400" dirty="0">
                <a:solidFill>
                  <a:schemeClr val="accent3"/>
                </a:solidFill>
              </a:rPr>
              <a:t>. </a:t>
            </a:r>
            <a:r>
              <a:rPr lang="en-US" sz="1400" dirty="0">
                <a:solidFill>
                  <a:srgbClr val="FF0000"/>
                </a:solidFill>
              </a:rPr>
              <a:t>(Search for it!)</a:t>
            </a: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The </a:t>
            </a:r>
            <a:r>
              <a:rPr lang="en-US" sz="1400" dirty="0">
                <a:solidFill>
                  <a:srgbClr val="92D050"/>
                </a:solidFill>
              </a:rPr>
              <a:t>ASCII table </a:t>
            </a:r>
            <a:r>
              <a:rPr lang="en-US" sz="1400" dirty="0">
                <a:solidFill>
                  <a:schemeClr val="accent3"/>
                </a:solidFill>
              </a:rPr>
              <a:t>maps characters (letters, digits, symbols, etc.) to numerical values (codes) that computers use to represent and process text data.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645D75F7-FD7A-728E-CC8B-C6242096787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212C8B5E-8CD2-41EA-9982-CF7F732B34A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binary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D915C071-1C7B-9756-1513-72DD2F06EDA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E326E3-B962-EB25-9686-C4A843F55B3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9697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877064C6-5A06-10E5-019C-8DB523170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F93F8039-394D-79A1-3757-4B96C2004F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0962" y="216993"/>
            <a:ext cx="3591711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Operating System and Softwares</a:t>
            </a:r>
            <a:endParaRPr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229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CCD5F875-1BCB-4D1B-719D-0096376A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8CE502E-AE23-EFD2-51CA-F29DE91F55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Operating System(OS);</a:t>
            </a:r>
            <a:br>
              <a:rPr lang="en" dirty="0">
                <a:solidFill>
                  <a:schemeClr val="accent2"/>
                </a:solidFill>
              </a:rPr>
            </a:br>
            <a:br>
              <a:rPr lang="en" dirty="0">
                <a:solidFill>
                  <a:schemeClr val="accent2"/>
                </a:solidFill>
              </a:rPr>
            </a:b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84E32603-5B2B-20CE-A34E-0D31305B4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E88B492-E397-95B5-68C1-3DBFF7A978A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3C8DF2DB-D3AA-B778-918F-AC2019AB5C4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Memory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31CE17E4-E20F-4DB5-557A-01FA209BCCA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C84AE-AE73-8072-B76B-D3B72399C7D2}"/>
              </a:ext>
            </a:extLst>
          </p:cNvPr>
          <p:cNvSpPr txBox="1"/>
          <p:nvPr/>
        </p:nvSpPr>
        <p:spPr>
          <a:xfrm>
            <a:off x="1397577" y="1314043"/>
            <a:ext cx="50170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OS is a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software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that manages computer hardware and software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OS as an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interface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between applications and hardware.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Picture 8" descr="A screen shot of a diagram&#10;&#10;AI-generated content may be incorrect.">
            <a:extLst>
              <a:ext uri="{FF2B5EF4-FFF2-40B4-BE49-F238E27FC236}">
                <a16:creationId xmlns:a16="http://schemas.microsoft.com/office/drawing/2014/main" id="{78DF4CF4-EEEC-7C37-3999-5D1BDB94F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315" y="1351611"/>
            <a:ext cx="2288631" cy="29425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B9EA4C-B94E-9E78-46CE-504AF96B96B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0639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B6F39C5-EB11-F6B2-59E7-6BD53129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4E79044A-365F-5C93-C79C-BAB14372FB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types of OS;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F4C0EDD7-3BC8-7665-E925-9F4A64128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59A57D72-2043-69BC-1782-72FE7B8DB5F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0F53ED25-BDE2-D57D-B54C-B17036DB8BB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OS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6DF9C22-6324-DED0-09DE-3FEC66563A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D454A-4F09-B214-E1B1-BDCC161C5D69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194" name="Picture 2" descr="List of Operating System: Top Operating System List for 2024">
            <a:extLst>
              <a:ext uri="{FF2B5EF4-FFF2-40B4-BE49-F238E27FC236}">
                <a16:creationId xmlns:a16="http://schemas.microsoft.com/office/drawing/2014/main" id="{E16EDCDB-6FE3-BF47-0DA0-D50EA8361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240" y="1835224"/>
            <a:ext cx="3312465" cy="218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26F825CE-8C12-B6AF-AEE4-B9B94BD3D722}"/>
              </a:ext>
            </a:extLst>
          </p:cNvPr>
          <p:cNvSpPr txBox="1">
            <a:spLocks/>
          </p:cNvSpPr>
          <p:nvPr/>
        </p:nvSpPr>
        <p:spPr>
          <a:xfrm>
            <a:off x="1350818" y="1969359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Open Source (Linux)</a:t>
            </a:r>
          </a:p>
          <a:p>
            <a:pPr marL="628650" lvl="1" indent="-171450">
              <a:lnSpc>
                <a:spcPct val="150000"/>
              </a:lnSpc>
            </a:pPr>
            <a:r>
              <a:rPr lang="en-US" sz="1200" dirty="0">
                <a:solidFill>
                  <a:schemeClr val="accent2"/>
                </a:solidFill>
              </a:rPr>
              <a:t>Free to use.</a:t>
            </a:r>
          </a:p>
          <a:p>
            <a:pPr marL="628650" lvl="1" indent="-171450">
              <a:lnSpc>
                <a:spcPct val="150000"/>
              </a:lnSpc>
            </a:pPr>
            <a:r>
              <a:rPr lang="en-US" sz="1200" dirty="0">
                <a:solidFill>
                  <a:schemeClr val="accent2"/>
                </a:solidFill>
              </a:rPr>
              <a:t>You can participate in developing it!</a:t>
            </a:r>
          </a:p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Commercial (Windows, Mac)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857E46-5693-7124-9A81-FC47C506E8C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2767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BEED114-CD1D-1C6E-ECE5-5DF8ACEC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65978359-6ABD-CD67-A5E6-C50815962B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</a:rPr>
              <a:t>How to communicate with Computers;</a:t>
            </a:r>
            <a:br>
              <a:rPr lang="en" sz="2400" dirty="0">
                <a:solidFill>
                  <a:schemeClr val="accent2"/>
                </a:solidFill>
              </a:rPr>
            </a:b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34E3526F-726D-FC60-AFDC-71727975F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186799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0" indent="0">
              <a:lnSpc>
                <a:spcPct val="30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C70FDE9D-7862-8948-F4CF-AE1CD53F6DB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924EED08-48FF-65D9-9285-7979ED5A0E3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</a:t>
            </a:r>
            <a:r>
              <a:rPr lang="en" sz="1400" dirty="0">
                <a:solidFill>
                  <a:schemeClr val="accent3"/>
                </a:solidFill>
              </a:rPr>
              <a:t>rogramming.c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6386ECCA-6669-6EFF-589A-9C9819E6F7D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51704-DA78-EEA7-7AD0-D63EA02481A7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3573F29C-29BC-3B03-926E-F645C1DA8A9A}"/>
              </a:ext>
            </a:extLst>
          </p:cNvPr>
          <p:cNvSpPr txBox="1">
            <a:spLocks/>
          </p:cNvSpPr>
          <p:nvPr/>
        </p:nvSpPr>
        <p:spPr>
          <a:xfrm>
            <a:off x="1295401" y="1707749"/>
            <a:ext cx="5146964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We need to know their language(?): </a:t>
            </a:r>
          </a:p>
          <a:p>
            <a:pPr marL="628650" lvl="1" indent="-171450">
              <a:lnSpc>
                <a:spcPct val="150000"/>
              </a:lnSpc>
            </a:pPr>
            <a:r>
              <a:rPr lang="en-US" sz="1200" dirty="0">
                <a:solidFill>
                  <a:schemeClr val="accent2"/>
                </a:solidFill>
              </a:rPr>
              <a:t>Language of 0’s and 1’s. </a:t>
            </a:r>
            <a:endParaRPr lang="en-US" sz="1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</a:rPr>
              <a:t>Early programmers had to know how to code in 0’s and 1’s.</a:t>
            </a:r>
            <a:r>
              <a:rPr lang="en-US" sz="1400" dirty="0">
                <a:solidFill>
                  <a:schemeClr val="accent2"/>
                </a:solidFill>
              </a:rPr>
              <a:t>(such a difficult job!)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571386-182E-9668-6030-A30DB2C66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293" y="2793601"/>
            <a:ext cx="2948970" cy="1432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59ED60-E604-3C28-46B3-D289DACC2132}"/>
              </a:ext>
            </a:extLst>
          </p:cNvPr>
          <p:cNvSpPr txBox="1"/>
          <p:nvPr/>
        </p:nvSpPr>
        <p:spPr>
          <a:xfrm>
            <a:off x="6597599" y="4225758"/>
            <a:ext cx="45823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i="0" dirty="0">
                <a:solidFill>
                  <a:schemeClr val="accent6"/>
                </a:solidFill>
                <a:effectLst/>
                <a:latin typeface="calibri" panose="020F0502020204030204" pitchFamily="34" charset="0"/>
              </a:rPr>
              <a:t>Programming the ENIAC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0F5D3D-2E3E-CDD5-BB02-D62EB773D4B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2322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315697B-1E77-55A8-07E7-5B3FF09B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878710D-FDC2-A664-0761-89978104AF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Programming Languages;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B739EA95-FEAB-901D-03E0-B0FEC1AFE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175AD80-59CE-2A0C-7A5C-2C2189FE622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E0FD3241-3172-1CDE-4AFE-3EE3627E498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Programming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6CD770AA-C8A5-64B4-6B10-E258648A365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39385-ECF9-41D5-AACB-E530E5F5398D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B42363C8-82FC-3887-4124-EB1E3609142C}"/>
              </a:ext>
            </a:extLst>
          </p:cNvPr>
          <p:cNvSpPr txBox="1">
            <a:spLocks/>
          </p:cNvSpPr>
          <p:nvPr/>
        </p:nvSpPr>
        <p:spPr>
          <a:xfrm>
            <a:off x="1143250" y="2390136"/>
            <a:ext cx="4191001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/>
            <a:r>
              <a:rPr lang="en-US" sz="1400" dirty="0">
                <a:solidFill>
                  <a:schemeClr val="accent3"/>
                </a:solidFill>
                <a:sym typeface="Arial"/>
              </a:rPr>
              <a:t>Set of instructions and rules used to communicate with computers.</a:t>
            </a:r>
          </a:p>
          <a:p>
            <a:pPr marL="0" indent="0">
              <a:buNone/>
            </a:pPr>
            <a:endParaRPr lang="en-US" sz="1400" dirty="0">
              <a:solidFill>
                <a:schemeClr val="accent3"/>
              </a:solidFill>
              <a:sym typeface="Arial"/>
            </a:endParaRPr>
          </a:p>
          <a:p>
            <a:pPr marL="0" indent="0">
              <a:buNone/>
            </a:pPr>
            <a:endParaRPr lang="en-US" sz="1400" dirty="0">
              <a:solidFill>
                <a:schemeClr val="accent3"/>
              </a:solidFill>
              <a:sym typeface="Arial"/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  <a:sym typeface="Arial"/>
              </a:rPr>
              <a:t>No need to code in 0’s and 1’s. </a:t>
            </a:r>
            <a:r>
              <a:rPr lang="en-US" sz="1400" dirty="0">
                <a:solidFill>
                  <a:schemeClr val="bg1"/>
                </a:solidFill>
                <a:sym typeface="Arial"/>
              </a:rPr>
              <a:t>(How?) </a:t>
            </a:r>
          </a:p>
          <a:p>
            <a:pPr marL="171450" indent="-171450"/>
            <a:endParaRPr lang="en-US" sz="1400" dirty="0">
              <a:solidFill>
                <a:schemeClr val="accent3"/>
              </a:solidFill>
              <a:sym typeface="Arial"/>
            </a:endParaRPr>
          </a:p>
          <a:p>
            <a:pPr marL="171450" indent="-171450"/>
            <a:endParaRPr lang="en-US" sz="1400" dirty="0">
              <a:solidFill>
                <a:schemeClr val="accent3"/>
              </a:solidFill>
              <a:sym typeface="Arial"/>
            </a:endParaRPr>
          </a:p>
          <a:p>
            <a:pPr marL="171450" indent="-171450"/>
            <a:endParaRPr lang="en-US" sz="1400" dirty="0">
              <a:solidFill>
                <a:schemeClr val="accent3"/>
              </a:solidFill>
              <a:sym typeface="Arial"/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195E7F-6AAB-5D30-D3E9-63A53E4FC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344" y="2067580"/>
            <a:ext cx="3439359" cy="2131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393920-E88D-554A-BEAD-B516724B207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73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BC12D6A-ED11-1F54-75EC-BA940A29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17E8129B-83B2-2144-36A5-6B4452031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What is Compiler?</a:t>
            </a:r>
            <a:br>
              <a:rPr lang="en" dirty="0">
                <a:solidFill>
                  <a:schemeClr val="accent2"/>
                </a:solidFill>
              </a:rPr>
            </a:br>
            <a:br>
              <a:rPr lang="en" dirty="0">
                <a:solidFill>
                  <a:schemeClr val="accent2"/>
                </a:solidFill>
              </a:rPr>
            </a:b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A52A0608-C2F0-A8BC-E86E-07902E944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B7719849-1C4D-043C-CACF-D009F7BFDB1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DF606216-B36B-4EDC-E474-D34A14727E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compiler.c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31CFD7E0-3DA2-2DBC-DF9D-7C017E3E35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4F4D3-4F41-035D-7173-B521B42196E5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C2D86180-17F6-25AC-FD0B-EA1E3C43FA62}"/>
              </a:ext>
            </a:extLst>
          </p:cNvPr>
          <p:cNvSpPr txBox="1">
            <a:spLocks/>
          </p:cNvSpPr>
          <p:nvPr/>
        </p:nvSpPr>
        <p:spPr>
          <a:xfrm>
            <a:off x="1143250" y="1504186"/>
            <a:ext cx="6442364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 compiler is a program that </a:t>
            </a:r>
            <a:r>
              <a:rPr lang="en-US" sz="1400" dirty="0">
                <a:solidFill>
                  <a:schemeClr val="accent2"/>
                </a:solidFill>
              </a:rPr>
              <a:t>translates</a:t>
            </a:r>
            <a:r>
              <a:rPr lang="en-US" sz="1400" dirty="0">
                <a:solidFill>
                  <a:schemeClr val="accent3"/>
                </a:solidFill>
              </a:rPr>
              <a:t> code written by humans in a </a:t>
            </a:r>
            <a:r>
              <a:rPr lang="en-US" sz="1400" dirty="0">
                <a:solidFill>
                  <a:srgbClr val="92D050"/>
                </a:solidFill>
              </a:rPr>
              <a:t>programming language </a:t>
            </a:r>
            <a:r>
              <a:rPr lang="en-US" sz="1400" dirty="0">
                <a:solidFill>
                  <a:schemeClr val="accent3"/>
                </a:solidFill>
              </a:rPr>
              <a:t>into </a:t>
            </a:r>
            <a:r>
              <a:rPr lang="en-US" sz="1400" dirty="0">
                <a:solidFill>
                  <a:srgbClr val="92D050"/>
                </a:solidFill>
              </a:rPr>
              <a:t>machine code. 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2050" name="Picture 2" descr="What is a compiler and its need? - Codeforwin">
            <a:extLst>
              <a:ext uri="{FF2B5EF4-FFF2-40B4-BE49-F238E27FC236}">
                <a16:creationId xmlns:a16="http://schemas.microsoft.com/office/drawing/2014/main" id="{68214E32-88B3-FE68-C180-2C33BC8FD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020" y="2413990"/>
            <a:ext cx="3470516" cy="150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D8FA0F-077C-C3FD-FC5C-B4D9575FA78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5568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D4ED68B-7A6C-A431-76BB-C270119CB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2690E16-7B91-6F57-76AD-89CC0BB25C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What we need to Code?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9868A262-8BC9-C868-2E58-8A3FFD3BE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25718FE7-773F-A297-FFE4-141B9DE1679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8600DC6-FECA-0E63-B755-D06FCDC08BB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coding.c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C45012C-B3D0-5000-6B37-BB5878D412A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732A9-69EF-1B76-7294-FC9528586C50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D7FD585F-99AE-3586-2DB8-5EBB5C220BB2}"/>
              </a:ext>
            </a:extLst>
          </p:cNvPr>
          <p:cNvSpPr txBox="1">
            <a:spLocks/>
          </p:cNvSpPr>
          <p:nvPr/>
        </p:nvSpPr>
        <p:spPr>
          <a:xfrm>
            <a:off x="1396797" y="2230969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An </a:t>
            </a:r>
            <a:r>
              <a:rPr lang="en-US" sz="1400" dirty="0">
                <a:solidFill>
                  <a:srgbClr val="92D050"/>
                </a:solidFill>
              </a:rPr>
              <a:t>editor</a:t>
            </a:r>
            <a:r>
              <a:rPr lang="en-US" sz="1400" dirty="0">
                <a:solidFill>
                  <a:schemeClr val="accent3"/>
                </a:solidFill>
              </a:rPr>
              <a:t> to </a:t>
            </a:r>
            <a:r>
              <a:rPr lang="en-US" sz="1400" dirty="0">
                <a:solidFill>
                  <a:schemeClr val="accent6"/>
                </a:solidFill>
              </a:rPr>
              <a:t>as a</a:t>
            </a:r>
            <a:r>
              <a:rPr lang="en-US" sz="1400" dirty="0">
                <a:solidFill>
                  <a:srgbClr val="92D050"/>
                </a:solidFill>
              </a:rPr>
              <a:t> tool for writing instructions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 </a:t>
            </a:r>
            <a:r>
              <a:rPr lang="en-US" sz="1400" dirty="0">
                <a:solidFill>
                  <a:srgbClr val="92D050"/>
                </a:solidFill>
              </a:rPr>
              <a:t>programming language </a:t>
            </a:r>
            <a:r>
              <a:rPr lang="en-US" sz="1400" dirty="0">
                <a:solidFill>
                  <a:schemeClr val="accent3"/>
                </a:solidFill>
              </a:rPr>
              <a:t>for </a:t>
            </a:r>
            <a:r>
              <a:rPr lang="en-US" sz="1400" dirty="0">
                <a:solidFill>
                  <a:srgbClr val="92D050"/>
                </a:solidFill>
              </a:rPr>
              <a:t>talking to computers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  </a:t>
            </a:r>
          </a:p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A </a:t>
            </a:r>
            <a:r>
              <a:rPr lang="en-US" sz="1400" dirty="0">
                <a:solidFill>
                  <a:srgbClr val="92D050"/>
                </a:solidFill>
              </a:rPr>
              <a:t>compiler</a:t>
            </a:r>
            <a:r>
              <a:rPr lang="en-US" sz="1400" dirty="0">
                <a:solidFill>
                  <a:schemeClr val="accent3"/>
                </a:solidFill>
              </a:rPr>
              <a:t> for </a:t>
            </a:r>
            <a:r>
              <a:rPr lang="en-US" sz="1400" dirty="0">
                <a:solidFill>
                  <a:srgbClr val="92D050"/>
                </a:solidFill>
              </a:rPr>
              <a:t>translation</a:t>
            </a:r>
            <a:r>
              <a:rPr lang="en-US" sz="1400" dirty="0">
                <a:solidFill>
                  <a:schemeClr val="accent3"/>
                </a:solidFill>
              </a:rPr>
              <a:t>. 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7B2E46-2A57-D820-0071-C61E09FDACA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0867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803258AD-C16C-64A0-5F57-54755127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2FEF998D-AE6F-12FC-BD8B-0B6CAB07A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What we need to Code?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3D85BD6B-ABC9-9F51-0857-E49F4CE249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D4FADD95-FA0F-A431-EF46-7CDD0339C92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B9FD4248-0F9C-C696-B5AD-8B01F3866D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coding.c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614F4E3-6F34-A54F-0C54-3C15D7CF304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F1B5F-8BC4-4CB1-CF3F-00F20D85BB56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2B366298-EC35-4BBB-07B0-5372C49F5F1C}"/>
              </a:ext>
            </a:extLst>
          </p:cNvPr>
          <p:cNvSpPr txBox="1">
            <a:spLocks/>
          </p:cNvSpPr>
          <p:nvPr/>
        </p:nvSpPr>
        <p:spPr>
          <a:xfrm>
            <a:off x="1396797" y="2230969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An </a:t>
            </a:r>
            <a:r>
              <a:rPr lang="en-US" sz="1400" dirty="0">
                <a:solidFill>
                  <a:srgbClr val="92D050"/>
                </a:solidFill>
              </a:rPr>
              <a:t>editor</a:t>
            </a:r>
            <a:r>
              <a:rPr lang="en-US" sz="1400" dirty="0">
                <a:solidFill>
                  <a:schemeClr val="accent3"/>
                </a:solidFill>
              </a:rPr>
              <a:t> to </a:t>
            </a:r>
            <a:r>
              <a:rPr lang="en-US" sz="1400" dirty="0">
                <a:solidFill>
                  <a:srgbClr val="92D050"/>
                </a:solidFill>
              </a:rPr>
              <a:t>code in it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 </a:t>
            </a:r>
            <a:r>
              <a:rPr lang="en-US" sz="1400" dirty="0">
                <a:solidFill>
                  <a:srgbClr val="92D050"/>
                </a:solidFill>
              </a:rPr>
              <a:t>programming language </a:t>
            </a:r>
            <a:r>
              <a:rPr lang="en-US" sz="1400" dirty="0">
                <a:solidFill>
                  <a:schemeClr val="accent3"/>
                </a:solidFill>
              </a:rPr>
              <a:t>for </a:t>
            </a:r>
            <a:r>
              <a:rPr lang="en-US" sz="1400" dirty="0">
                <a:solidFill>
                  <a:srgbClr val="92D050"/>
                </a:solidFill>
              </a:rPr>
              <a:t>talking to computers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  </a:t>
            </a:r>
          </a:p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A </a:t>
            </a:r>
            <a:r>
              <a:rPr lang="en-US" sz="1400" dirty="0">
                <a:solidFill>
                  <a:srgbClr val="92D050"/>
                </a:solidFill>
              </a:rPr>
              <a:t>compiler</a:t>
            </a:r>
            <a:r>
              <a:rPr lang="en-US" sz="1400" dirty="0">
                <a:solidFill>
                  <a:schemeClr val="accent3"/>
                </a:solidFill>
              </a:rPr>
              <a:t> for </a:t>
            </a:r>
            <a:r>
              <a:rPr lang="en-US" sz="1400" dirty="0">
                <a:solidFill>
                  <a:srgbClr val="92D050"/>
                </a:solidFill>
              </a:rPr>
              <a:t>translation</a:t>
            </a:r>
            <a:r>
              <a:rPr lang="en-US" sz="1400" dirty="0">
                <a:solidFill>
                  <a:schemeClr val="accent3"/>
                </a:solidFill>
              </a:rPr>
              <a:t>. 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C2B03D-696D-63B2-B2BE-D2F2185A938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2899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03C0C0F8-735B-89BF-6066-4FBAE10E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7351A09F-C532-3533-14DF-738B2A1705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0962" y="216993"/>
            <a:ext cx="3591711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C programming Language</a:t>
            </a:r>
            <a:endParaRPr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653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A210AF9-1E5D-77E7-F7F9-7BCB873BB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018BFF31-23B2-8F22-B7E7-B55968981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 programming Language;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5532811E-98EC-B860-6241-037D1D71E3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7309A61-7C43-AA88-FF07-B1DD15DCC0C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C3FC423-508A-A85E-4EF9-2114D76733C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147A128-3D2F-F4FF-01C7-496AC38D77D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D9712-5FB6-A080-93B4-C02FB88C6621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A54E935B-998E-5E7E-C5EC-EE2C7FB03F75}"/>
              </a:ext>
            </a:extLst>
          </p:cNvPr>
          <p:cNvSpPr txBox="1">
            <a:spLocks/>
          </p:cNvSpPr>
          <p:nvPr/>
        </p:nvSpPr>
        <p:spPr>
          <a:xfrm>
            <a:off x="1216129" y="2033704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2"/>
                </a:solidFill>
              </a:rPr>
              <a:t>C</a:t>
            </a:r>
            <a:r>
              <a:rPr lang="en-US" sz="1400" dirty="0">
                <a:solidFill>
                  <a:schemeClr val="accent3"/>
                </a:solidFill>
              </a:rPr>
              <a:t> is a general-purpose programming language.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 It was created in the 1970s by Dennis Ritchie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and Ken Thompson.(</a:t>
            </a:r>
            <a:r>
              <a:rPr lang="en-US" sz="1400" dirty="0">
                <a:solidFill>
                  <a:schemeClr val="accent2"/>
                </a:solidFill>
              </a:rPr>
              <a:t>winners of Turing Award!)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</a:rPr>
              <a:t>Most of other languages are </a:t>
            </a:r>
            <a:r>
              <a:rPr lang="en-US" sz="1400" dirty="0">
                <a:solidFill>
                  <a:schemeClr val="accent2"/>
                </a:solidFill>
              </a:rPr>
              <a:t>inspired</a:t>
            </a:r>
            <a:r>
              <a:rPr lang="en-US" sz="1400" dirty="0">
                <a:solidFill>
                  <a:schemeClr val="accent3"/>
                </a:solidFill>
              </a:rPr>
              <a:t> by C such as Java and C++.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34742A5-EA3C-9620-2F61-E09A08B5D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582" y="521104"/>
            <a:ext cx="897795" cy="115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8C6F2B-D035-E667-5DC9-558E3303D919}"/>
              </a:ext>
            </a:extLst>
          </p:cNvPr>
          <p:cNvSpPr txBox="1"/>
          <p:nvPr/>
        </p:nvSpPr>
        <p:spPr>
          <a:xfrm>
            <a:off x="7689273" y="1735469"/>
            <a:ext cx="1512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3"/>
                </a:solidFill>
              </a:rPr>
              <a:t>Dennis Ritchie</a:t>
            </a:r>
          </a:p>
          <a:p>
            <a:pPr algn="ctr"/>
            <a:r>
              <a:rPr lang="en-US" sz="900" dirty="0">
                <a:solidFill>
                  <a:schemeClr val="accent3"/>
                </a:solidFill>
              </a:rPr>
              <a:t>(1941 – 2011)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01E8F013-7767-394D-8F38-F05EBCBE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650" y="2329190"/>
            <a:ext cx="950400" cy="142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1F9449-8C8E-7D4A-8A8C-375E5ECAB097}"/>
              </a:ext>
            </a:extLst>
          </p:cNvPr>
          <p:cNvSpPr txBox="1"/>
          <p:nvPr/>
        </p:nvSpPr>
        <p:spPr>
          <a:xfrm>
            <a:off x="6141910" y="3790490"/>
            <a:ext cx="4583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accent3"/>
                </a:solidFill>
              </a:rPr>
              <a:t> Ken Thompson</a:t>
            </a:r>
          </a:p>
          <a:p>
            <a:pPr algn="ctr"/>
            <a:r>
              <a:rPr lang="en-US" sz="900" dirty="0">
                <a:solidFill>
                  <a:schemeClr val="accent3"/>
                </a:solidFill>
              </a:rPr>
              <a:t>(1943)</a:t>
            </a:r>
          </a:p>
        </p:txBody>
      </p:sp>
      <p:pic>
        <p:nvPicPr>
          <p:cNvPr id="5128" name="Picture 8" descr="C Programming language">
            <a:extLst>
              <a:ext uri="{FF2B5EF4-FFF2-40B4-BE49-F238E27FC236}">
                <a16:creationId xmlns:a16="http://schemas.microsoft.com/office/drawing/2014/main" id="{67CB67E0-F5D6-36BB-CFC6-53991A74E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947" y="1609240"/>
            <a:ext cx="1103326" cy="110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D9BC77-BD86-8E13-45D7-62B0F5FC6E07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8480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8B308092-8222-1313-D6CC-4CA84D67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CEB6721-FB18-86E1-2D14-98F2169489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What is IDE?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363EE12C-15E1-E269-271E-20DEE5FD7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69F9344A-86E0-BB1B-3A51-E3A79853C6F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D676F10F-9FB3-FB2E-A048-93F142927EB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IDE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3F0B4CAF-DC0C-4597-BB9D-575F2A2F265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CDEFB-B716-468A-2B9F-D91D9BBB9A15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CAE2ABBD-70DB-D24F-7618-0F6A8D4781FD}"/>
              </a:ext>
            </a:extLst>
          </p:cNvPr>
          <p:cNvSpPr txBox="1">
            <a:spLocks/>
          </p:cNvSpPr>
          <p:nvPr/>
        </p:nvSpPr>
        <p:spPr>
          <a:xfrm>
            <a:off x="1198418" y="1673873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An </a:t>
            </a:r>
            <a:r>
              <a:rPr lang="en-US" sz="1400" dirty="0">
                <a:solidFill>
                  <a:srgbClr val="92D050"/>
                </a:solidFill>
              </a:rPr>
              <a:t>IDE (Integrated Development Environment) </a:t>
            </a:r>
            <a:r>
              <a:rPr lang="en-US" sz="1400" dirty="0">
                <a:solidFill>
                  <a:schemeClr val="accent3"/>
                </a:solidFill>
              </a:rPr>
              <a:t>is a software application that provides </a:t>
            </a:r>
            <a:r>
              <a:rPr lang="en-US" sz="1400" dirty="0">
                <a:solidFill>
                  <a:srgbClr val="92D050"/>
                </a:solidFill>
              </a:rPr>
              <a:t>all the tools </a:t>
            </a:r>
            <a:r>
              <a:rPr lang="en-US" sz="1400" dirty="0">
                <a:solidFill>
                  <a:schemeClr val="accent3"/>
                </a:solidFill>
              </a:rPr>
              <a:t>you need to write, test, and debug code in one place — like a text editor, compiler.</a:t>
            </a: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F7FCE6-44C2-FB2E-D11F-EA2E1BBF7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818" y="2344252"/>
            <a:ext cx="3983182" cy="22405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556F92-F2FA-C6D2-71ED-F88F1491D28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2677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6908D510-641E-5350-5183-4254C8BC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CEB4E72-CE8F-4668-4408-356DC6048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Get started with </a:t>
            </a:r>
            <a:r>
              <a:rPr lang="en-US" dirty="0" err="1">
                <a:solidFill>
                  <a:schemeClr val="accent2"/>
                </a:solidFill>
              </a:rPr>
              <a:t>Vscode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5264DF68-62B1-F23E-6247-5C0410635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2BC22D21-4C49-8A48-5FCF-1521F242BB7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3673E0A2-5C79-7FD6-AF08-3FF43E4969B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FB0E405-F35F-7742-61CA-9B40E3A4FAE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F8408-842B-F348-4214-87ED9B1E73C8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700E7372-D7D0-7A5E-6537-1B79A69D87D7}"/>
              </a:ext>
            </a:extLst>
          </p:cNvPr>
          <p:cNvSpPr txBox="1">
            <a:spLocks/>
          </p:cNvSpPr>
          <p:nvPr/>
        </p:nvSpPr>
        <p:spPr>
          <a:xfrm>
            <a:off x="1206298" y="808985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AS a practice try to install </a:t>
            </a:r>
            <a:r>
              <a:rPr lang="en-US" sz="1400" dirty="0">
                <a:solidFill>
                  <a:srgbClr val="92D050"/>
                </a:solidFill>
              </a:rPr>
              <a:t>Visual Studio Code </a:t>
            </a:r>
            <a:r>
              <a:rPr lang="en-US" sz="1400" dirty="0">
                <a:solidFill>
                  <a:schemeClr val="accent3"/>
                </a:solidFill>
              </a:rPr>
              <a:t>IDE.</a:t>
            </a:r>
            <a:r>
              <a:rPr lang="en-US" sz="1400" dirty="0">
                <a:solidFill>
                  <a:srgbClr val="92D050"/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9B37E-05BA-CEB1-0350-DFCD53407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545" y="1619714"/>
            <a:ext cx="4341587" cy="2724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611765-2F0E-D60B-B594-1F8CB3807A2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9733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8FBB47E9-34C5-1749-6CD8-FDC7532DB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A312E82C-137A-80A7-2842-305A4BA7BA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Visual Studio Code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4F8FF766-7E97-2B9B-AB8F-CE885F28D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8947F09-DF1E-8B9D-E03A-8DFC941728E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FB906E1D-919F-B95D-524B-BD2B9255DDF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675BD2A-9613-3711-64C5-C76AB19BC4D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8A9E0-72A1-C572-FFF8-1D447A5FF189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24F5A2FB-2820-33CF-B4E8-6B0F31F547DF}"/>
              </a:ext>
            </a:extLst>
          </p:cNvPr>
          <p:cNvSpPr txBox="1">
            <a:spLocks/>
          </p:cNvSpPr>
          <p:nvPr/>
        </p:nvSpPr>
        <p:spPr>
          <a:xfrm>
            <a:off x="1198418" y="1673873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A2B917-7A32-5347-52C0-579F8CAE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076" y="984723"/>
            <a:ext cx="5309897" cy="3318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D6A8EC-2F49-6056-A73C-BF755117FB3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2810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8EF3DA2-3C35-0759-324A-E677BEC8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3163C15B-875C-D984-6A64-D341F34C8F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Visual Studio Code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32C985CD-5A88-05A3-A956-ABBC9270F3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705CDAB0-8EDA-54D9-E0F2-CD47C99390A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7DCD97FF-1825-6805-0AA0-B41C2DDFDEA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4A74AC1-E810-222D-686C-0B5846F5687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BAA46-4C31-5E0F-6EA2-9356B07D8AC2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78F08A91-D363-4938-C760-CCB67E3403E2}"/>
              </a:ext>
            </a:extLst>
          </p:cNvPr>
          <p:cNvSpPr txBox="1">
            <a:spLocks/>
          </p:cNvSpPr>
          <p:nvPr/>
        </p:nvSpPr>
        <p:spPr>
          <a:xfrm>
            <a:off x="1198418" y="1673873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7C1B-8B70-A992-9A6D-2DB2C9988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846" y="1905536"/>
            <a:ext cx="3719856" cy="2324910"/>
          </a:xfrm>
          <a:prstGeom prst="rect">
            <a:avLst/>
          </a:prstGeom>
        </p:spPr>
      </p:pic>
      <p:pic>
        <p:nvPicPr>
          <p:cNvPr id="3074" name="Picture 2" descr="Screenshot that shows the Workspace Trust dialog.">
            <a:extLst>
              <a:ext uri="{FF2B5EF4-FFF2-40B4-BE49-F238E27FC236}">
                <a16:creationId xmlns:a16="http://schemas.microsoft.com/office/drawing/2014/main" id="{B74EDA17-91B7-CCA9-36E5-A5DFBAF2E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415" y="1070374"/>
            <a:ext cx="5361220" cy="335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370F1-B1AA-8AD3-5B19-04F17BFDDBE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1697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24A0BC81-1EA1-3CB1-A34F-23915C59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BA67DCB0-9FDC-BF7A-8D2A-C58FABB38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Visual Studio Code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6D3D7C78-705B-ED68-7EF5-4AE1A4C05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F776EAB1-8B37-E8B1-38F7-6D6744F8060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88586B5B-883E-42EB-97C1-39F80A777F7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1B946714-2644-4CF7-BB41-ADFDC106B6A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4314B-A111-9BBF-0BBB-72DA030D550A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D4FC11FF-EE40-7316-A0CF-4C05A7BE89D8}"/>
              </a:ext>
            </a:extLst>
          </p:cNvPr>
          <p:cNvSpPr txBox="1">
            <a:spLocks/>
          </p:cNvSpPr>
          <p:nvPr/>
        </p:nvSpPr>
        <p:spPr>
          <a:xfrm>
            <a:off x="1198418" y="1673873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942EBD-2D31-6A39-36FA-AA71A72F2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22" y="1513880"/>
            <a:ext cx="6338456" cy="1869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0D9D3F-8C44-FD6D-1AA8-9E362A80F42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1580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7690C91-88BD-2F67-FB54-63AFD1FD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F284F90-B998-8E20-170B-2DD560D118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Installing the MinGW-w64 toolchain</a:t>
            </a:r>
            <a:br>
              <a:rPr lang="en-US" b="1" dirty="0"/>
            </a:br>
            <a:br>
              <a:rPr lang="en-US" sz="2000" dirty="0"/>
            </a:b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C21B953E-7738-B627-9CAC-3E242CC60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7398382" cy="249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DEB5D0CA-659A-CE38-8D74-400CCAB43BC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803D06E7-BECF-0170-5E02-411D8F636A4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15A3101A-58F7-34D3-CD63-73CD7110D5B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DD946-C9CE-AA86-9BEA-C80157F157E7}"/>
              </a:ext>
            </a:extLst>
          </p:cNvPr>
          <p:cNvSpPr txBox="1"/>
          <p:nvPr/>
        </p:nvSpPr>
        <p:spPr>
          <a:xfrm>
            <a:off x="1073106" y="1123900"/>
            <a:ext cx="791249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1. Get the latest version of </a:t>
            </a:r>
            <a:r>
              <a:rPr lang="en-US" sz="1600" b="1" dirty="0">
                <a:solidFill>
                  <a:srgbClr val="FF0000"/>
                </a:solid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MinGW-w64</a:t>
            </a:r>
            <a:endParaRPr lang="en-US" sz="1600" b="1" dirty="0">
              <a:solidFill>
                <a:srgbClr val="FF000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en-US" sz="16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2. </a:t>
            </a:r>
            <a:r>
              <a:rPr lang="en-US" sz="1600" dirty="0">
                <a:solidFill>
                  <a:schemeClr val="dk2"/>
                </a:solidFill>
                <a:latin typeface="Fira Code"/>
                <a:ea typeface="Fira Code"/>
                <a:cs typeface="Fira Code"/>
              </a:rPr>
              <a:t>Please follow the steps below as demonstrated in this </a:t>
            </a:r>
            <a:r>
              <a:rPr lang="en-US" sz="1600" b="1" dirty="0">
                <a:solidFill>
                  <a:schemeClr val="dk2"/>
                </a:solidFill>
                <a:latin typeface="Fira Code"/>
                <a:ea typeface="Fira Code"/>
                <a:cs typeface="Fira Code"/>
                <a:hlinkClick r:id="rId5"/>
              </a:rPr>
              <a:t>video</a:t>
            </a:r>
            <a:endParaRPr lang="en-US" sz="1600" b="1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DF47A2-27E1-C98D-9E2D-BB6A27EEDB77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5B0E27-7182-D50E-547B-0405E9B03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1225" y="1798975"/>
            <a:ext cx="4809600" cy="269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81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1E394C0-4230-5C62-B692-F15FCD76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F9BC1A3A-87C7-5BFF-7D02-711A240878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Homework</a:t>
            </a:r>
            <a:endParaRPr sz="2000" b="1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10F64A79-DCFA-65BF-D7A6-7F12318D7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4D49DAA8-8AF6-AC38-74B9-2F1DD78531F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75489" y="473277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FCE505A-F9E2-DA26-BD92-DBE8DB1C184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5AC7C268-B815-6676-8E1E-A0C55B7683F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C922B-3EA8-4BC5-FD07-9D7C3424885F}"/>
              </a:ext>
            </a:extLst>
          </p:cNvPr>
          <p:cNvSpPr txBox="1"/>
          <p:nvPr/>
        </p:nvSpPr>
        <p:spPr>
          <a:xfrm>
            <a:off x="1257218" y="2054165"/>
            <a:ext cx="45823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"Of course, you can also use other environments."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51399F31-5958-2388-16C6-953B8BE28807}"/>
              </a:ext>
            </a:extLst>
          </p:cNvPr>
          <p:cNvSpPr txBox="1">
            <a:spLocks/>
          </p:cNvSpPr>
          <p:nvPr/>
        </p:nvSpPr>
        <p:spPr>
          <a:xfrm>
            <a:off x="1198418" y="1000801"/>
            <a:ext cx="7290600" cy="1066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Now, perform the steps on your own system: install the compiler and Visual Studio Code, and execute the Hello World program</a:t>
            </a:r>
            <a:r>
              <a:rPr lang="fa-IR" sz="1400" dirty="0">
                <a:solidFill>
                  <a:schemeClr val="accent3"/>
                </a:solidFill>
              </a:rPr>
              <a:t>.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2D9AA-CD7F-2964-8F05-D6B1B7539DA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712" y="4582836"/>
            <a:ext cx="644288" cy="58107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8997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7A91934-EFC4-3033-C97D-5A9524F9ACE8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65133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defTabSz="914400" eaLnBrk="0" fontAlgn="base" latinLnBrk="0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  <a:tabLst/>
            </a:pPr>
            <a:r>
              <a:rPr lang="en-US" altLang="en-US" sz="2000" b="1" dirty="0">
                <a:solidFill>
                  <a:schemeClr val="accent2"/>
                </a:solidFill>
              </a:rPr>
              <a:t>What is GitHub, and why is it necessary?</a:t>
            </a:r>
          </a:p>
        </p:txBody>
      </p:sp>
      <p:pic>
        <p:nvPicPr>
          <p:cNvPr id="1035" name="Picture 11" descr="GitHub - Wikipedia">
            <a:extLst>
              <a:ext uri="{FF2B5EF4-FFF2-40B4-BE49-F238E27FC236}">
                <a16:creationId xmlns:a16="http://schemas.microsoft.com/office/drawing/2014/main" id="{BA8B21FE-898F-ED1C-727E-CBAB0C323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912" y="1396411"/>
            <a:ext cx="1536225" cy="153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7C3108A1-2B8C-16D9-1173-B7C3E9AFF420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sz="1200" dirty="0"/>
              <a:t>GitHub is a web-based platform for version control and collaboration that allows developers to store, manage, and track changes to their code.</a:t>
            </a:r>
            <a:endParaRPr lang="fa-IR" sz="1200" dirty="0"/>
          </a:p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EAA918EC-8648-E973-E370-2F6C1826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">
            <a:extLst>
              <a:ext uri="{FF2B5EF4-FFF2-40B4-BE49-F238E27FC236}">
                <a16:creationId xmlns:a16="http://schemas.microsoft.com/office/drawing/2014/main" id="{01DB2F4C-B4F3-87C8-9650-DE0EFD54F7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D9CB573D-8D61-B10F-FCD2-9D8F87957B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47961CA5-738D-1CE4-0036-ACFFF82FD7E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785FBEC-814D-30AA-C849-A85641814479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297389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How To Use GitHub</a:t>
            </a: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3BCF875E-BE8A-6634-FE13-9F0F3D4433ED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5AB1A-3101-F8F7-C4E3-F72F73952BF4}"/>
              </a:ext>
            </a:extLst>
          </p:cNvPr>
          <p:cNvSpPr txBox="1"/>
          <p:nvPr/>
        </p:nvSpPr>
        <p:spPr>
          <a:xfrm>
            <a:off x="1216800" y="1186726"/>
            <a:ext cx="677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1. Sign up to GitHub and create account</a:t>
            </a:r>
          </a:p>
          <a:p>
            <a:b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</a:b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2. Create first Repo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584C96-A208-8E16-9A65-D39D4ED1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587" y="1926773"/>
            <a:ext cx="4866875" cy="239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38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27F9263F-9708-F340-A9D9-889A5E54F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">
            <a:extLst>
              <a:ext uri="{FF2B5EF4-FFF2-40B4-BE49-F238E27FC236}">
                <a16:creationId xmlns:a16="http://schemas.microsoft.com/office/drawing/2014/main" id="{6AEAF9D3-764D-5F3C-FCE8-8C95B7E463E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CBEE4C5A-7CB9-5171-2E56-029F8F5499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49AC45B0-2831-798C-9736-243B240FC89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E9A7F60-C0B0-4B0D-B150-73D6F6B638C4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4820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How To Use GitHub with </a:t>
            </a:r>
            <a:r>
              <a:rPr lang="en-US" altLang="en-US" sz="2000" b="1" dirty="0" err="1">
                <a:solidFill>
                  <a:schemeClr val="accent2"/>
                </a:solidFill>
              </a:rPr>
              <a:t>Vscode</a:t>
            </a: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485FEA06-CF88-0925-00EA-92A2E2A3D654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081A9-98BB-06A6-F35A-3E087D18E4B5}"/>
              </a:ext>
            </a:extLst>
          </p:cNvPr>
          <p:cNvSpPr txBox="1"/>
          <p:nvPr/>
        </p:nvSpPr>
        <p:spPr>
          <a:xfrm>
            <a:off x="905650" y="1263327"/>
            <a:ext cx="797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3. Install GitHub Desktop from this </a:t>
            </a:r>
            <a:r>
              <a:rPr lang="en-US" sz="1200" b="1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  <a:hlinkClick r:id="rId3"/>
              </a:rPr>
              <a:t>link</a:t>
            </a:r>
            <a:endParaRPr lang="en-US" sz="1200" b="1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endParaRPr lang="en-US" sz="1200" b="1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n-US" sz="1200" b="1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Now you need to use an IDE to make changes or work with other repositories and we use </a:t>
            </a:r>
            <a:r>
              <a:rPr lang="en-US" sz="12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Vscode</a:t>
            </a:r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5.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create a folder for your project and initialize Git in it or Clone your empty repository </a:t>
            </a:r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F40342A-0D8F-5844-6B1B-26BBEB194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795" y="1879479"/>
            <a:ext cx="147310" cy="14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1B0848-D7B7-D3F0-2649-41DFCAFEF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1047" y="2534053"/>
            <a:ext cx="3035104" cy="203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66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9B83CC2C-5151-0635-7AF8-87AD1A50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">
            <a:extLst>
              <a:ext uri="{FF2B5EF4-FFF2-40B4-BE49-F238E27FC236}">
                <a16:creationId xmlns:a16="http://schemas.microsoft.com/office/drawing/2014/main" id="{49E16258-90F9-F664-0930-D05DC11D37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85824C05-C3CC-25D8-A660-92A6F9E734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53BC65BF-D5D4-99D6-E3CD-35F0DD315FA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F9BBC16-28A2-4FBA-D444-A6018EA958B7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4820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How To Use GitHub with </a:t>
            </a:r>
            <a:r>
              <a:rPr lang="en-US" altLang="en-US" sz="2000" b="1" dirty="0" err="1">
                <a:solidFill>
                  <a:schemeClr val="accent2"/>
                </a:solidFill>
              </a:rPr>
              <a:t>vscode</a:t>
            </a: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990951B7-67B7-E334-40F4-B160260F2D7D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46E25-489D-4071-813B-122D37F4AD58}"/>
              </a:ext>
            </a:extLst>
          </p:cNvPr>
          <p:cNvSpPr txBox="1"/>
          <p:nvPr/>
        </p:nvSpPr>
        <p:spPr>
          <a:xfrm>
            <a:off x="905650" y="1263327"/>
            <a:ext cx="797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6.</a:t>
            </a:r>
            <a:r>
              <a:rPr lang="en-US" sz="1200" b="1" dirty="0"/>
              <a:t> </a:t>
            </a: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Now you can make changes to your code or anything in the project folder, commit them, and save every change without worrying about losing your work.</a:t>
            </a:r>
          </a:p>
          <a:p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0DA76-1E11-119C-CE16-4BB3B50CD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140" y="1879521"/>
            <a:ext cx="1306260" cy="239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632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4B684559-DBAD-E692-0773-6B8EB20A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">
            <a:extLst>
              <a:ext uri="{FF2B5EF4-FFF2-40B4-BE49-F238E27FC236}">
                <a16:creationId xmlns:a16="http://schemas.microsoft.com/office/drawing/2014/main" id="{CD49DD27-5CEF-463C-86F2-AFDBE15F861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11F24D7F-9023-CE07-0CEC-26D5270271C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E88C35BA-FCD5-C0D9-7B1B-389063E43AD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6886C25-D1AE-E14B-75E9-D50AB5933E63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4820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How To Use GitHub with </a:t>
            </a:r>
            <a:r>
              <a:rPr lang="en-US" altLang="en-US" sz="2000" b="1" dirty="0" err="1">
                <a:solidFill>
                  <a:schemeClr val="accent2"/>
                </a:solidFill>
              </a:rPr>
              <a:t>vscode</a:t>
            </a: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06EF491B-B931-2728-2645-DD713CECAB02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890C1B-6D6C-7E53-9463-A4C517ED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200" y="1317032"/>
            <a:ext cx="797760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Before you start using Git, you should at least be familiar with the following basic commands</a:t>
            </a:r>
            <a:endParaRPr lang="fa-IR" alt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b="1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commit</a:t>
            </a:r>
            <a:r>
              <a:rPr lang="en-US" alt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– to save your changes locally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b="1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push</a:t>
            </a:r>
            <a:r>
              <a:rPr lang="en-US" alt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– to upload your committed changes to a remote 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b="1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pull</a:t>
            </a:r>
            <a:r>
              <a:rPr lang="en-US" alt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– to download and merge changes from the remote repository</a:t>
            </a:r>
            <a:endParaRPr lang="fa-IR" alt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And 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6903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C28427F7-3A70-43DC-0510-72747E02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">
            <a:extLst>
              <a:ext uri="{FF2B5EF4-FFF2-40B4-BE49-F238E27FC236}">
                <a16:creationId xmlns:a16="http://schemas.microsoft.com/office/drawing/2014/main" id="{2CED09B9-D0D0-ED24-4BD7-364E755C97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4FA5EB3F-1A82-D674-C552-BA7D0A73B5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F055DD11-2AB6-9B1F-E3FC-8CBA2C0F68F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B2792AA-80C1-2772-9189-1FFC689469D0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4820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How To Use GitHub with </a:t>
            </a:r>
            <a:r>
              <a:rPr lang="en-US" altLang="en-US" sz="2000" b="1" dirty="0" err="1">
                <a:solidFill>
                  <a:schemeClr val="accent2"/>
                </a:solidFill>
              </a:rPr>
              <a:t>vscode</a:t>
            </a: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5E07A71F-942D-D4E5-9F84-5EA1A7D325F6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BCBF8-65A5-010E-2F96-DB21EBE5986E}"/>
              </a:ext>
            </a:extLst>
          </p:cNvPr>
          <p:cNvSpPr txBox="1"/>
          <p:nvPr/>
        </p:nvSpPr>
        <p:spPr>
          <a:xfrm>
            <a:off x="1015200" y="1263004"/>
            <a:ext cx="797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Now you can commit and push to your repo</a:t>
            </a:r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CBDBD4-F414-C1CA-449B-DDE2FC155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809" y="1698867"/>
            <a:ext cx="1338032" cy="25603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0BAD20-60B9-0DB9-158E-499E9B8FD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200" y="1698867"/>
            <a:ext cx="1374897" cy="258909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7CF7935E-453F-4253-4E74-CB05E8B07E4E}"/>
              </a:ext>
            </a:extLst>
          </p:cNvPr>
          <p:cNvSpPr/>
          <p:nvPr/>
        </p:nvSpPr>
        <p:spPr>
          <a:xfrm>
            <a:off x="4044950" y="2870200"/>
            <a:ext cx="1374897" cy="272123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256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C5154D3A-23CF-C0BE-3D8C-5ADAB26B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">
            <a:extLst>
              <a:ext uri="{FF2B5EF4-FFF2-40B4-BE49-F238E27FC236}">
                <a16:creationId xmlns:a16="http://schemas.microsoft.com/office/drawing/2014/main" id="{0B4F5BA1-8B48-903C-95FB-9EEA859137B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238ABF41-B3AD-D894-D245-E1F1DE7659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7B3F7D00-A9C2-865F-0BD4-143A61A828D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68E919C-4445-8FA7-F195-00F2F9E87A05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15888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D8E1A0FD-FF73-0954-972D-F3C5E4946D84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539195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r>
              <a:rPr lang="en-US" sz="800" dirty="0">
                <a:solidFill>
                  <a:srgbClr val="FF0000"/>
                </a:solidFill>
              </a:rPr>
              <a:t>Note : you can also use other environments for this task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720B9-BCF9-61CD-2B89-A7DE63235BD1}"/>
              </a:ext>
            </a:extLst>
          </p:cNvPr>
          <p:cNvSpPr txBox="1"/>
          <p:nvPr/>
        </p:nvSpPr>
        <p:spPr>
          <a:xfrm>
            <a:off x="1015200" y="1263004"/>
            <a:ext cx="797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A21D9-117F-F27B-1E4B-AE199B4CDD77}"/>
              </a:ext>
            </a:extLst>
          </p:cNvPr>
          <p:cNvSpPr txBox="1"/>
          <p:nvPr/>
        </p:nvSpPr>
        <p:spPr>
          <a:xfrm>
            <a:off x="1115410" y="1103076"/>
            <a:ext cx="7552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Now push your Hello World program to your first repository and commit your changes</a:t>
            </a:r>
          </a:p>
        </p:txBody>
      </p:sp>
    </p:spTree>
    <p:extLst>
      <p:ext uri="{BB962C8B-B14F-4D97-AF65-F5344CB8AC3E}">
        <p14:creationId xmlns:p14="http://schemas.microsoft.com/office/powerpoint/2010/main" val="2989802188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1136</Words>
  <Application>Microsoft Office PowerPoint</Application>
  <PresentationFormat>On-screen Show (16:9)</PresentationFormat>
  <Paragraphs>324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Fira Code</vt:lpstr>
      <vt:lpstr>calibri</vt:lpstr>
      <vt:lpstr>B Nazanin</vt:lpstr>
      <vt:lpstr>Arial</vt:lpstr>
      <vt:lpstr>Lalezar</vt:lpstr>
      <vt:lpstr>Programming Language Workshop for Beginners by Slidesgo</vt:lpstr>
      <vt:lpstr>PowerPoint Presentation</vt:lpstr>
      <vt:lpstr>Basic Concepts</vt:lpstr>
      <vt:lpstr>PowerPoint Presentation</vt:lpstr>
      <vt:lpstr>Different kinds of Processors’;</vt:lpstr>
      <vt:lpstr>PowerPoint Presentation</vt:lpstr>
      <vt:lpstr>Different kinds of Processors’;</vt:lpstr>
      <vt:lpstr>Different kinds of Processors’;</vt:lpstr>
      <vt:lpstr>Different kinds of Memories’;</vt:lpstr>
      <vt:lpstr>Different kinds of Memories’;</vt:lpstr>
      <vt:lpstr>Computer Architecture; </vt:lpstr>
      <vt:lpstr>Computer Architecture; </vt:lpstr>
      <vt:lpstr>Execution Model of CPU; </vt:lpstr>
      <vt:lpstr>Binary Representation of Data; </vt:lpstr>
      <vt:lpstr>Binary Representation of Data; </vt:lpstr>
      <vt:lpstr>Binary Representation of Data; </vt:lpstr>
      <vt:lpstr>Operating System and Softwares</vt:lpstr>
      <vt:lpstr>Operating System(OS);   </vt:lpstr>
      <vt:lpstr>Different types of OS; </vt:lpstr>
      <vt:lpstr>How to communicate with Computers; </vt:lpstr>
      <vt:lpstr>Programming Languages; </vt:lpstr>
      <vt:lpstr>What is Compiler?   </vt:lpstr>
      <vt:lpstr>What we need to Code?</vt:lpstr>
      <vt:lpstr>What we need to Code?</vt:lpstr>
      <vt:lpstr>C programming Language</vt:lpstr>
      <vt:lpstr>C programming Language; </vt:lpstr>
      <vt:lpstr>What is IDE?</vt:lpstr>
      <vt:lpstr>Get started with Vscode</vt:lpstr>
      <vt:lpstr>Visual Studio Code</vt:lpstr>
      <vt:lpstr>Visual Studio Code</vt:lpstr>
      <vt:lpstr>Visual Studio Code</vt:lpstr>
      <vt:lpstr>Installing the MinGW-w64 toolchain  </vt:lpstr>
      <vt:lpstr>Homework</vt:lpstr>
      <vt:lpstr>What is GitHub, and why is it necessary?</vt:lpstr>
      <vt:lpstr>How To Use GitHub</vt:lpstr>
      <vt:lpstr>How To Use GitHub with Vscode</vt:lpstr>
      <vt:lpstr>How To Use GitHub with vscode</vt:lpstr>
      <vt:lpstr>How To Use GitHub with vscode</vt:lpstr>
      <vt:lpstr>How To Use GitHub with vscode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Esmaeil Khosravi</cp:lastModifiedBy>
  <cp:revision>15</cp:revision>
  <dcterms:modified xsi:type="dcterms:W3CDTF">2025-07-21T20:28:21Z</dcterms:modified>
</cp:coreProperties>
</file>