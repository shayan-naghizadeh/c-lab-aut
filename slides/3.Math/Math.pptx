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256" r:id="rId2"/>
    <p:sldId id="302" r:id="rId3"/>
    <p:sldId id="303" r:id="rId4"/>
    <p:sldId id="306" r:id="rId5"/>
    <p:sldId id="304" r:id="rId6"/>
    <p:sldId id="307" r:id="rId7"/>
    <p:sldId id="308" r:id="rId8"/>
    <p:sldId id="309" r:id="rId9"/>
    <p:sldId id="311" r:id="rId10"/>
    <p:sldId id="312" r:id="rId11"/>
    <p:sldId id="313" r:id="rId12"/>
    <p:sldId id="315" r:id="rId13"/>
    <p:sldId id="314" r:id="rId14"/>
    <p:sldId id="316" r:id="rId15"/>
  </p:sldIdLst>
  <p:sldSz cx="9144000" cy="5143500" type="screen16x9"/>
  <p:notesSz cx="6858000" cy="9144000"/>
  <p:embeddedFontLst>
    <p:embeddedFont>
      <p:font typeface="B Nazanin" panose="00000400000000000000" pitchFamily="2" charset="-78"/>
      <p:regular r:id="rId17"/>
      <p:bold r:id="rId18"/>
    </p:embeddedFont>
    <p:embeddedFont>
      <p:font typeface="Dana" panose="020B0604020202020204" charset="0"/>
      <p:regular r:id="rId19"/>
      <p:bold r:id="rId20"/>
      <p:italic r:id="rId21"/>
      <p:boldItalic r:id="rId22"/>
    </p:embeddedFont>
    <p:embeddedFont>
      <p:font typeface="Fira Code" panose="020B0809050000020004" pitchFamily="49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4" autoAdjust="0"/>
    <p:restoredTop sz="90920" autoAdjust="0"/>
  </p:normalViewPr>
  <p:slideViewPr>
    <p:cSldViewPr snapToGrid="0">
      <p:cViewPr varScale="1">
        <p:scale>
          <a:sx n="155" d="100"/>
          <a:sy n="155" d="100"/>
        </p:scale>
        <p:origin x="330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64F14AAE-DAFD-4678-933F-29E24F58F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AE8AC989-3FD8-D00D-4618-E64596290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15C52449-B22E-9729-3BCA-E14FB2775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069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D57F8616-4B5E-A135-29EC-8BB041FF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C3449A73-8DF5-59A5-4641-C1BEF4A248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93C75082-CBD8-DD58-C77D-9AD70CB23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4071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87EDCE2E-4245-1C07-2371-B09D114C7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BA2E11FB-A1A5-9A85-67B6-BD57467F28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2060E462-E77F-4F8E-229C-4C59BC1C2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2567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E6BAFEF3-F860-8D17-C5EF-D41718AB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C19F876A-2B31-6D1E-AB9A-AFF64BAF7B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BC54E4F1-EF5B-E115-5676-7566E70EA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7454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EA264510-CD97-08F2-5B48-8FDBAC54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7C089E62-3DF9-89A2-DFD7-3C45077F77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9B1A5BDC-2549-60D4-4294-271F6FBB23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9782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CDC9CC45-628E-BE68-AC6B-EE306D382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225DEB5C-F0F0-3C20-A5CD-230DC2BFEA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9043B4D6-CAA1-AE1C-BDCA-268C668A94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8659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23029B0E-B5EA-59B6-E554-90BB671FC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4CCF7149-453F-8119-F663-445BECFFFE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28D66EBB-F1F5-2C80-8852-5873682DD9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0492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524B95E9-A558-DFB6-B0BB-BDB8A66CE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07349BC1-7241-4E6D-4517-96E6B48D6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A5001C97-689C-0FF0-ED86-E7CC93EAB9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3890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2E373F3C-1E65-C514-4D1D-CC3D55065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3BC43BA1-4B3B-9DD0-83FB-7A1616BBB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2FC292F3-843F-1434-6F65-19EB5E35D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518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3B0D8A95-0DE3-45A8-6D3B-0CCA3B3B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2F9800F1-1853-44C8-FDF9-F048B84078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71829962-33A9-DF97-D77B-94933578BE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34241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776CC841-B4FB-91BD-FDC9-7098BAFEB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512B93E5-B96F-2366-E1A8-DEAFD9A7A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904DE618-08B8-9CCB-C45C-F411ECBD90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529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BB4E1877-3449-D108-AE14-C94B7BF4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1978EABA-BFBF-5167-0292-61752A083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213A8F9D-DAA7-7FB4-5C6C-461AD272B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9347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A3E319A7-71A1-1334-70CA-C0F832B2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ABA91C89-9D91-0602-626F-D06756924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7B1F8178-391D-CC6D-D2CB-6C035559DB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6475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7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4BD535-FD73-68B5-4BE5-860DA0541C5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784285" y="779086"/>
            <a:ext cx="1439504" cy="14989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D45637-B11C-F7F6-DCA4-E0AE67DAF9EE}"/>
              </a:ext>
            </a:extLst>
          </p:cNvPr>
          <p:cNvSpPr txBox="1"/>
          <p:nvPr/>
        </p:nvSpPr>
        <p:spPr>
          <a:xfrm>
            <a:off x="2458994" y="2468693"/>
            <a:ext cx="4226011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 err="1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Amirkabir</a:t>
            </a: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 University of Technology 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(Tehran Polytechnic)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Department of Computer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241D8-4EDA-5CE1-0015-3864259E023C}"/>
              </a:ext>
            </a:extLst>
          </p:cNvPr>
          <p:cNvSpPr txBox="1"/>
          <p:nvPr/>
        </p:nvSpPr>
        <p:spPr>
          <a:xfrm>
            <a:off x="4272348" y="3408151"/>
            <a:ext cx="1711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</a:rPr>
              <a:t>Math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7883D40C-C45D-E65E-55F1-8C32CA9B554E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42CCD27B-1F3A-6104-A6A9-C9B968D4E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A264DF29-B9AC-EC90-9E40-A479F209C8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Math.c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A14C772F-CD13-D2C6-DA77-ECB208271B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0465E-896B-243B-5D49-7C62ED51663E}"/>
              </a:ext>
            </a:extLst>
          </p:cNvPr>
          <p:cNvSpPr txBox="1"/>
          <p:nvPr/>
        </p:nvSpPr>
        <p:spPr>
          <a:xfrm>
            <a:off x="1005895" y="1071152"/>
            <a:ext cx="7993294" cy="169277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Computers, as you've heard so far, work with zeros and ones, which represent low voltage and high voltage, respectively.</a:t>
            </a:r>
          </a:p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just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So far, we've seen how numbers are converted into strings of zeros and ones. Now, the question that arises is: what happens for letters?</a:t>
            </a: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D5D1F74F-26AC-B649-41DF-9B743FD77529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How does a computer work ?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C2052E68-90C5-A5ED-7E12-6803CFDEB8A4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2CCB60C1-E6B0-EE92-1FFF-21CB6A86A0F6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293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2551E5A3-9B61-4BF8-7BC6-A0C89502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33EDC9D3-1FA2-B18B-F6B9-A1FCEBADDB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Encoding.c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62FACDD1-CDD7-74B8-D39F-1284FBFCC5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014C1-E5B2-9961-1D5F-A5F5F585A393}"/>
              </a:ext>
            </a:extLst>
          </p:cNvPr>
          <p:cNvSpPr txBox="1"/>
          <p:nvPr/>
        </p:nvSpPr>
        <p:spPr>
          <a:xfrm>
            <a:off x="1005895" y="1071152"/>
            <a:ext cx="7993294" cy="3046988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ASCII</a:t>
            </a: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UTF-8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UTF-16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ISO-8859-1 (Latin-1)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Windows-1252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fa-IR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…</a:t>
            </a: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8FF6D7FD-237A-0249-C906-B6DF79B9EB6F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Encoding systems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C907A144-A24E-BF27-9547-375B57C6393A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620497E6-F9E7-190F-AE2E-9B078588F7FF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2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53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97079F77-97F3-BAE7-C23F-E5562F5B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B0C78D16-FAA3-14A3-DF79-0F534B2F73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ASCII.c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D25AABA-7EEB-07A7-3129-B87AC42115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7EBE1B-7963-CDC1-822A-5E20817D9928}"/>
              </a:ext>
            </a:extLst>
          </p:cNvPr>
          <p:cNvSpPr txBox="1"/>
          <p:nvPr/>
        </p:nvSpPr>
        <p:spPr>
          <a:xfrm>
            <a:off x="1084844" y="1062102"/>
            <a:ext cx="7993294" cy="289310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each character is converted into a 7-bit integer which represents that character in digital systems.</a:t>
            </a:r>
            <a:endParaRPr lang="fa-IR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In this system, uppercase letters take two high-value bits equal to 10, and lowercase letters take 11</a:t>
            </a:r>
            <a:r>
              <a:rPr lang="fa-IR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</a:t>
            </a:r>
          </a:p>
          <a:p>
            <a:pPr algn="just">
              <a:buClr>
                <a:schemeClr val="accent3"/>
              </a:buClr>
            </a:pPr>
            <a:endParaRPr lang="fa-IR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For example</a:t>
            </a:r>
          </a:p>
          <a:p>
            <a:pPr algn="just"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en-US" b="1" dirty="0">
                <a:solidFill>
                  <a:schemeClr val="bg1"/>
                </a:solidFill>
                <a:latin typeface="Dana" panose="020B0604020202020204" charset="-78"/>
                <a:cs typeface="Dana" panose="020B0604020202020204" charset="-78"/>
              </a:rPr>
              <a:t>		</a:t>
            </a:r>
            <a:r>
              <a:rPr lang="en-US" b="1" dirty="0">
                <a:solidFill>
                  <a:srgbClr val="FF0000"/>
                </a:solidFill>
                <a:latin typeface="Dana" panose="020B0604020202020204" charset="-78"/>
                <a:cs typeface="Dana" panose="020B0604020202020204" charset="-78"/>
              </a:rPr>
              <a:t>A = (10 00001)	 a = (11 00001)</a:t>
            </a:r>
          </a:p>
          <a:p>
            <a:pPr algn="just">
              <a:buClr>
                <a:schemeClr val="accent3"/>
              </a:buClr>
            </a:pPr>
            <a:endParaRPr lang="en-US" b="1" dirty="0">
              <a:solidFill>
                <a:srgbClr val="FF0000"/>
              </a:solidFill>
              <a:latin typeface="Dana" panose="020B0604020202020204" charset="-78"/>
              <a:ea typeface="Fira Code"/>
              <a:cs typeface="Dana" panose="020B0604020202020204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en-US" b="1" dirty="0">
                <a:solidFill>
                  <a:srgbClr val="FF0000"/>
                </a:solidFill>
                <a:latin typeface="Dana" panose="020B0604020202020204" charset="-78"/>
                <a:ea typeface="Fira Code"/>
                <a:cs typeface="Dana" panose="020B0604020202020204" charset="-78"/>
                <a:sym typeface="Fira Code"/>
              </a:rPr>
              <a:t>		B = (10 00010)	 b = (11 00010)</a:t>
            </a:r>
          </a:p>
          <a:p>
            <a:pPr algn="just">
              <a:buClr>
                <a:schemeClr val="accent3"/>
              </a:buClr>
            </a:pPr>
            <a:endParaRPr lang="en-US" b="1" dirty="0">
              <a:solidFill>
                <a:srgbClr val="FF0000"/>
              </a:solidFill>
              <a:latin typeface="Dana" panose="020B0604020202020204" charset="-78"/>
              <a:ea typeface="Fira Code"/>
              <a:cs typeface="Dana" panose="020B0604020202020204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en-US" b="1" dirty="0">
                <a:solidFill>
                  <a:srgbClr val="FF0000"/>
                </a:solidFill>
                <a:latin typeface="Dana" panose="020B0604020202020204" charset="-78"/>
                <a:ea typeface="Fira Code"/>
                <a:cs typeface="Dana" panose="020B0604020202020204" charset="-78"/>
                <a:sym typeface="Fira Code"/>
              </a:rPr>
              <a:t>		C = (10 00011)	 c = (11 00011)</a:t>
            </a:r>
            <a:endParaRPr lang="fa-IR" b="1" dirty="0">
              <a:solidFill>
                <a:srgbClr val="FF0000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DB41CE82-4819-0FC0-E95A-D4516BFCE52C}"/>
              </a:ext>
            </a:extLst>
          </p:cNvPr>
          <p:cNvSpPr txBox="1">
            <a:spLocks/>
          </p:cNvSpPr>
          <p:nvPr/>
        </p:nvSpPr>
        <p:spPr>
          <a:xfrm>
            <a:off x="112918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ASCII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5B2B9EC4-08D1-A769-B259-B29D6B49256F}"/>
              </a:ext>
            </a:extLst>
          </p:cNvPr>
          <p:cNvSpPr/>
          <p:nvPr/>
        </p:nvSpPr>
        <p:spPr>
          <a:xfrm rot="5400000">
            <a:off x="3845381" y="2508539"/>
            <a:ext cx="96249" cy="504564"/>
          </a:xfrm>
          <a:prstGeom prst="leftBrac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6C055BF7-6D42-A3E7-B1E8-4135B6A8993B}"/>
              </a:ext>
            </a:extLst>
          </p:cNvPr>
          <p:cNvSpPr/>
          <p:nvPr/>
        </p:nvSpPr>
        <p:spPr>
          <a:xfrm rot="16200000">
            <a:off x="3399142" y="2964317"/>
            <a:ext cx="110705" cy="209071"/>
          </a:xfrm>
          <a:prstGeom prst="leftBrac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3656CBFA-4F29-EBE8-F5A5-E54645987F31}"/>
              </a:ext>
            </a:extLst>
          </p:cNvPr>
          <p:cNvSpPr/>
          <p:nvPr/>
        </p:nvSpPr>
        <p:spPr>
          <a:xfrm rot="5400000">
            <a:off x="5713626" y="2519993"/>
            <a:ext cx="96249" cy="504564"/>
          </a:xfrm>
          <a:prstGeom prst="leftBrac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A70EE633-175B-2F4A-77BE-DA2833220E2A}"/>
              </a:ext>
            </a:extLst>
          </p:cNvPr>
          <p:cNvSpPr/>
          <p:nvPr/>
        </p:nvSpPr>
        <p:spPr>
          <a:xfrm rot="16200000">
            <a:off x="5246778" y="2964317"/>
            <a:ext cx="110705" cy="209071"/>
          </a:xfrm>
          <a:prstGeom prst="leftBrac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Google Shape;473;p28">
            <a:extLst>
              <a:ext uri="{FF2B5EF4-FFF2-40B4-BE49-F238E27FC236}">
                <a16:creationId xmlns:a16="http://schemas.microsoft.com/office/drawing/2014/main" id="{DB555A7F-4CEC-EAA5-1E7A-C1E022F15518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11" name="Google Shape;473;p28">
            <a:extLst>
              <a:ext uri="{FF2B5EF4-FFF2-40B4-BE49-F238E27FC236}">
                <a16:creationId xmlns:a16="http://schemas.microsoft.com/office/drawing/2014/main" id="{9CAB7A29-284F-D74D-AC4D-D48E28C7E9B8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3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80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2CE61260-10DF-DA33-3205-1CA892D5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D70807A7-E800-77B2-6DD0-06B33616AE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Q.c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CF193697-870A-0A21-872D-502EED023E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3400F-4D56-2A75-2446-21192BFE31AA}"/>
              </a:ext>
            </a:extLst>
          </p:cNvPr>
          <p:cNvSpPr txBox="1"/>
          <p:nvPr/>
        </p:nvSpPr>
        <p:spPr>
          <a:xfrm>
            <a:off x="949567" y="1050910"/>
            <a:ext cx="7993294" cy="301621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br>
              <a:rPr lang="en-US" dirty="0"/>
            </a:b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But what about the other characters?</a:t>
            </a:r>
          </a:p>
          <a:p>
            <a:pPr algn="just">
              <a:buClr>
                <a:schemeClr val="accent3"/>
              </a:buClr>
            </a:pPr>
            <a:b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</a:b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Characters from the Persian language, Chinese, Arabic, even mathematical and musical symbols, and thousands of other characters. Is 7 bits, a part of which is already used for English characters, enough to define these characters</a:t>
            </a:r>
            <a:r>
              <a:rPr lang="en-US" sz="16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?</a:t>
            </a:r>
          </a:p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fa-IR" sz="24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Answer?</a:t>
            </a:r>
            <a:endParaRPr lang="fa-IR" sz="2400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algn="just">
              <a:buClr>
                <a:schemeClr val="accent3"/>
              </a:buClr>
            </a:pPr>
            <a:endParaRPr lang="en-US" sz="2400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fa-IR" sz="16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     </a:t>
            </a:r>
            <a:r>
              <a:rPr lang="en-US" sz="16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Using more bits</a:t>
            </a:r>
            <a:endParaRPr lang="fa-IR" sz="1600" b="1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C19A912F-B0F2-76F2-AF7F-B7102176E4EB}"/>
              </a:ext>
            </a:extLst>
          </p:cNvPr>
          <p:cNvSpPr txBox="1">
            <a:spLocks/>
          </p:cNvSpPr>
          <p:nvPr/>
        </p:nvSpPr>
        <p:spPr>
          <a:xfrm>
            <a:off x="949567" y="293770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Question?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3EB0EB08-5C1D-7C18-63F5-DA4D866BFE4C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D9BCD1B7-DE67-799E-128D-59D76E5E0DFC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4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228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2C05130C-E068-2911-44D4-4F62B592F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EDF0D157-0FF3-FBC1-57ED-0291AB2155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6" y="91525"/>
            <a:ext cx="4978668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/>
            <a:r>
              <a:rPr lang="en-US" sz="1000" dirty="0">
                <a:cs typeface="B Nazanin" panose="00000400000000000000" pitchFamily="2" charset="-78"/>
              </a:rPr>
              <a:t>UTF-8</a:t>
            </a:r>
            <a:r>
              <a:rPr lang="en-US" sz="1000" dirty="0"/>
              <a:t>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99A9709F-AFE3-36AF-815D-4C5D4208FB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074B4-BFE2-BB09-05F5-922A46C0B91D}"/>
              </a:ext>
            </a:extLst>
          </p:cNvPr>
          <p:cNvSpPr txBox="1"/>
          <p:nvPr/>
        </p:nvSpPr>
        <p:spPr>
          <a:xfrm>
            <a:off x="-468267" y="1042077"/>
            <a:ext cx="7993294" cy="553998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br>
              <a:rPr lang="en-US" dirty="0"/>
            </a:br>
            <a:endParaRPr lang="fa-IR" sz="1600" b="1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FC8C8A7E-A728-C26F-B76D-9709958183FB}"/>
              </a:ext>
            </a:extLst>
          </p:cNvPr>
          <p:cNvSpPr txBox="1">
            <a:spLocks/>
          </p:cNvSpPr>
          <p:nvPr/>
        </p:nvSpPr>
        <p:spPr>
          <a:xfrm>
            <a:off x="1052308" y="512153"/>
            <a:ext cx="587779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 lang="fa-IR" sz="2400" dirty="0">
              <a:solidFill>
                <a:schemeClr val="accent2"/>
              </a:solidFill>
            </a:endParaRPr>
          </a:p>
          <a:p>
            <a:r>
              <a:rPr lang="en-US" sz="2400" dirty="0">
                <a:solidFill>
                  <a:schemeClr val="accent2"/>
                </a:solidFill>
              </a:rPr>
              <a:t>UTF-8</a:t>
            </a:r>
            <a:endParaRPr lang="fa-IR" sz="2400" dirty="0">
              <a:solidFill>
                <a:schemeClr val="accent2"/>
              </a:solidFill>
            </a:endParaRPr>
          </a:p>
          <a:p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360A3D1-5169-379C-620C-24D266513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019" y="1128755"/>
            <a:ext cx="8075413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UTF-8 has a variable length of 1 to 4 bytes and can change depending on the number of bits required.</a:t>
            </a:r>
            <a:endParaRPr lang="fa-IR" alt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</a:b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If only 7 bits are needed, a single byte is used where the most significant bit (MSB) is set to 0.</a:t>
            </a:r>
            <a:endParaRPr lang="fa-IR" alt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</a:b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If more than 7 bits and up to 11 bits are required, two bytes are used: the first byte starts with </a:t>
            </a:r>
            <a:r>
              <a:rPr lang="en-US" altLang="en-US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110</a:t>
            </a: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(indicating it is two bytes long), and the second byte starts with </a:t>
            </a:r>
            <a:r>
              <a:rPr lang="en-US" altLang="en-US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.</a:t>
            </a:r>
            <a:endParaRPr lang="fa-IR" alt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</a:b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This pattern can extend up to 4 bytes, where the first byte starts with </a:t>
            </a:r>
            <a:r>
              <a:rPr lang="en-US" altLang="en-US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11110</a:t>
            </a: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and the remaining bytes start with </a:t>
            </a:r>
            <a:r>
              <a:rPr lang="en-US" altLang="en-US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.</a:t>
            </a:r>
            <a:r>
              <a:rPr lang="en-US" alt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12966A0F-0306-B37F-8CCF-FA3DD969771F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8" name="Google Shape;473;p28">
            <a:extLst>
              <a:ext uri="{FF2B5EF4-FFF2-40B4-BE49-F238E27FC236}">
                <a16:creationId xmlns:a16="http://schemas.microsoft.com/office/drawing/2014/main" id="{E5E96915-783E-A828-BD50-085E3944C906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5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342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D4EBA6AB-E9D5-AF8A-481B-5801B5178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0E929927-604B-DF34-5CDC-7AF22495378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6" y="91525"/>
            <a:ext cx="4978668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/>
            <a:r>
              <a:rPr lang="en-US" sz="1000" dirty="0">
                <a:cs typeface="B Nazanin" panose="00000400000000000000" pitchFamily="2" charset="-78"/>
              </a:rPr>
              <a:t>UTF-8</a:t>
            </a:r>
            <a:r>
              <a:rPr lang="en-US" sz="1000" dirty="0"/>
              <a:t>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E9E5CE19-7D51-C58F-D41B-4FCF0D477B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D5E4D-640F-647D-63B9-9AFC92B3A081}"/>
              </a:ext>
            </a:extLst>
          </p:cNvPr>
          <p:cNvSpPr txBox="1"/>
          <p:nvPr/>
        </p:nvSpPr>
        <p:spPr>
          <a:xfrm>
            <a:off x="-468267" y="1042077"/>
            <a:ext cx="7993294" cy="553998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endParaRPr lang="en-US" dirty="0"/>
          </a:p>
          <a:p>
            <a:pPr>
              <a:buClr>
                <a:schemeClr val="accent3"/>
              </a:buClr>
            </a:pPr>
            <a:endParaRPr lang="fa-IR" sz="1600" b="1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8BDDC61E-45F9-AD13-266D-348F38B6AA4F}"/>
              </a:ext>
            </a:extLst>
          </p:cNvPr>
          <p:cNvSpPr txBox="1">
            <a:spLocks/>
          </p:cNvSpPr>
          <p:nvPr/>
        </p:nvSpPr>
        <p:spPr>
          <a:xfrm>
            <a:off x="1070814" y="397247"/>
            <a:ext cx="587779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 lang="fa-IR" sz="2400" dirty="0">
              <a:solidFill>
                <a:schemeClr val="accent2"/>
              </a:solidFill>
            </a:endParaRPr>
          </a:p>
          <a:p>
            <a:r>
              <a:rPr lang="en-US" sz="2400" dirty="0">
                <a:solidFill>
                  <a:schemeClr val="accent2"/>
                </a:solidFill>
              </a:rPr>
              <a:t>UTF-8</a:t>
            </a:r>
            <a:endParaRPr lang="fa-IR" sz="2400" dirty="0">
              <a:solidFill>
                <a:schemeClr val="accent2"/>
              </a:solidFill>
            </a:endParaRPr>
          </a:p>
          <a:p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4E7210F-B01C-8054-BFDE-985FF63E2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814" y="633935"/>
            <a:ext cx="8133119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FF0000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Example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FF0000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 byte code      </a:t>
            </a:r>
            <a:r>
              <a:rPr lang="en-US" sz="2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xxxxxxx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2 bytes code     </a:t>
            </a:r>
            <a:r>
              <a:rPr lang="en-US" sz="2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110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  </a:t>
            </a:r>
            <a:r>
              <a:rPr lang="en-US" sz="2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xxxxxx</a:t>
            </a: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bg1"/>
              </a:solidFill>
              <a:latin typeface="Dana" panose="020B0604020202020204" charset="-78"/>
              <a:ea typeface="Fira Code"/>
              <a:cs typeface="Dana" panose="020B0604020202020204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accent3"/>
                </a:solidFill>
                <a:latin typeface="Dana" panose="020B0604020202020204" charset="-78"/>
                <a:ea typeface="Fira Code"/>
                <a:cs typeface="Dana" panose="020B0604020202020204" charset="-78"/>
              </a:rPr>
              <a:t>3  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bytes</a:t>
            </a:r>
            <a:r>
              <a:rPr lang="en-US" altLang="en-US" sz="1600" dirty="0">
                <a:solidFill>
                  <a:schemeClr val="accent3"/>
                </a:solidFill>
                <a:latin typeface="Dana" panose="020B0604020202020204" charset="-78"/>
                <a:ea typeface="Fira Code"/>
                <a:cs typeface="Dana" panose="020B0604020202020204" charset="-78"/>
              </a:rPr>
              <a:t>  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code     </a:t>
            </a:r>
            <a:r>
              <a:rPr lang="en-US" sz="28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1110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 </a:t>
            </a:r>
            <a:r>
              <a:rPr lang="en-US" sz="2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xxxxxx </a:t>
            </a:r>
            <a:r>
              <a:rPr lang="en-US" sz="24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sz="16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xxxxxx</a:t>
            </a: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4 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bytes code     </a:t>
            </a:r>
            <a:r>
              <a:rPr lang="en-US" sz="2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11110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 </a:t>
            </a:r>
            <a:r>
              <a:rPr lang="en-US" sz="2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xxxxxx </a:t>
            </a:r>
            <a:r>
              <a:rPr lang="en-US" sz="24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sz="16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xxxxxx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sz="16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xxxxxx</a:t>
            </a: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accent3"/>
              </a:solidFill>
              <a:latin typeface="Dana" panose="020B0604020202020204" charset="-78"/>
              <a:ea typeface="Fira Code"/>
              <a:cs typeface="Dana" panose="020B0604020202020204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*</a:t>
            </a:r>
            <a:r>
              <a:rPr lang="en-US" sz="1200" dirty="0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 You can also study the encoding of other systems</a:t>
            </a:r>
            <a:endParaRPr lang="en-US" altLang="en-US" sz="1200" dirty="0">
              <a:solidFill>
                <a:srgbClr val="FF0000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rgbClr val="FF0000"/>
              </a:solidFill>
              <a:latin typeface="Fira Code"/>
              <a:ea typeface="Fira Code"/>
              <a:cs typeface="B Nazanin" panose="00000400000000000000" pitchFamily="2" charset="-78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C044B17-76EC-1124-1BE3-1B1997ACF5CB}"/>
              </a:ext>
            </a:extLst>
          </p:cNvPr>
          <p:cNvSpPr/>
          <p:nvPr/>
        </p:nvSpPr>
        <p:spPr>
          <a:xfrm>
            <a:off x="2697621" y="1474456"/>
            <a:ext cx="434503" cy="3850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FCE8C2D-7B15-8F1A-3DB5-03A248B63318}"/>
              </a:ext>
            </a:extLst>
          </p:cNvPr>
          <p:cNvSpPr/>
          <p:nvPr/>
        </p:nvSpPr>
        <p:spPr>
          <a:xfrm>
            <a:off x="2697621" y="2101331"/>
            <a:ext cx="434503" cy="3850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1C03A65-795A-9165-DDC4-0887A7CC51F5}"/>
              </a:ext>
            </a:extLst>
          </p:cNvPr>
          <p:cNvSpPr/>
          <p:nvPr/>
        </p:nvSpPr>
        <p:spPr>
          <a:xfrm>
            <a:off x="2697621" y="2728969"/>
            <a:ext cx="434503" cy="3850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F0B4B31-CB24-AA7E-1FE0-3418CB0E92EA}"/>
              </a:ext>
            </a:extLst>
          </p:cNvPr>
          <p:cNvSpPr/>
          <p:nvPr/>
        </p:nvSpPr>
        <p:spPr>
          <a:xfrm>
            <a:off x="2697621" y="3354394"/>
            <a:ext cx="434503" cy="3850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473;p28">
            <a:extLst>
              <a:ext uri="{FF2B5EF4-FFF2-40B4-BE49-F238E27FC236}">
                <a16:creationId xmlns:a16="http://schemas.microsoft.com/office/drawing/2014/main" id="{B56CE284-5468-775A-882E-C29C1FB15D08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13" name="Google Shape;473;p28">
            <a:extLst>
              <a:ext uri="{FF2B5EF4-FFF2-40B4-BE49-F238E27FC236}">
                <a16:creationId xmlns:a16="http://schemas.microsoft.com/office/drawing/2014/main" id="{620531A7-60C2-1013-AFDD-C1EE6CAFC154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6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047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D0D4419C-5E1A-E325-DC05-ABCD28535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3DAB4C06-4A95-C905-0A3A-0C7D9431B39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task1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9C88217-DCE5-1776-E16D-39776B6E43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E5CDA5-D42C-AB4E-87F1-9851D54CDCE9}"/>
              </a:ext>
            </a:extLst>
          </p:cNvPr>
          <p:cNvSpPr txBox="1"/>
          <p:nvPr/>
        </p:nvSpPr>
        <p:spPr>
          <a:xfrm>
            <a:off x="1005895" y="1071152"/>
            <a:ext cx="7993294" cy="255454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Write a program that first takes as input a number and an alphabetic character. Then shift the character by the given number. The program’s output should be the resulting character in both uppercase and lowercase forms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example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Input: 3,B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Output: </a:t>
            </a:r>
            <a:r>
              <a:rPr lang="en-US" altLang="en-US" sz="1600" dirty="0" err="1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E,e</a:t>
            </a:r>
            <a:endParaRPr lang="en-US" altLang="en-US" sz="1600" dirty="0">
              <a:solidFill>
                <a:srgbClr val="FF0000"/>
              </a:solidFill>
              <a:latin typeface="Fira Code"/>
              <a:ea typeface="Fira Code"/>
              <a:cs typeface="B Nazanin" panose="00000400000000000000" pitchFamily="2" charset="-78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4144F315-D665-4EBE-EBC2-8AAC24725DD3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b="1" dirty="0">
                <a:solidFill>
                  <a:schemeClr val="accent2"/>
                </a:solidFill>
              </a:rPr>
              <a:t>Task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D246B0-FA51-EC27-76BA-372657687082}"/>
              </a:ext>
            </a:extLst>
          </p:cNvPr>
          <p:cNvSpPr txBox="1"/>
          <p:nvPr/>
        </p:nvSpPr>
        <p:spPr>
          <a:xfrm>
            <a:off x="1005895" y="3842656"/>
            <a:ext cx="75390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dirty="0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*</a:t>
            </a:r>
            <a:r>
              <a:rPr lang="en-US" sz="1100" dirty="0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 If needed, you can refer to an online table that converts ASCII codes to characters</a:t>
            </a:r>
            <a:endParaRPr lang="en-US" altLang="en-US" sz="1100" dirty="0">
              <a:solidFill>
                <a:srgbClr val="FF0000"/>
              </a:solidFill>
              <a:latin typeface="Fira Code"/>
              <a:ea typeface="Fira Code"/>
              <a:cs typeface="B Nazanin" panose="00000400000000000000" pitchFamily="2" charset="-78"/>
            </a:endParaRP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DB2231DC-73EA-29F3-E24C-F109061C444E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22BB9C64-8B92-BC20-1A8F-59F77F435F51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7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2" name="Google Shape;465;p27">
            <a:extLst>
              <a:ext uri="{FF2B5EF4-FFF2-40B4-BE49-F238E27FC236}">
                <a16:creationId xmlns:a16="http://schemas.microsoft.com/office/drawing/2014/main" id="{5296BE8A-D0FF-9DC3-48F1-F188F61C0C46}"/>
              </a:ext>
            </a:extLst>
          </p:cNvPr>
          <p:cNvSpPr txBox="1">
            <a:spLocks/>
          </p:cNvSpPr>
          <p:nvPr/>
        </p:nvSpPr>
        <p:spPr>
          <a:xfrm>
            <a:off x="-5976" y="91525"/>
            <a:ext cx="497866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>
                <a:cs typeface="B Nazanin" panose="00000400000000000000" pitchFamily="2" charset="-78"/>
              </a:rPr>
              <a:t>UTF-8</a:t>
            </a:r>
            <a:r>
              <a:rPr lang="en-US" sz="1000"/>
              <a:t>.c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38389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243E5887-67FF-DA77-62D6-F039A2512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C9B0D018-BE72-FDDD-ACF1-9F422941773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97685" y="126669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task</a:t>
            </a:r>
            <a:r>
              <a:rPr lang="fa-IR" sz="1000" dirty="0"/>
              <a:t>2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142BA0F5-5E67-B1DA-444D-6AE6200E36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33C5F-46C9-C08B-8740-9464E4B23A43}"/>
              </a:ext>
            </a:extLst>
          </p:cNvPr>
          <p:cNvSpPr txBox="1"/>
          <p:nvPr/>
        </p:nvSpPr>
        <p:spPr>
          <a:xfrm>
            <a:off x="1005895" y="1071152"/>
            <a:ext cx="7993294" cy="206210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Write a program that takes a number of seconds as input and tells you how many days, hours, minutes, and seconds it corresponds to.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2. 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Now give </a:t>
            </a:r>
            <a:r>
              <a:rPr lang="en-US" sz="16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9,876,543,210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as the program’s input and check whether the output is correct or not</a:t>
            </a: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3D771DA7-4C4F-4042-256D-9BBA1A9B6670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b="1" dirty="0">
                <a:solidFill>
                  <a:schemeClr val="accent2"/>
                </a:solidFill>
              </a:rPr>
              <a:t>Task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128A813B-027C-E54F-DF5E-A04E73EF7D50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45E67236-DBE5-A8A4-9863-481E11D092EC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8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2" name="Google Shape;465;p27">
            <a:extLst>
              <a:ext uri="{FF2B5EF4-FFF2-40B4-BE49-F238E27FC236}">
                <a16:creationId xmlns:a16="http://schemas.microsoft.com/office/drawing/2014/main" id="{44939962-A88D-DFFE-5859-BC1BF02EBC99}"/>
              </a:ext>
            </a:extLst>
          </p:cNvPr>
          <p:cNvSpPr txBox="1">
            <a:spLocks/>
          </p:cNvSpPr>
          <p:nvPr/>
        </p:nvSpPr>
        <p:spPr>
          <a:xfrm>
            <a:off x="-5976" y="91525"/>
            <a:ext cx="497866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>
                <a:cs typeface="B Nazanin" panose="00000400000000000000" pitchFamily="2" charset="-78"/>
              </a:rPr>
              <a:t>UTF-8</a:t>
            </a:r>
            <a:r>
              <a:rPr lang="en-US" sz="1000"/>
              <a:t>.c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2113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39BD5BE6-EBBC-A5CF-1C8B-0A15ABBD3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3DAD92BB-0483-E570-1256-6B93CE771CB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Random.c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851E2F98-84CD-22E3-CB67-20767B8DD2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032486F5-9733-48A6-C7B9-F99F88512FA8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Random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94E9D7-E581-6C66-5DC5-B3B85EFD6A61}"/>
              </a:ext>
            </a:extLst>
          </p:cNvPr>
          <p:cNvSpPr txBox="1"/>
          <p:nvPr/>
        </p:nvSpPr>
        <p:spPr>
          <a:xfrm>
            <a:off x="1005892" y="887181"/>
            <a:ext cx="8014537" cy="131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Introduction to Random Numbers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Random numbers are numbers that are generated in such a way that each possible number has an equal chance of being chosen. They do not follow a specific pattern and are often used in computer programs to add variety or unpredictability.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90265A-3CCB-AE56-B3BB-7B439F0A8288}"/>
              </a:ext>
            </a:extLst>
          </p:cNvPr>
          <p:cNvSpPr txBox="1"/>
          <p:nvPr/>
        </p:nvSpPr>
        <p:spPr>
          <a:xfrm>
            <a:off x="1005892" y="2077377"/>
            <a:ext cx="8014537" cy="2115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Why Are Random Numbers Important?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Random numbers have many important uses in computer science, such as:</a:t>
            </a:r>
          </a:p>
          <a:p>
            <a:pPr algn="just">
              <a:buNone/>
            </a:pPr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/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Games: To make games fun and unpredictable (e.g., rolling dice, shuffling cards).</a:t>
            </a:r>
          </a:p>
          <a:p>
            <a:pPr algn="just"/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/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Simulations: To model real-world situations like weather, traffic, or population growth.</a:t>
            </a:r>
          </a:p>
          <a:p>
            <a:pPr algn="just"/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/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Security: To generate secure passwords or encryption keys that cannot be easily guessed.</a:t>
            </a:r>
          </a:p>
          <a:p>
            <a:pPr algn="just"/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/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Testing: To check how a program performs under different, random conditions.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BC936C6D-9A6D-893C-A1AC-E7A5CFBAE2FA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8" name="Google Shape;473;p28">
            <a:extLst>
              <a:ext uri="{FF2B5EF4-FFF2-40B4-BE49-F238E27FC236}">
                <a16:creationId xmlns:a16="http://schemas.microsoft.com/office/drawing/2014/main" id="{D0EABB68-E323-A780-DC07-F71AE5AE5177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9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914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C22885DA-DC93-583E-64EF-0743FA9F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BD3BF607-8B82-9444-4188-09454A28DA6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Random.c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67CBBC45-1EA5-A65B-AA86-92DA3AB562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AD307F8B-CC1C-C031-FF03-39554DEDDFF4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Random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3D955-FCBC-4157-EE75-7AB3855C4E28}"/>
              </a:ext>
            </a:extLst>
          </p:cNvPr>
          <p:cNvSpPr txBox="1"/>
          <p:nvPr/>
        </p:nvSpPr>
        <p:spPr>
          <a:xfrm>
            <a:off x="951471" y="848060"/>
            <a:ext cx="8126667" cy="1247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How Are Random Numbers Generated in Programming?</a:t>
            </a:r>
          </a:p>
          <a:p>
            <a:pPr algn="just">
              <a:lnSpc>
                <a:spcPct val="150000"/>
              </a:lnSpc>
            </a:pPr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In programming, we usually use functions or libraries to generate what we call pseudo-random numbers. These are numbers that appear random but are actually generated using mathematical formulas. They are not truly random, but they are good enough for most applications.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EA1F2270-3480-CF00-AA53-6A630B90307B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882D87EA-3555-F609-FA14-F8FF9792CEAD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40123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10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286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DEC8022C-5B58-6531-6FA5-19588A9BD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3D50D106-391E-A0EF-50F2-59E6B0AD3EA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97685" y="84876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Task3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577E11C7-4EE5-1131-5C1D-0403927A07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0ED210A6-E561-CA98-F4ED-1537F82AAD85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CCAFF-CB96-2117-8EAE-6A0B1B88164F}"/>
              </a:ext>
            </a:extLst>
          </p:cNvPr>
          <p:cNvSpPr txBox="1"/>
          <p:nvPr/>
        </p:nvSpPr>
        <p:spPr>
          <a:xfrm>
            <a:off x="1149230" y="1191390"/>
            <a:ext cx="7606764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1. Write a program that generates 5 random numbers every time it runs?</a:t>
            </a:r>
          </a:p>
          <a:p>
            <a:pPr marL="228600" indent="-228600">
              <a:buAutoNum type="arabicPeriod"/>
            </a:pPr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2. </a:t>
            </a:r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Why does the output become the same every time the program runs?</a:t>
            </a:r>
            <a:endParaRPr lang="fa-IR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endParaRPr lang="en-US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228600" indent="-228600">
              <a:buAutoNum type="arabicPeriod"/>
            </a:pPr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3. Use </a:t>
            </a:r>
            <a:r>
              <a:rPr lang="en-US" sz="1100" b="1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srand</a:t>
            </a:r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and run the program again.</a:t>
            </a:r>
          </a:p>
          <a:p>
            <a:endParaRPr lang="fa-IR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endParaRPr lang="fa-IR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4. </a:t>
            </a: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Write a program that generates a random number between 0 and 100.</a:t>
            </a:r>
          </a:p>
          <a:p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228600" indent="-228600">
              <a:buAutoNum type="arabicPeriod"/>
            </a:pPr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</a:t>
            </a:r>
            <a:endParaRPr lang="fa-IR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AC6E8023-247A-6FFF-2BF8-E96108158969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EFD90008-5A1F-E858-9BB0-5B8F4866121E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438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11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3" name="Google Shape;465;p27">
            <a:extLst>
              <a:ext uri="{FF2B5EF4-FFF2-40B4-BE49-F238E27FC236}">
                <a16:creationId xmlns:a16="http://schemas.microsoft.com/office/drawing/2014/main" id="{E6E41B85-80DD-56F2-76C9-3D891BCDF424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/>
              <a:t>Random.c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40553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4C6AD2BA-8BD7-7334-5544-D5884DF1E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7BE410B4-A6E9-E97D-677F-E1812C8DA56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97685" y="84876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HW1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31A6A6E9-5C46-3DB0-8CBF-8C2CAA79F3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1CFDB2B3-9542-A96D-04A9-73EA449002A2}"/>
              </a:ext>
            </a:extLst>
          </p:cNvPr>
          <p:cNvSpPr txBox="1">
            <a:spLocks/>
          </p:cNvSpPr>
          <p:nvPr/>
        </p:nvSpPr>
        <p:spPr>
          <a:xfrm>
            <a:off x="1005895" y="95486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Home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BF507-4CFA-2FCE-208D-567B2042577B}"/>
              </a:ext>
            </a:extLst>
          </p:cNvPr>
          <p:cNvSpPr txBox="1"/>
          <p:nvPr/>
        </p:nvSpPr>
        <p:spPr>
          <a:xfrm>
            <a:off x="1050324" y="892879"/>
            <a:ext cx="7920682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Write a C program that uses functions from the </a:t>
            </a:r>
            <a:r>
              <a:rPr lang="en-US" altLang="en-US" sz="11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math.h</a:t>
            </a: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library to perform the following tasks: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Ask the user to enter a positive number and: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Display its square root using sqrt()</a:t>
            </a:r>
          </a:p>
          <a:p>
            <a:pPr marL="457200"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Display e to the power of the number using exp()</a:t>
            </a:r>
          </a:p>
          <a:p>
            <a:pPr marL="457200"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Display its natural logarithm using log()</a:t>
            </a:r>
          </a:p>
          <a:p>
            <a:pPr marL="457200"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Display its base-10 logarithm using log10()</a:t>
            </a:r>
          </a:p>
          <a:p>
            <a:pPr marL="457200"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Ask the user to enter any number (positive or negative) and:</a:t>
            </a:r>
          </a:p>
          <a:p>
            <a:pPr marL="457200"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Display its absolute value using fabs()</a:t>
            </a:r>
          </a:p>
          <a:p>
            <a:pPr marL="457200"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Display the ceiling of the number using ceil()</a:t>
            </a:r>
          </a:p>
          <a:p>
            <a:pPr marL="457200"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Display the floor of the number using floor()</a:t>
            </a:r>
          </a:p>
          <a:p>
            <a:pPr marL="457200"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Ask the user to enter two numbers and:</a:t>
            </a:r>
          </a:p>
          <a:p>
            <a:pPr marL="457200"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Display the result of raising the first number to the power of the second using   pow(x, y)</a:t>
            </a:r>
          </a:p>
          <a:p>
            <a:pPr marL="457200"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Display the remainder when the first number is divided by the second using </a:t>
            </a:r>
            <a:r>
              <a:rPr lang="en-US" altLang="en-US" sz="11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fmod</a:t>
            </a: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(x, y)</a:t>
            </a:r>
          </a:p>
          <a:p>
            <a:pPr marL="457200"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4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Finally, display the values of sin(), cos(), and tan() for 0 radians.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0F7046CC-86EF-4F5C-F0CD-21BE3F9D01C8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192AA5AA-DCDE-3EF4-FFAF-E1495F0838BA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438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1</a:t>
            </a:r>
            <a:r>
              <a:rPr lang="fa-IR" sz="1100" dirty="0">
                <a:solidFill>
                  <a:schemeClr val="accent3"/>
                </a:solidFill>
              </a:rPr>
              <a:t>2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007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867973E8-309B-D235-E203-A46CFF258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A8B5F3C1-C0A6-E61B-F5BA-7BCF17FCEFC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97685" y="84876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HW</a:t>
            </a:r>
            <a:r>
              <a:rPr lang="fa-IR" sz="1000"/>
              <a:t>2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CB363D7A-E969-BCDA-AC9A-2C5E75274E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54A43F61-8DD3-1EEA-1990-B67776C0ECC5}"/>
              </a:ext>
            </a:extLst>
          </p:cNvPr>
          <p:cNvSpPr txBox="1">
            <a:spLocks/>
          </p:cNvSpPr>
          <p:nvPr/>
        </p:nvSpPr>
        <p:spPr>
          <a:xfrm>
            <a:off x="1005895" y="95486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Home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1226E-6F79-2ACF-F863-0B8EE3F7328B}"/>
              </a:ext>
            </a:extLst>
          </p:cNvPr>
          <p:cNvSpPr txBox="1"/>
          <p:nvPr/>
        </p:nvSpPr>
        <p:spPr>
          <a:xfrm>
            <a:off x="637344" y="950886"/>
            <a:ext cx="8308948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1714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Write a C program that:</a:t>
            </a:r>
            <a:endParaRPr lang="fa-IR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457200" lvl="1" indent="-1714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457200" lvl="1" indent="-1714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Asks the user to enter the lengths of the two perpendicular sides of a right triangle (side1 and side2).</a:t>
            </a:r>
            <a:endParaRPr lang="fa-IR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457200" lvl="1" indent="-1714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457200" lvl="1" indent="-1714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Calculates the length of the hypotenuse using the built-in function </a:t>
            </a:r>
            <a:r>
              <a:rPr lang="en-US" altLang="en-US" sz="11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hypot</a:t>
            </a: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()</a:t>
            </a:r>
            <a:endParaRPr lang="fa-IR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285750"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</a:t>
            </a:r>
            <a:endParaRPr lang="fa-IR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457200" lvl="1" indent="-1714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Displays the result with two decimal places.</a:t>
            </a:r>
            <a:endParaRPr lang="fa-IR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457200" lvl="1" indent="-1714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fa-IR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457200" lvl="1" indent="-1714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Run your program for the table below.</a:t>
            </a:r>
            <a:endParaRPr lang="fa-IR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457200" lvl="1" indent="-1714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10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27D7923B-9E1B-B91A-362D-D18FF2A0516B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E04F1622-1905-2CA2-F30C-23BEBD4FF94D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438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1</a:t>
            </a:r>
            <a:r>
              <a:rPr lang="fa-IR" sz="1100" dirty="0">
                <a:solidFill>
                  <a:schemeClr val="accent3"/>
                </a:solidFill>
              </a:rPr>
              <a:t>3</a:t>
            </a:r>
            <a:endParaRPr lang="en" dirty="0">
              <a:solidFill>
                <a:schemeClr val="accent3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0EB270-AF77-52BD-FC6D-6C1EBD7FE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740634"/>
              </p:ext>
            </p:extLst>
          </p:nvPr>
        </p:nvGraphicFramePr>
        <p:xfrm>
          <a:off x="1676400" y="2887741"/>
          <a:ext cx="6096000" cy="1483360"/>
        </p:xfrm>
        <a:graphic>
          <a:graphicData uri="http://schemas.openxmlformats.org/drawingml/2006/table">
            <a:tbl>
              <a:tblPr firstRow="1" bandRow="1">
                <a:tableStyleId>{4BEAB1D1-4E42-4361-B4FD-13862715D387}</a:tableStyleId>
              </a:tblPr>
              <a:tblGrid>
                <a:gridCol w="906162">
                  <a:extLst>
                    <a:ext uri="{9D8B030D-6E8A-4147-A177-3AD203B41FA5}">
                      <a16:colId xmlns:a16="http://schemas.microsoft.com/office/drawing/2014/main" val="2993446251"/>
                    </a:ext>
                  </a:extLst>
                </a:gridCol>
                <a:gridCol w="2681416">
                  <a:extLst>
                    <a:ext uri="{9D8B030D-6E8A-4147-A177-3AD203B41FA5}">
                      <a16:colId xmlns:a16="http://schemas.microsoft.com/office/drawing/2014/main" val="2961175289"/>
                    </a:ext>
                  </a:extLst>
                </a:gridCol>
                <a:gridCol w="2508422">
                  <a:extLst>
                    <a:ext uri="{9D8B030D-6E8A-4147-A177-3AD203B41FA5}">
                      <a16:colId xmlns:a16="http://schemas.microsoft.com/office/drawing/2014/main" val="3312397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Side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Side </a:t>
                      </a:r>
                      <a:r>
                        <a:rPr lang="fa-IR" dirty="0">
                          <a:solidFill>
                            <a:schemeClr val="accent3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876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a-IR" dirty="0">
                          <a:solidFill>
                            <a:schemeClr val="accent3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dirty="0">
                          <a:solidFill>
                            <a:schemeClr val="accent3"/>
                          </a:solidFill>
                        </a:rPr>
                        <a:t>3.0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dirty="0">
                          <a:solidFill>
                            <a:schemeClr val="accent3"/>
                          </a:solidFill>
                        </a:rPr>
                        <a:t>4.0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594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a-IR" dirty="0">
                          <a:solidFill>
                            <a:schemeClr val="accent3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dirty="0">
                          <a:solidFill>
                            <a:schemeClr val="accent3"/>
                          </a:solidFill>
                        </a:rPr>
                        <a:t>5.0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dirty="0">
                          <a:solidFill>
                            <a:schemeClr val="accent3"/>
                          </a:solidFill>
                        </a:rPr>
                        <a:t>12.0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2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a-IR" dirty="0">
                          <a:solidFill>
                            <a:schemeClr val="accent3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dirty="0">
                          <a:solidFill>
                            <a:schemeClr val="accent3"/>
                          </a:solidFill>
                        </a:rPr>
                        <a:t>8.0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dirty="0">
                          <a:solidFill>
                            <a:schemeClr val="accent3"/>
                          </a:solidFill>
                        </a:rPr>
                        <a:t>15.0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742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182316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1073</Words>
  <Application>Microsoft Office PowerPoint</Application>
  <PresentationFormat>On-screen Show (16:9)</PresentationFormat>
  <Paragraphs>190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Fira Code</vt:lpstr>
      <vt:lpstr>Dana</vt:lpstr>
      <vt:lpstr>Arial</vt:lpstr>
      <vt:lpstr>B Nazanin</vt:lpstr>
      <vt:lpstr>Programming Language Workshop for Beginners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shayan naghizadeh</cp:lastModifiedBy>
  <cp:revision>34</cp:revision>
  <dcterms:modified xsi:type="dcterms:W3CDTF">2025-08-07T13:14:32Z</dcterms:modified>
</cp:coreProperties>
</file>