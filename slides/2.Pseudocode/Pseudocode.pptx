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4"/>
  </p:notesMasterIdLst>
  <p:sldIdLst>
    <p:sldId id="256" r:id="rId2"/>
    <p:sldId id="302" r:id="rId3"/>
    <p:sldId id="304" r:id="rId4"/>
    <p:sldId id="315" r:id="rId5"/>
    <p:sldId id="318" r:id="rId6"/>
    <p:sldId id="317" r:id="rId7"/>
    <p:sldId id="319" r:id="rId8"/>
    <p:sldId id="321" r:id="rId9"/>
    <p:sldId id="320" r:id="rId10"/>
    <p:sldId id="322" r:id="rId11"/>
    <p:sldId id="323" r:id="rId12"/>
    <p:sldId id="324" r:id="rId13"/>
  </p:sldIdLst>
  <p:sldSz cx="9144000" cy="5143500" type="screen16x9"/>
  <p:notesSz cx="6858000" cy="9144000"/>
  <p:embeddedFontLst>
    <p:embeddedFont>
      <p:font typeface="Consolas" panose="020B0609020204030204" pitchFamily="49" charset="0"/>
      <p:regular r:id="rId15"/>
      <p:bold r:id="rId16"/>
      <p:italic r:id="rId17"/>
      <p:boldItalic r:id="rId18"/>
    </p:embeddedFont>
    <p:embeddedFont>
      <p:font typeface="Dana" panose="020B0604020202020204" charset="0"/>
      <p:regular r:id="rId19"/>
      <p:bold r:id="rId20"/>
      <p:italic r:id="rId21"/>
      <p:boldItalic r:id="rId22"/>
    </p:embeddedFont>
    <p:embeddedFont>
      <p:font typeface="Fira Code" panose="020B0809050000020004" pitchFamily="49"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ayan naghizadeh" initials="sn" lastIdx="1" clrIdx="0">
    <p:extLst>
      <p:ext uri="{19B8F6BF-5375-455C-9EA6-DF929625EA0E}">
        <p15:presenceInfo xmlns:p15="http://schemas.microsoft.com/office/powerpoint/2012/main" userId="e53695f2bc6c929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506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EAB1D1-4E42-4361-B4FD-13862715D387}">
  <a:tblStyle styleId="{4BEAB1D1-4E42-4361-B4FD-13862715D38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94" autoAdjust="0"/>
    <p:restoredTop sz="90920" autoAdjust="0"/>
  </p:normalViewPr>
  <p:slideViewPr>
    <p:cSldViewPr snapToGrid="0">
      <p:cViewPr varScale="1">
        <p:scale>
          <a:sx n="155" d="100"/>
          <a:sy n="155" d="100"/>
        </p:scale>
        <p:origin x="330" y="114"/>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64F14AAE-DAFD-4678-933F-29E24F58F309}"/>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AE8AC989-3FD8-D00D-4618-E64596290B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15C52449-B22E-9729-3BCA-E14FB2775A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0692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E6BAFEF3-F860-8D17-C5EF-D41718ABC06B}"/>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C19F876A-2B31-6D1E-AB9A-AFF64BAF7B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BC54E4F1-EF5B-E115-5676-7566E70EA1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7454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99B2FD43-F170-208F-7478-CE4355112EE2}"/>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BDD8AA1A-6881-FC52-D6A1-F66B266E3E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10F4F48F-41DB-0321-1F04-A4B74CB49C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4838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99711B12-88B1-AD86-D8DF-E56450C53420}"/>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76B927CD-94DB-E712-6B4D-387331330F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98430A76-DB7B-9642-97C7-DBC0E365A3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532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BA7CD49F-F6A5-C493-CBD0-C7108058D697}"/>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9653B5CD-27B6-B908-E82F-228A7CBC5F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226EFF87-C7C7-0645-6B50-56C054E4BF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7964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C1769B7B-CA3B-1064-1E67-3F6D41960DEA}"/>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2F1B8288-7CE0-03E2-A944-73361B4AB3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A26B2284-BE54-F747-0600-832F5C540E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6397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5F01CC18-3036-D73D-64D8-F04465E3BA32}"/>
            </a:ext>
          </a:extLst>
        </p:cNvPr>
        <p:cNvGrpSpPr/>
        <p:nvPr/>
      </p:nvGrpSpPr>
      <p:grpSpPr>
        <a:xfrm>
          <a:off x="0" y="0"/>
          <a:ext cx="0" cy="0"/>
          <a:chOff x="0" y="0"/>
          <a:chExt cx="0" cy="0"/>
        </a:xfrm>
      </p:grpSpPr>
      <p:sp>
        <p:nvSpPr>
          <p:cNvPr id="455" name="Google Shape;455;ge7b5133482_0_0:notes">
            <a:extLst>
              <a:ext uri="{FF2B5EF4-FFF2-40B4-BE49-F238E27FC236}">
                <a16:creationId xmlns:a16="http://schemas.microsoft.com/office/drawing/2014/main" id="{48C943B7-E7DF-32E5-A500-E867CF2493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a:extLst>
              <a:ext uri="{FF2B5EF4-FFF2-40B4-BE49-F238E27FC236}">
                <a16:creationId xmlns:a16="http://schemas.microsoft.com/office/drawing/2014/main" id="{0331150B-6D83-CDF5-AE35-D4098AE56F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5020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542575"/>
            <a:ext cx="9144000" cy="4058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0" y="0"/>
            <a:ext cx="4572000" cy="592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413525" y="1144250"/>
            <a:ext cx="5788800" cy="5175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3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231025" y="2765300"/>
            <a:ext cx="6202800" cy="460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18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ubTitle" idx="2"/>
          </p:nvPr>
        </p:nvSpPr>
        <p:spPr>
          <a:xfrm>
            <a:off x="1788725" y="1761800"/>
            <a:ext cx="5788800" cy="4608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 name="Google Shape;14;p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5" name="Google Shape;15;p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6" name="Google Shape;16;p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7" name="Google Shape;17;p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8" name="Google Shape;18;p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9" name="Google Shape;19;p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0" name="Google Shape;20;p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1" name="Google Shape;21;p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2" name="Google Shape;22;p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3" name="Google Shape;23;p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4" name="Google Shape;24;p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5" name="Google Shape;25;p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6" name="Google Shape;26;p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7" name="Google Shape;27;p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ckground  1">
  <p:cSld name="CUSTOM_9_2">
    <p:spTree>
      <p:nvGrpSpPr>
        <p:cNvPr id="1" name="Shape 433"/>
        <p:cNvGrpSpPr/>
        <p:nvPr/>
      </p:nvGrpSpPr>
      <p:grpSpPr>
        <a:xfrm>
          <a:off x="0" y="0"/>
          <a:ext cx="0" cy="0"/>
          <a:chOff x="0" y="0"/>
          <a:chExt cx="0" cy="0"/>
        </a:xfrm>
      </p:grpSpPr>
      <p:sp>
        <p:nvSpPr>
          <p:cNvPr id="434" name="Google Shape;434;p2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4"/>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437" name="Google Shape;437;p2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438" name="Google Shape;438;p2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439" name="Google Shape;439;p2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440" name="Google Shape;440;p2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441" name="Google Shape;441;p2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442" name="Google Shape;442;p2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443" name="Google Shape;443;p2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444" name="Google Shape;444;p2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445" name="Google Shape;445;p2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446" name="Google Shape;446;p2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447" name="Google Shape;447;p2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448" name="Google Shape;448;p2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449" name="Google Shape;449;p2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Fira Code"/>
              <a:buNone/>
              <a:defRPr sz="2800">
                <a:solidFill>
                  <a:schemeClr val="lt1"/>
                </a:solidFill>
                <a:latin typeface="Fira Code"/>
                <a:ea typeface="Fira Code"/>
                <a:cs typeface="Fira Code"/>
                <a:sym typeface="Fira Code"/>
              </a:defRPr>
            </a:lvl1pPr>
            <a:lvl2pPr lvl="1">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2pPr>
            <a:lvl3pPr lvl="2">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3pPr>
            <a:lvl4pPr lvl="3">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4pPr>
            <a:lvl5pPr lvl="4">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5pPr>
            <a:lvl6pPr lvl="5">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6pPr>
            <a:lvl7pPr lvl="6">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7pPr>
            <a:lvl8pPr lvl="7">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8pPr>
            <a:lvl9pPr lvl="8">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1pPr>
            <a:lvl2pPr marL="914400" lvl="1"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2pPr>
            <a:lvl3pPr marL="1371600" lvl="2"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3pPr>
            <a:lvl4pPr marL="1828800" lvl="3"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4pPr>
            <a:lvl5pPr marL="2286000" lvl="4"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5pPr>
            <a:lvl6pPr marL="2743200" lvl="5"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6pPr>
            <a:lvl7pPr marL="3200400" lvl="6"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7pPr>
            <a:lvl8pPr marL="3657600" lvl="7"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8pPr>
            <a:lvl9pPr marL="4114800" lvl="8"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7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lockly-demo.appspot.com/static/demos/code/index.ht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12" name="AutoShape 4">
            <a:extLst>
              <a:ext uri="{FF2B5EF4-FFF2-40B4-BE49-F238E27FC236}">
                <a16:creationId xmlns:a16="http://schemas.microsoft.com/office/drawing/2014/main" id="{73A6F7C9-409A-797F-AF51-72A58DC2B3E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FC11551B-A0E0-5DE6-8932-5E917B79CC96}"/>
              </a:ext>
            </a:extLst>
          </p:cNvPr>
          <p:cNvPicPr>
            <a:picLocks noChangeAspect="1"/>
          </p:cNvPicPr>
          <p:nvPr/>
        </p:nvPicPr>
        <p:blipFill>
          <a:blip r:embed="rId3">
            <a:lum bright="70000" contrast="-70000"/>
          </a:blip>
          <a:stretch>
            <a:fillRect/>
          </a:stretch>
        </p:blipFill>
        <p:spPr>
          <a:xfrm>
            <a:off x="3784285" y="779086"/>
            <a:ext cx="1439504" cy="1498967"/>
          </a:xfrm>
          <a:prstGeom prst="rect">
            <a:avLst/>
          </a:prstGeom>
        </p:spPr>
      </p:pic>
      <p:sp>
        <p:nvSpPr>
          <p:cNvPr id="3" name="TextBox 2">
            <a:extLst>
              <a:ext uri="{FF2B5EF4-FFF2-40B4-BE49-F238E27FC236}">
                <a16:creationId xmlns:a16="http://schemas.microsoft.com/office/drawing/2014/main" id="{DC316944-4864-326E-1BA1-4FE283402845}"/>
              </a:ext>
            </a:extLst>
          </p:cNvPr>
          <p:cNvSpPr txBox="1"/>
          <p:nvPr/>
        </p:nvSpPr>
        <p:spPr>
          <a:xfrm>
            <a:off x="2458994" y="2468693"/>
            <a:ext cx="4226011" cy="890115"/>
          </a:xfrm>
          <a:prstGeom prst="rect">
            <a:avLst/>
          </a:prstGeom>
          <a:noFill/>
        </p:spPr>
        <p:txBody>
          <a:bodyPr wrap="square" rtlCol="0">
            <a:spAutoFit/>
          </a:bodyPr>
          <a:lstStyle/>
          <a:p>
            <a:pPr algn="ctr">
              <a:lnSpc>
                <a:spcPct val="150000"/>
              </a:lnSpc>
              <a:buClr>
                <a:schemeClr val="dk2"/>
              </a:buClr>
              <a:buSzPts val="1400"/>
            </a:pPr>
            <a:r>
              <a:rPr lang="en-US" sz="1200" b="1" dirty="0" err="1">
                <a:solidFill>
                  <a:schemeClr val="accent3"/>
                </a:solidFill>
                <a:latin typeface="Arial" panose="020B0604020202020204" pitchFamily="34" charset="0"/>
                <a:ea typeface="Fira Code"/>
                <a:cs typeface="Arial" panose="020B0604020202020204" pitchFamily="34" charset="0"/>
                <a:sym typeface="Fira Code"/>
              </a:rPr>
              <a:t>Amirkabir</a:t>
            </a:r>
            <a:r>
              <a:rPr lang="en-US" sz="1200" b="1" dirty="0">
                <a:solidFill>
                  <a:schemeClr val="accent3"/>
                </a:solidFill>
                <a:latin typeface="Arial" panose="020B0604020202020204" pitchFamily="34" charset="0"/>
                <a:ea typeface="Fira Code"/>
                <a:cs typeface="Arial" panose="020B0604020202020204" pitchFamily="34" charset="0"/>
                <a:sym typeface="Fira Code"/>
              </a:rPr>
              <a:t> University of Technology </a:t>
            </a:r>
          </a:p>
          <a:p>
            <a:pPr algn="ctr">
              <a:lnSpc>
                <a:spcPct val="150000"/>
              </a:lnSpc>
              <a:buClr>
                <a:schemeClr val="dk2"/>
              </a:buClr>
              <a:buSzPts val="1400"/>
            </a:pPr>
            <a:r>
              <a:rPr lang="en-US" sz="1200" b="1" dirty="0">
                <a:solidFill>
                  <a:schemeClr val="accent3"/>
                </a:solidFill>
                <a:latin typeface="Arial" panose="020B0604020202020204" pitchFamily="34" charset="0"/>
                <a:ea typeface="Fira Code"/>
                <a:cs typeface="Arial" panose="020B0604020202020204" pitchFamily="34" charset="0"/>
                <a:sym typeface="Fira Code"/>
              </a:rPr>
              <a:t>(Tehran Polytechnic)</a:t>
            </a:r>
          </a:p>
          <a:p>
            <a:pPr algn="ctr">
              <a:lnSpc>
                <a:spcPct val="150000"/>
              </a:lnSpc>
              <a:buClr>
                <a:schemeClr val="dk2"/>
              </a:buClr>
              <a:buSzPts val="1400"/>
            </a:pPr>
            <a:r>
              <a:rPr lang="en-US" sz="1200" b="1" dirty="0">
                <a:solidFill>
                  <a:schemeClr val="accent3"/>
                </a:solidFill>
                <a:latin typeface="Arial" panose="020B0604020202020204" pitchFamily="34" charset="0"/>
                <a:ea typeface="Fira Code"/>
                <a:cs typeface="Arial" panose="020B0604020202020204" pitchFamily="34" charset="0"/>
                <a:sym typeface="Fira Code"/>
              </a:rPr>
              <a:t>Department of Computer Engineering</a:t>
            </a:r>
          </a:p>
        </p:txBody>
      </p:sp>
      <p:sp>
        <p:nvSpPr>
          <p:cNvPr id="4" name="TextBox 3">
            <a:extLst>
              <a:ext uri="{FF2B5EF4-FFF2-40B4-BE49-F238E27FC236}">
                <a16:creationId xmlns:a16="http://schemas.microsoft.com/office/drawing/2014/main" id="{207A6683-0368-D71B-40CD-FD40AA8723E6}"/>
              </a:ext>
            </a:extLst>
          </p:cNvPr>
          <p:cNvSpPr txBox="1"/>
          <p:nvPr/>
        </p:nvSpPr>
        <p:spPr>
          <a:xfrm>
            <a:off x="4056105" y="3408151"/>
            <a:ext cx="1711411" cy="276999"/>
          </a:xfrm>
          <a:prstGeom prst="rect">
            <a:avLst/>
          </a:prstGeom>
          <a:noFill/>
        </p:spPr>
        <p:txBody>
          <a:bodyPr wrap="square" rtlCol="0">
            <a:spAutoFit/>
          </a:bodyPr>
          <a:lstStyle/>
          <a:p>
            <a:r>
              <a:rPr lang="en-US" sz="1200" dirty="0">
                <a:solidFill>
                  <a:schemeClr val="accent3"/>
                </a:solidFill>
                <a:latin typeface="Arial" panose="020B0604020202020204" pitchFamily="34" charset="0"/>
                <a:ea typeface="Fira Code"/>
                <a:cs typeface="Arial" panose="020B0604020202020204" pitchFamily="34" charset="0"/>
              </a:rPr>
              <a:t>Pseudocode</a:t>
            </a:r>
          </a:p>
        </p:txBody>
      </p:sp>
      <p:sp>
        <p:nvSpPr>
          <p:cNvPr id="6" name="Google Shape;473;p28">
            <a:extLst>
              <a:ext uri="{FF2B5EF4-FFF2-40B4-BE49-F238E27FC236}">
                <a16:creationId xmlns:a16="http://schemas.microsoft.com/office/drawing/2014/main" id="{56D2E39D-D7DD-7E61-CAF4-D32D5E7C3311}"/>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42CCD27B-1F3A-6104-A6A9-C9B968D4E554}"/>
            </a:ext>
          </a:extLst>
        </p:cNvPr>
        <p:cNvGrpSpPr/>
        <p:nvPr/>
      </p:nvGrpSpPr>
      <p:grpSpPr>
        <a:xfrm>
          <a:off x="0" y="0"/>
          <a:ext cx="0" cy="0"/>
          <a:chOff x="0" y="0"/>
          <a:chExt cx="0" cy="0"/>
        </a:xfrm>
      </p:grpSpPr>
      <p:sp>
        <p:nvSpPr>
          <p:cNvPr id="465" name="Google Shape;465;p27">
            <a:extLst>
              <a:ext uri="{FF2B5EF4-FFF2-40B4-BE49-F238E27FC236}">
                <a16:creationId xmlns:a16="http://schemas.microsoft.com/office/drawing/2014/main" id="{A264DF29-B9AC-EC90-9E40-A479F209C8F5}"/>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a:r>
              <a:rPr lang="en-US" sz="1000" dirty="0" err="1"/>
              <a:t>Pseudocode.c</a:t>
            </a:r>
            <a:endParaRPr sz="1000" dirty="0"/>
          </a:p>
        </p:txBody>
      </p:sp>
      <p:sp>
        <p:nvSpPr>
          <p:cNvPr id="12" name="AutoShape 4">
            <a:extLst>
              <a:ext uri="{FF2B5EF4-FFF2-40B4-BE49-F238E27FC236}">
                <a16:creationId xmlns:a16="http://schemas.microsoft.com/office/drawing/2014/main" id="{A14C772F-CD13-D2C6-DA77-ECB208271B0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Google Shape;814;p39">
            <a:extLst>
              <a:ext uri="{FF2B5EF4-FFF2-40B4-BE49-F238E27FC236}">
                <a16:creationId xmlns:a16="http://schemas.microsoft.com/office/drawing/2014/main" id="{D5D1F74F-26AC-B649-41DF-9B743FD77529}"/>
              </a:ext>
            </a:extLst>
          </p:cNvPr>
          <p:cNvSpPr txBox="1">
            <a:spLocks/>
          </p:cNvSpPr>
          <p:nvPr/>
        </p:nvSpPr>
        <p:spPr>
          <a:xfrm>
            <a:off x="1012073" y="270175"/>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Pseudocode</a:t>
            </a:r>
          </a:p>
        </p:txBody>
      </p:sp>
      <p:sp>
        <p:nvSpPr>
          <p:cNvPr id="5" name="TextBox 4">
            <a:extLst>
              <a:ext uri="{FF2B5EF4-FFF2-40B4-BE49-F238E27FC236}">
                <a16:creationId xmlns:a16="http://schemas.microsoft.com/office/drawing/2014/main" id="{D4F45892-AFD2-7DCF-C49C-EEB45D54FEE2}"/>
              </a:ext>
            </a:extLst>
          </p:cNvPr>
          <p:cNvSpPr txBox="1"/>
          <p:nvPr/>
        </p:nvSpPr>
        <p:spPr>
          <a:xfrm>
            <a:off x="1041255" y="991384"/>
            <a:ext cx="7756756" cy="954107"/>
          </a:xfrm>
          <a:prstGeom prst="rect">
            <a:avLst/>
          </a:prstGeom>
          <a:noFill/>
        </p:spPr>
        <p:txBody>
          <a:bodyPr wrap="square">
            <a:spAutoFit/>
          </a:bodyPr>
          <a:lstStyle/>
          <a:p>
            <a:pPr algn="just"/>
            <a:r>
              <a:rPr lang="en-US" dirty="0">
                <a:solidFill>
                  <a:schemeClr val="accent3"/>
                </a:solidFill>
                <a:latin typeface="Fira Code"/>
                <a:ea typeface="Fira Code"/>
                <a:cs typeface="B Nazanin" panose="00000400000000000000" pitchFamily="2" charset="-78"/>
              </a:rPr>
              <a:t>pseudocode is written in plain text and is not executable. However, to better understand the concept of actual code, we use a website that converts pseudocode into an executable program so that we can observe its output.</a:t>
            </a:r>
          </a:p>
        </p:txBody>
      </p:sp>
      <p:sp>
        <p:nvSpPr>
          <p:cNvPr id="7" name="TextBox 6">
            <a:extLst>
              <a:ext uri="{FF2B5EF4-FFF2-40B4-BE49-F238E27FC236}">
                <a16:creationId xmlns:a16="http://schemas.microsoft.com/office/drawing/2014/main" id="{E46E4E43-84A8-A77C-3D64-C29A6150A1A2}"/>
              </a:ext>
            </a:extLst>
          </p:cNvPr>
          <p:cNvSpPr txBox="1"/>
          <p:nvPr/>
        </p:nvSpPr>
        <p:spPr>
          <a:xfrm>
            <a:off x="1438381" y="2241829"/>
            <a:ext cx="1251122" cy="338554"/>
          </a:xfrm>
          <a:prstGeom prst="rect">
            <a:avLst/>
          </a:prstGeom>
          <a:noFill/>
        </p:spPr>
        <p:txBody>
          <a:bodyPr wrap="square">
            <a:spAutoFit/>
          </a:bodyPr>
          <a:lstStyle/>
          <a:p>
            <a:r>
              <a:rPr lang="en-US" sz="1600" b="1" u="sng" dirty="0" err="1">
                <a:solidFill>
                  <a:schemeClr val="bg1">
                    <a:lumMod val="75000"/>
                  </a:schemeClr>
                </a:solidFill>
                <a:hlinkClick r:id="rId3">
                  <a:extLst>
                    <a:ext uri="{A12FA001-AC4F-418D-AE19-62706E023703}">
                      <ahyp:hlinkClr xmlns:ahyp="http://schemas.microsoft.com/office/drawing/2018/hyperlinkcolor" val="tx"/>
                    </a:ext>
                  </a:extLst>
                </a:hlinkClick>
              </a:rPr>
              <a:t>Blockly</a:t>
            </a:r>
            <a:endParaRPr lang="en-US" b="1" u="sng" dirty="0">
              <a:solidFill>
                <a:schemeClr val="bg1">
                  <a:lumMod val="75000"/>
                </a:schemeClr>
              </a:solidFill>
            </a:endParaRPr>
          </a:p>
        </p:txBody>
      </p:sp>
      <p:sp>
        <p:nvSpPr>
          <p:cNvPr id="8" name="Arrow: Right 7">
            <a:extLst>
              <a:ext uri="{FF2B5EF4-FFF2-40B4-BE49-F238E27FC236}">
                <a16:creationId xmlns:a16="http://schemas.microsoft.com/office/drawing/2014/main" id="{E3AFD749-AB0E-7BBC-F6F4-C64B5F349DCF}"/>
              </a:ext>
            </a:extLst>
          </p:cNvPr>
          <p:cNvSpPr/>
          <p:nvPr/>
        </p:nvSpPr>
        <p:spPr>
          <a:xfrm>
            <a:off x="1072676" y="2267108"/>
            <a:ext cx="365705" cy="338554"/>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 name="Google Shape;473;p28">
            <a:extLst>
              <a:ext uri="{FF2B5EF4-FFF2-40B4-BE49-F238E27FC236}">
                <a16:creationId xmlns:a16="http://schemas.microsoft.com/office/drawing/2014/main" id="{B7079AC5-574C-BCB5-80CC-B33C003EA7B9}"/>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9" name="Google Shape;473;p28">
            <a:extLst>
              <a:ext uri="{FF2B5EF4-FFF2-40B4-BE49-F238E27FC236}">
                <a16:creationId xmlns:a16="http://schemas.microsoft.com/office/drawing/2014/main" id="{DAEFDE48-61AB-E1FC-BF7B-8B19310A483A}"/>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a:solidFill>
                  <a:schemeClr val="accent3"/>
                </a:solidFill>
              </a:rPr>
              <a:t>1</a:t>
            </a:r>
            <a:endParaRPr lang="en" dirty="0">
              <a:solidFill>
                <a:schemeClr val="accent3"/>
              </a:solidFill>
            </a:endParaRPr>
          </a:p>
        </p:txBody>
      </p:sp>
    </p:spTree>
    <p:extLst>
      <p:ext uri="{BB962C8B-B14F-4D97-AF65-F5344CB8AC3E}">
        <p14:creationId xmlns:p14="http://schemas.microsoft.com/office/powerpoint/2010/main" val="3379293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2CE61260-10DF-DA33-3205-1CA892D5322B}"/>
            </a:ext>
          </a:extLst>
        </p:cNvPr>
        <p:cNvGrpSpPr/>
        <p:nvPr/>
      </p:nvGrpSpPr>
      <p:grpSpPr>
        <a:xfrm>
          <a:off x="0" y="0"/>
          <a:ext cx="0" cy="0"/>
          <a:chOff x="0" y="0"/>
          <a:chExt cx="0" cy="0"/>
        </a:xfrm>
      </p:grpSpPr>
      <p:sp>
        <p:nvSpPr>
          <p:cNvPr id="12" name="AutoShape 4">
            <a:extLst>
              <a:ext uri="{FF2B5EF4-FFF2-40B4-BE49-F238E27FC236}">
                <a16:creationId xmlns:a16="http://schemas.microsoft.com/office/drawing/2014/main" id="{CF193697-870A-0A21-872D-502EED023E0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B4F3400F-4D56-2A75-2446-21192BFE31AA}"/>
              </a:ext>
            </a:extLst>
          </p:cNvPr>
          <p:cNvSpPr txBox="1"/>
          <p:nvPr/>
        </p:nvSpPr>
        <p:spPr>
          <a:xfrm>
            <a:off x="949567" y="1050910"/>
            <a:ext cx="7993294" cy="523220"/>
          </a:xfrm>
          <a:prstGeom prst="rect">
            <a:avLst/>
          </a:prstGeom>
          <a:noFill/>
          <a:effectLst>
            <a:outerShdw blurRad="50800" dist="38100" dir="10800000" algn="r" rotWithShape="0">
              <a:prstClr val="black">
                <a:alpha val="40000"/>
              </a:prstClr>
            </a:outerShdw>
          </a:effectLst>
        </p:spPr>
        <p:txBody>
          <a:bodyPr wrap="square">
            <a:spAutoFit/>
          </a:bodyPr>
          <a:lstStyle/>
          <a:p>
            <a:pPr algn="just">
              <a:buClr>
                <a:schemeClr val="accent3"/>
              </a:buClr>
            </a:pPr>
            <a:r>
              <a:rPr lang="en-US" dirty="0">
                <a:solidFill>
                  <a:schemeClr val="accent3"/>
                </a:solidFill>
                <a:latin typeface="Fira Code"/>
                <a:ea typeface="Fira Code"/>
                <a:cs typeface="B Nazanin" panose="00000400000000000000" pitchFamily="2" charset="-78"/>
              </a:rPr>
              <a:t>Write the pseudocode for swapping two numbers in this environment if the first number is greater than the second.</a:t>
            </a:r>
            <a:endParaRPr lang="fa-IR" dirty="0">
              <a:solidFill>
                <a:schemeClr val="accent3"/>
              </a:solidFill>
              <a:latin typeface="Fira Code"/>
              <a:ea typeface="Fira Code"/>
              <a:cs typeface="B Nazanin" panose="00000400000000000000" pitchFamily="2" charset="-78"/>
              <a:sym typeface="Fira Code"/>
            </a:endParaRPr>
          </a:p>
        </p:txBody>
      </p:sp>
      <p:sp>
        <p:nvSpPr>
          <p:cNvPr id="14" name="Google Shape;814;p39">
            <a:extLst>
              <a:ext uri="{FF2B5EF4-FFF2-40B4-BE49-F238E27FC236}">
                <a16:creationId xmlns:a16="http://schemas.microsoft.com/office/drawing/2014/main" id="{C19A912F-B0F2-76F2-AF7F-B7102176E4EB}"/>
              </a:ext>
            </a:extLst>
          </p:cNvPr>
          <p:cNvSpPr txBox="1">
            <a:spLocks/>
          </p:cNvSpPr>
          <p:nvPr/>
        </p:nvSpPr>
        <p:spPr>
          <a:xfrm>
            <a:off x="880262" y="197126"/>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Task</a:t>
            </a:r>
          </a:p>
        </p:txBody>
      </p:sp>
      <p:sp>
        <p:nvSpPr>
          <p:cNvPr id="3" name="Title 1">
            <a:extLst>
              <a:ext uri="{FF2B5EF4-FFF2-40B4-BE49-F238E27FC236}">
                <a16:creationId xmlns:a16="http://schemas.microsoft.com/office/drawing/2014/main" id="{9D3CC05C-69CD-1982-32B3-DEC32104184B}"/>
              </a:ext>
            </a:extLst>
          </p:cNvPr>
          <p:cNvSpPr txBox="1">
            <a:spLocks/>
          </p:cNvSpPr>
          <p:nvPr/>
        </p:nvSpPr>
        <p:spPr>
          <a:xfrm>
            <a:off x="1151701" y="1733273"/>
            <a:ext cx="1294937" cy="1882100"/>
          </a:xfrm>
          <a:prstGeom prst="rect">
            <a:avLst/>
          </a:prstGeom>
          <a:noFill/>
          <a:ln>
            <a:solidFill>
              <a:schemeClr val="accent5"/>
            </a:solid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48FFD5"/>
              </a:buClr>
              <a:buSzPts val="3000"/>
              <a:buFont typeface="Roboto Black"/>
              <a:buNone/>
              <a:defRPr sz="3000" b="0" i="0" u="none" strike="noStrike" cap="none">
                <a:solidFill>
                  <a:srgbClr val="48FFD5"/>
                </a:solidFill>
                <a:latin typeface="Roboto Black"/>
                <a:ea typeface="Roboto Black"/>
                <a:cs typeface="Roboto Black"/>
                <a:sym typeface="Roboto Black"/>
              </a:defRPr>
            </a:lvl1pPr>
            <a:lvl2pPr marR="0" lvl="1"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2pPr>
            <a:lvl3pPr marR="0" lvl="2"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3pPr>
            <a:lvl4pPr marR="0" lvl="3"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4pPr>
            <a:lvl5pPr marR="0" lvl="4"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5pPr>
            <a:lvl6pPr marR="0" lvl="5"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6pPr>
            <a:lvl7pPr marR="0" lvl="6"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7pPr>
            <a:lvl8pPr marR="0" lvl="7"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8pPr>
            <a:lvl9pPr marR="0" lvl="8" algn="r" rtl="0">
              <a:lnSpc>
                <a:spcPct val="100000"/>
              </a:lnSpc>
              <a:spcBef>
                <a:spcPts val="0"/>
              </a:spcBef>
              <a:spcAft>
                <a:spcPts val="0"/>
              </a:spcAft>
              <a:buClr>
                <a:srgbClr val="48FFD5"/>
              </a:buClr>
              <a:buSzPts val="3600"/>
              <a:buFont typeface="Bree Serif"/>
              <a:buNone/>
              <a:defRPr sz="3600" b="1" i="0" u="none" strike="noStrike" cap="none">
                <a:solidFill>
                  <a:srgbClr val="48FFD5"/>
                </a:solidFill>
                <a:latin typeface="Bree Serif"/>
                <a:ea typeface="Bree Serif"/>
                <a:cs typeface="Bree Serif"/>
                <a:sym typeface="Bree Serif"/>
              </a:defRPr>
            </a:lvl9pPr>
          </a:lstStyle>
          <a:p>
            <a:pPr algn="l"/>
            <a:r>
              <a:rPr lang="en-US" sz="1400" dirty="0">
                <a:solidFill>
                  <a:schemeClr val="accent6"/>
                </a:solidFill>
                <a:latin typeface="Dana" panose="00000500000000000000" pitchFamily="2" charset="-78"/>
                <a:cs typeface="Dana" panose="00000500000000000000" pitchFamily="2" charset="-78"/>
              </a:rPr>
              <a:t>1- a ← 20</a:t>
            </a:r>
          </a:p>
          <a:p>
            <a:pPr algn="l"/>
            <a:r>
              <a:rPr lang="en-US" sz="1400" dirty="0">
                <a:solidFill>
                  <a:schemeClr val="accent6"/>
                </a:solidFill>
                <a:latin typeface="Dana" panose="00000500000000000000" pitchFamily="2" charset="-78"/>
                <a:cs typeface="Dana" panose="00000500000000000000" pitchFamily="2" charset="-78"/>
              </a:rPr>
              <a:t>2- b ← 10</a:t>
            </a:r>
          </a:p>
          <a:p>
            <a:pPr algn="l"/>
            <a:r>
              <a:rPr lang="en-US" sz="1400" dirty="0">
                <a:solidFill>
                  <a:schemeClr val="accent6"/>
                </a:solidFill>
                <a:latin typeface="Dana" panose="00000500000000000000" pitchFamily="2" charset="-78"/>
                <a:cs typeface="Dana" panose="00000500000000000000" pitchFamily="2" charset="-78"/>
              </a:rPr>
              <a:t>3- if (a </a:t>
            </a:r>
            <a:r>
              <a:rPr lang="fa-IR" sz="1400" dirty="0">
                <a:solidFill>
                  <a:schemeClr val="accent6"/>
                </a:solidFill>
                <a:latin typeface="Dana" panose="00000500000000000000" pitchFamily="2" charset="-78"/>
                <a:cs typeface="Dana" panose="00000500000000000000" pitchFamily="2" charset="-78"/>
              </a:rPr>
              <a:t>&lt;</a:t>
            </a:r>
            <a:r>
              <a:rPr lang="en-US" sz="1400" dirty="0">
                <a:solidFill>
                  <a:schemeClr val="accent6"/>
                </a:solidFill>
                <a:latin typeface="Dana" panose="00000500000000000000" pitchFamily="2" charset="-78"/>
                <a:cs typeface="Dana" panose="00000500000000000000" pitchFamily="2" charset="-78"/>
              </a:rPr>
              <a:t> b)</a:t>
            </a:r>
          </a:p>
          <a:p>
            <a:pPr algn="l"/>
            <a:r>
              <a:rPr lang="en-US" sz="1400" dirty="0">
                <a:solidFill>
                  <a:schemeClr val="accent6"/>
                </a:solidFill>
                <a:latin typeface="Dana" panose="00000500000000000000" pitchFamily="2" charset="-78"/>
                <a:cs typeface="Dana" panose="00000500000000000000" pitchFamily="2" charset="-78"/>
              </a:rPr>
              <a:t>      temp ← a</a:t>
            </a:r>
          </a:p>
          <a:p>
            <a:pPr algn="l"/>
            <a:r>
              <a:rPr lang="en-US" sz="1400" dirty="0">
                <a:solidFill>
                  <a:schemeClr val="accent6"/>
                </a:solidFill>
                <a:latin typeface="Dana" panose="00000500000000000000" pitchFamily="2" charset="-78"/>
                <a:cs typeface="Dana" panose="00000500000000000000" pitchFamily="2" charset="-78"/>
              </a:rPr>
              <a:t>      a ← b</a:t>
            </a:r>
          </a:p>
          <a:p>
            <a:pPr algn="l"/>
            <a:r>
              <a:rPr lang="en-US" sz="1400" dirty="0">
                <a:solidFill>
                  <a:schemeClr val="accent6"/>
                </a:solidFill>
                <a:latin typeface="Dana" panose="00000500000000000000" pitchFamily="2" charset="-78"/>
                <a:cs typeface="Dana" panose="00000500000000000000" pitchFamily="2" charset="-78"/>
              </a:rPr>
              <a:t>      b ← temp</a:t>
            </a:r>
          </a:p>
          <a:p>
            <a:pPr algn="l"/>
            <a:r>
              <a:rPr lang="en-US" sz="1400" dirty="0">
                <a:solidFill>
                  <a:schemeClr val="accent6"/>
                </a:solidFill>
                <a:latin typeface="Dana" panose="00000500000000000000" pitchFamily="2" charset="-78"/>
                <a:cs typeface="Dana" panose="00000500000000000000" pitchFamily="2" charset="-78"/>
              </a:rPr>
              <a:t>4- print a</a:t>
            </a:r>
          </a:p>
          <a:p>
            <a:pPr algn="l"/>
            <a:r>
              <a:rPr lang="en-US" sz="1400" dirty="0">
                <a:solidFill>
                  <a:schemeClr val="accent6"/>
                </a:solidFill>
                <a:latin typeface="Dana" panose="00000500000000000000" pitchFamily="2" charset="-78"/>
                <a:cs typeface="Dana" panose="00000500000000000000" pitchFamily="2" charset="-78"/>
              </a:rPr>
              <a:t>5- print b </a:t>
            </a:r>
          </a:p>
        </p:txBody>
      </p:sp>
      <p:sp>
        <p:nvSpPr>
          <p:cNvPr id="7" name="TextBox 6">
            <a:extLst>
              <a:ext uri="{FF2B5EF4-FFF2-40B4-BE49-F238E27FC236}">
                <a16:creationId xmlns:a16="http://schemas.microsoft.com/office/drawing/2014/main" id="{02B84E8C-AA86-C0A7-C21C-33AE90EFAD16}"/>
              </a:ext>
            </a:extLst>
          </p:cNvPr>
          <p:cNvSpPr txBox="1"/>
          <p:nvPr/>
        </p:nvSpPr>
        <p:spPr>
          <a:xfrm>
            <a:off x="1078741" y="3946096"/>
            <a:ext cx="6681718" cy="338554"/>
          </a:xfrm>
          <a:prstGeom prst="rect">
            <a:avLst/>
          </a:prstGeom>
          <a:noFill/>
        </p:spPr>
        <p:txBody>
          <a:bodyPr wrap="square">
            <a:spAutoFit/>
          </a:bodyPr>
          <a:lstStyle/>
          <a:p>
            <a:r>
              <a:rPr lang="en-US" sz="1600" dirty="0">
                <a:solidFill>
                  <a:schemeClr val="accent3"/>
                </a:solidFill>
                <a:latin typeface="Fira Code"/>
                <a:ea typeface="Fira Code"/>
                <a:cs typeface="B Nazanin" panose="00000400000000000000" pitchFamily="2" charset="-78"/>
              </a:rPr>
              <a:t>Press the</a:t>
            </a:r>
            <a:r>
              <a:rPr lang="fa-IR" sz="1600" dirty="0">
                <a:solidFill>
                  <a:schemeClr val="accent3"/>
                </a:solidFill>
                <a:latin typeface="Fira Code"/>
                <a:ea typeface="Fira Code"/>
                <a:cs typeface="B Nazanin" panose="00000400000000000000" pitchFamily="2" charset="-78"/>
              </a:rPr>
              <a:t>   </a:t>
            </a:r>
            <a:r>
              <a:rPr lang="en-US" sz="1600" dirty="0">
                <a:solidFill>
                  <a:schemeClr val="accent3"/>
                </a:solidFill>
                <a:latin typeface="Fira Code"/>
                <a:ea typeface="Fira Code"/>
                <a:cs typeface="B Nazanin" panose="00000400000000000000" pitchFamily="2" charset="-78"/>
              </a:rPr>
              <a:t>red </a:t>
            </a:r>
            <a:r>
              <a:rPr lang="en-US" sz="1600" dirty="0">
                <a:solidFill>
                  <a:srgbClr val="FF0000"/>
                </a:solidFill>
                <a:latin typeface="Fira Code"/>
                <a:ea typeface="Fira Code"/>
                <a:cs typeface="B Nazanin" panose="00000400000000000000" pitchFamily="2" charset="-78"/>
              </a:rPr>
              <a:t>button</a:t>
            </a:r>
            <a:r>
              <a:rPr lang="en-US" sz="1600" dirty="0"/>
              <a:t> </a:t>
            </a:r>
            <a:r>
              <a:rPr lang="en-US" sz="1600" dirty="0">
                <a:solidFill>
                  <a:schemeClr val="accent3"/>
                </a:solidFill>
                <a:latin typeface="Fira Code"/>
                <a:ea typeface="Fira Code"/>
                <a:cs typeface="B Nazanin" panose="00000400000000000000" pitchFamily="2" charset="-78"/>
              </a:rPr>
              <a:t>to run your program</a:t>
            </a:r>
            <a:r>
              <a:rPr lang="en-US" dirty="0">
                <a:solidFill>
                  <a:schemeClr val="accent3"/>
                </a:solidFill>
                <a:latin typeface="Fira Code"/>
                <a:ea typeface="Fira Code"/>
                <a:cs typeface="B Nazanin" panose="00000400000000000000" pitchFamily="2" charset="-78"/>
              </a:rPr>
              <a:t>.</a:t>
            </a:r>
            <a:endParaRPr lang="en-US" dirty="0"/>
          </a:p>
        </p:txBody>
      </p:sp>
      <p:sp>
        <p:nvSpPr>
          <p:cNvPr id="8" name="Google Shape;473;p28">
            <a:extLst>
              <a:ext uri="{FF2B5EF4-FFF2-40B4-BE49-F238E27FC236}">
                <a16:creationId xmlns:a16="http://schemas.microsoft.com/office/drawing/2014/main" id="{3BD38F00-D6E4-82DB-2AC4-7572CF4A4904}"/>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9" name="Google Shape;473;p28">
            <a:extLst>
              <a:ext uri="{FF2B5EF4-FFF2-40B4-BE49-F238E27FC236}">
                <a16:creationId xmlns:a16="http://schemas.microsoft.com/office/drawing/2014/main" id="{0B9D509C-6139-1BA4-3A2E-2C39E20BB25C}"/>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2</a:t>
            </a:r>
            <a:endParaRPr lang="en" dirty="0">
              <a:solidFill>
                <a:schemeClr val="accent3"/>
              </a:solidFill>
            </a:endParaRPr>
          </a:p>
        </p:txBody>
      </p:sp>
      <p:sp>
        <p:nvSpPr>
          <p:cNvPr id="2" name="Google Shape;465;p27">
            <a:extLst>
              <a:ext uri="{FF2B5EF4-FFF2-40B4-BE49-F238E27FC236}">
                <a16:creationId xmlns:a16="http://schemas.microsoft.com/office/drawing/2014/main" id="{D23137F7-1F3E-2369-D25B-81471B8BFC9F}"/>
              </a:ext>
            </a:extLst>
          </p:cNvPr>
          <p:cNvSpPr txBox="1">
            <a:spLocks/>
          </p:cNvSpPr>
          <p:nvPr/>
        </p:nvSpPr>
        <p:spPr>
          <a:xfrm>
            <a:off x="4419600" y="88068"/>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sym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9pPr>
          </a:lstStyle>
          <a:p>
            <a:pPr marL="0" indent="0" algn="ctr"/>
            <a:r>
              <a:rPr lang="en-US" sz="1000" dirty="0"/>
              <a:t>Task1</a:t>
            </a:r>
          </a:p>
        </p:txBody>
      </p:sp>
      <p:sp>
        <p:nvSpPr>
          <p:cNvPr id="10" name="Google Shape;465;p27">
            <a:extLst>
              <a:ext uri="{FF2B5EF4-FFF2-40B4-BE49-F238E27FC236}">
                <a16:creationId xmlns:a16="http://schemas.microsoft.com/office/drawing/2014/main" id="{70A154E9-CFA5-7587-BD5D-51E1076669A7}"/>
              </a:ext>
            </a:extLst>
          </p:cNvPr>
          <p:cNvSpPr txBox="1">
            <a:spLocks/>
          </p:cNvSpPr>
          <p:nvPr/>
        </p:nvSpPr>
        <p:spPr>
          <a:xfrm>
            <a:off x="-5975"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sym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9pPr>
          </a:lstStyle>
          <a:p>
            <a:pPr marL="0" indent="0" algn="ctr"/>
            <a:r>
              <a:rPr lang="en-US" sz="1000"/>
              <a:t>Pseudocode.c</a:t>
            </a:r>
            <a:endParaRPr lang="en-US" sz="1000" dirty="0"/>
          </a:p>
        </p:txBody>
      </p:sp>
    </p:spTree>
    <p:extLst>
      <p:ext uri="{BB962C8B-B14F-4D97-AF65-F5344CB8AC3E}">
        <p14:creationId xmlns:p14="http://schemas.microsoft.com/office/powerpoint/2010/main" val="3307228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450A1FAB-6262-56E4-CA9E-42F070098A75}"/>
            </a:ext>
          </a:extLst>
        </p:cNvPr>
        <p:cNvGrpSpPr/>
        <p:nvPr/>
      </p:nvGrpSpPr>
      <p:grpSpPr>
        <a:xfrm>
          <a:off x="0" y="0"/>
          <a:ext cx="0" cy="0"/>
          <a:chOff x="0" y="0"/>
          <a:chExt cx="0" cy="0"/>
        </a:xfrm>
      </p:grpSpPr>
      <p:sp>
        <p:nvSpPr>
          <p:cNvPr id="465" name="Google Shape;465;p27">
            <a:extLst>
              <a:ext uri="{FF2B5EF4-FFF2-40B4-BE49-F238E27FC236}">
                <a16:creationId xmlns:a16="http://schemas.microsoft.com/office/drawing/2014/main" id="{1D26DE3A-F424-6B77-C45B-EAAF9D1F55DA}"/>
              </a:ext>
            </a:extLst>
          </p:cNvPr>
          <p:cNvSpPr txBox="1">
            <a:spLocks noGrp="1"/>
          </p:cNvSpPr>
          <p:nvPr>
            <p:ph type="subTitle" idx="1"/>
          </p:nvPr>
        </p:nvSpPr>
        <p:spPr>
          <a:xfrm>
            <a:off x="4572000" y="119352"/>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a:t>Task2</a:t>
            </a:r>
            <a:endParaRPr sz="1000" dirty="0"/>
          </a:p>
        </p:txBody>
      </p:sp>
      <p:sp>
        <p:nvSpPr>
          <p:cNvPr id="12" name="AutoShape 4">
            <a:extLst>
              <a:ext uri="{FF2B5EF4-FFF2-40B4-BE49-F238E27FC236}">
                <a16:creationId xmlns:a16="http://schemas.microsoft.com/office/drawing/2014/main" id="{6EEE5ACE-0647-5621-11E9-0121E943A23A}"/>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3026D24D-46D9-4F33-A92D-249CE76416C5}"/>
              </a:ext>
            </a:extLst>
          </p:cNvPr>
          <p:cNvSpPr txBox="1"/>
          <p:nvPr/>
        </p:nvSpPr>
        <p:spPr>
          <a:xfrm>
            <a:off x="1007076" y="1050910"/>
            <a:ext cx="8071061" cy="3108543"/>
          </a:xfrm>
          <a:prstGeom prst="rect">
            <a:avLst/>
          </a:prstGeom>
          <a:noFill/>
          <a:effectLst>
            <a:outerShdw blurRad="50800" dist="38100" dir="10800000" algn="r" rotWithShape="0">
              <a:prstClr val="black">
                <a:alpha val="40000"/>
              </a:prstClr>
            </a:outerShdw>
          </a:effectLst>
        </p:spPr>
        <p:txBody>
          <a:bodyPr wrap="square">
            <a:spAutoFit/>
          </a:bodyPr>
          <a:lstStyle/>
          <a:p>
            <a:pPr algn="just"/>
            <a:r>
              <a:rPr lang="en-US" sz="1600" dirty="0">
                <a:solidFill>
                  <a:schemeClr val="accent3"/>
                </a:solidFill>
                <a:latin typeface="Fira Code"/>
                <a:ea typeface="Fira Code"/>
                <a:cs typeface="B Nazanin" panose="00000400000000000000" pitchFamily="2" charset="-78"/>
              </a:rPr>
              <a:t>Write a pseudocode that can perform this task and, given two numbers, calculates and outputs their Greatest Common Divisor</a:t>
            </a:r>
            <a:r>
              <a:rPr lang="fa-IR" sz="1600" dirty="0">
                <a:solidFill>
                  <a:schemeClr val="accent3"/>
                </a:solidFill>
                <a:latin typeface="Fira Code"/>
                <a:ea typeface="Fira Code"/>
                <a:cs typeface="B Nazanin" panose="00000400000000000000" pitchFamily="2" charset="-78"/>
              </a:rPr>
              <a:t> )</a:t>
            </a:r>
            <a:r>
              <a:rPr lang="en-US" sz="1600" dirty="0">
                <a:solidFill>
                  <a:schemeClr val="accent3"/>
                </a:solidFill>
                <a:latin typeface="Fira Code"/>
                <a:ea typeface="Fira Code"/>
                <a:cs typeface="B Nazanin" panose="00000400000000000000" pitchFamily="2" charset="-78"/>
              </a:rPr>
              <a:t>GCD</a:t>
            </a:r>
            <a:r>
              <a:rPr lang="fa-IR" sz="1600" dirty="0">
                <a:solidFill>
                  <a:schemeClr val="accent3"/>
                </a:solidFill>
                <a:latin typeface="Fira Code"/>
                <a:ea typeface="Fira Code"/>
                <a:cs typeface="B Nazanin" panose="00000400000000000000" pitchFamily="2" charset="-78"/>
              </a:rPr>
              <a:t>(</a:t>
            </a:r>
            <a:r>
              <a:rPr lang="en-US" sz="1600" dirty="0">
                <a:solidFill>
                  <a:schemeClr val="accent3"/>
                </a:solidFill>
                <a:latin typeface="Fira Code"/>
                <a:ea typeface="Fira Code"/>
                <a:cs typeface="B Nazanin" panose="00000400000000000000" pitchFamily="2" charset="-78"/>
              </a:rPr>
              <a:t>.</a:t>
            </a:r>
            <a:endParaRPr lang="fa-IR" sz="1600" dirty="0">
              <a:solidFill>
                <a:schemeClr val="accent3"/>
              </a:solidFill>
              <a:latin typeface="Fira Code"/>
              <a:ea typeface="Fira Code"/>
              <a:cs typeface="B Nazanin" panose="00000400000000000000" pitchFamily="2" charset="-78"/>
            </a:endParaRPr>
          </a:p>
          <a:p>
            <a:pPr algn="just"/>
            <a:endParaRPr lang="fa-IR" sz="1600" dirty="0">
              <a:solidFill>
                <a:schemeClr val="accent3"/>
              </a:solidFill>
              <a:latin typeface="Fira Code"/>
              <a:ea typeface="Fira Code"/>
              <a:cs typeface="B Nazanin" panose="00000400000000000000" pitchFamily="2" charset="-78"/>
            </a:endParaRPr>
          </a:p>
          <a:p>
            <a:pPr algn="just"/>
            <a:r>
              <a:rPr lang="en-US" sz="1600" b="1" dirty="0">
                <a:solidFill>
                  <a:srgbClr val="FF0000"/>
                </a:solidFill>
                <a:latin typeface="Fira Code"/>
                <a:ea typeface="Fira Code"/>
                <a:cs typeface="B Nazanin" panose="00000400000000000000" pitchFamily="2" charset="-78"/>
              </a:rPr>
              <a:t>Input</a:t>
            </a:r>
            <a:r>
              <a:rPr lang="en-US" sz="1600" dirty="0">
                <a:solidFill>
                  <a:srgbClr val="FF0000"/>
                </a:solidFill>
                <a:latin typeface="Fira Code"/>
                <a:ea typeface="Fira Code"/>
                <a:cs typeface="B Nazanin" panose="00000400000000000000" pitchFamily="2" charset="-78"/>
              </a:rPr>
              <a:t>:</a:t>
            </a:r>
          </a:p>
          <a:p>
            <a:pPr algn="just"/>
            <a:endParaRPr lang="fa-IR" sz="1600" dirty="0">
              <a:solidFill>
                <a:srgbClr val="FF0000"/>
              </a:solidFill>
              <a:latin typeface="Fira Code"/>
              <a:ea typeface="Fira Code"/>
              <a:cs typeface="B Nazanin" panose="00000400000000000000" pitchFamily="2" charset="-78"/>
            </a:endParaRPr>
          </a:p>
          <a:p>
            <a:pPr algn="just"/>
            <a:r>
              <a:rPr lang="en-US" sz="1200" dirty="0">
                <a:solidFill>
                  <a:srgbClr val="FF0000"/>
                </a:solidFill>
                <a:latin typeface="Fira Code"/>
                <a:ea typeface="Fira Code"/>
                <a:cs typeface="B Nazanin" panose="00000400000000000000" pitchFamily="2" charset="-78"/>
              </a:rPr>
              <a:t>GCD(12, 18)</a:t>
            </a:r>
            <a:endParaRPr lang="fa-IR" sz="1200" dirty="0">
              <a:solidFill>
                <a:srgbClr val="FF0000"/>
              </a:solidFill>
              <a:latin typeface="Fira Code"/>
              <a:ea typeface="Fira Code"/>
              <a:cs typeface="B Nazanin" panose="00000400000000000000" pitchFamily="2" charset="-78"/>
            </a:endParaRPr>
          </a:p>
          <a:p>
            <a:pPr algn="just"/>
            <a:r>
              <a:rPr lang="en-US" sz="1200" dirty="0">
                <a:solidFill>
                  <a:srgbClr val="FF0000"/>
                </a:solidFill>
                <a:latin typeface="Fira Code"/>
                <a:ea typeface="Fira Code"/>
                <a:cs typeface="B Nazanin" panose="00000400000000000000" pitchFamily="2" charset="-78"/>
              </a:rPr>
              <a:t>GCD(8, 20)</a:t>
            </a:r>
          </a:p>
          <a:p>
            <a:pPr algn="just"/>
            <a:endParaRPr lang="en-US" sz="1200" dirty="0">
              <a:solidFill>
                <a:srgbClr val="FF0000"/>
              </a:solidFill>
              <a:latin typeface="Fira Code"/>
              <a:ea typeface="Fira Code"/>
              <a:cs typeface="B Nazanin" panose="00000400000000000000" pitchFamily="2" charset="-78"/>
            </a:endParaRPr>
          </a:p>
          <a:p>
            <a:pPr algn="just"/>
            <a:r>
              <a:rPr lang="en-US" sz="1600" b="1" dirty="0">
                <a:solidFill>
                  <a:srgbClr val="FF0000"/>
                </a:solidFill>
                <a:latin typeface="Fira Code"/>
                <a:ea typeface="Fira Code"/>
                <a:cs typeface="B Nazanin" panose="00000400000000000000" pitchFamily="2" charset="-78"/>
              </a:rPr>
              <a:t>Output:</a:t>
            </a:r>
          </a:p>
          <a:p>
            <a:pPr algn="just"/>
            <a:endParaRPr lang="en-US" sz="1200" dirty="0">
              <a:solidFill>
                <a:srgbClr val="FF0000"/>
              </a:solidFill>
              <a:latin typeface="Fira Code"/>
              <a:ea typeface="Fira Code"/>
              <a:cs typeface="B Nazanin" panose="00000400000000000000" pitchFamily="2" charset="-78"/>
            </a:endParaRPr>
          </a:p>
          <a:p>
            <a:pPr algn="just"/>
            <a:r>
              <a:rPr lang="en-US" sz="1200" dirty="0">
                <a:solidFill>
                  <a:srgbClr val="FF0000"/>
                </a:solidFill>
                <a:latin typeface="Fira Code"/>
                <a:ea typeface="Fira Code"/>
                <a:cs typeface="B Nazanin" panose="00000400000000000000" pitchFamily="2" charset="-78"/>
              </a:rPr>
              <a:t>6</a:t>
            </a:r>
          </a:p>
          <a:p>
            <a:pPr algn="just"/>
            <a:r>
              <a:rPr lang="en-US" sz="1200" dirty="0">
                <a:solidFill>
                  <a:srgbClr val="FF0000"/>
                </a:solidFill>
                <a:latin typeface="Fira Code"/>
                <a:ea typeface="Fira Code"/>
                <a:cs typeface="B Nazanin" panose="00000400000000000000" pitchFamily="2" charset="-78"/>
              </a:rPr>
              <a:t>4</a:t>
            </a:r>
          </a:p>
          <a:p>
            <a:pPr algn="just"/>
            <a:endParaRPr lang="en-US" sz="1200" dirty="0">
              <a:solidFill>
                <a:schemeClr val="accent3"/>
              </a:solidFill>
              <a:latin typeface="Fira Code"/>
              <a:ea typeface="Fira Code"/>
              <a:cs typeface="B Nazanin" panose="00000400000000000000" pitchFamily="2" charset="-78"/>
            </a:endParaRPr>
          </a:p>
        </p:txBody>
      </p:sp>
      <p:sp>
        <p:nvSpPr>
          <p:cNvPr id="14" name="Google Shape;814;p39">
            <a:extLst>
              <a:ext uri="{FF2B5EF4-FFF2-40B4-BE49-F238E27FC236}">
                <a16:creationId xmlns:a16="http://schemas.microsoft.com/office/drawing/2014/main" id="{C33D1EBE-3C87-B68F-F050-46CC4A8E2011}"/>
              </a:ext>
            </a:extLst>
          </p:cNvPr>
          <p:cNvSpPr txBox="1">
            <a:spLocks/>
          </p:cNvSpPr>
          <p:nvPr/>
        </p:nvSpPr>
        <p:spPr>
          <a:xfrm>
            <a:off x="898797" y="197126"/>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Task</a:t>
            </a:r>
          </a:p>
        </p:txBody>
      </p:sp>
      <p:sp>
        <p:nvSpPr>
          <p:cNvPr id="5" name="Rectangle 1">
            <a:extLst>
              <a:ext uri="{FF2B5EF4-FFF2-40B4-BE49-F238E27FC236}">
                <a16:creationId xmlns:a16="http://schemas.microsoft.com/office/drawing/2014/main" id="{1831F3F6-A23A-82E4-61CE-A280065E272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Google Shape;473;p28">
            <a:extLst>
              <a:ext uri="{FF2B5EF4-FFF2-40B4-BE49-F238E27FC236}">
                <a16:creationId xmlns:a16="http://schemas.microsoft.com/office/drawing/2014/main" id="{920E65B7-40DC-45AC-B3D7-4E5FC1350036}"/>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8" name="Google Shape;473;p28">
            <a:extLst>
              <a:ext uri="{FF2B5EF4-FFF2-40B4-BE49-F238E27FC236}">
                <a16:creationId xmlns:a16="http://schemas.microsoft.com/office/drawing/2014/main" id="{61B09286-176A-DF71-1061-3E85BA2BC62A}"/>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3</a:t>
            </a:r>
            <a:endParaRPr lang="en" dirty="0">
              <a:solidFill>
                <a:schemeClr val="accent3"/>
              </a:solidFill>
            </a:endParaRPr>
          </a:p>
        </p:txBody>
      </p:sp>
      <p:sp>
        <p:nvSpPr>
          <p:cNvPr id="2" name="Google Shape;465;p27">
            <a:extLst>
              <a:ext uri="{FF2B5EF4-FFF2-40B4-BE49-F238E27FC236}">
                <a16:creationId xmlns:a16="http://schemas.microsoft.com/office/drawing/2014/main" id="{7995AC60-00E8-6E23-34EB-1DDE8D57F257}"/>
              </a:ext>
            </a:extLst>
          </p:cNvPr>
          <p:cNvSpPr txBox="1">
            <a:spLocks/>
          </p:cNvSpPr>
          <p:nvPr/>
        </p:nvSpPr>
        <p:spPr>
          <a:xfrm>
            <a:off x="-5975"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sym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9pPr>
          </a:lstStyle>
          <a:p>
            <a:pPr marL="0" indent="0" algn="ctr"/>
            <a:r>
              <a:rPr lang="en-US" sz="1000"/>
              <a:t>Pseudocode.c</a:t>
            </a:r>
            <a:endParaRPr lang="en-US" sz="1000" dirty="0"/>
          </a:p>
        </p:txBody>
      </p:sp>
    </p:spTree>
    <p:extLst>
      <p:ext uri="{BB962C8B-B14F-4D97-AF65-F5344CB8AC3E}">
        <p14:creationId xmlns:p14="http://schemas.microsoft.com/office/powerpoint/2010/main" val="1504019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3A25C8F9-DB94-FEE9-CD34-895EB7C384E2}"/>
            </a:ext>
          </a:extLst>
        </p:cNvPr>
        <p:cNvGrpSpPr/>
        <p:nvPr/>
      </p:nvGrpSpPr>
      <p:grpSpPr>
        <a:xfrm>
          <a:off x="0" y="0"/>
          <a:ext cx="0" cy="0"/>
          <a:chOff x="0" y="0"/>
          <a:chExt cx="0" cy="0"/>
        </a:xfrm>
      </p:grpSpPr>
      <p:sp>
        <p:nvSpPr>
          <p:cNvPr id="465" name="Google Shape;465;p27">
            <a:extLst>
              <a:ext uri="{FF2B5EF4-FFF2-40B4-BE49-F238E27FC236}">
                <a16:creationId xmlns:a16="http://schemas.microsoft.com/office/drawing/2014/main" id="{3AC1070E-E111-EFAA-CC94-39D18548518A}"/>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err="1"/>
              <a:t>input.c</a:t>
            </a:r>
            <a:endParaRPr sz="1000" dirty="0"/>
          </a:p>
        </p:txBody>
      </p:sp>
      <p:sp>
        <p:nvSpPr>
          <p:cNvPr id="12" name="AutoShape 4">
            <a:extLst>
              <a:ext uri="{FF2B5EF4-FFF2-40B4-BE49-F238E27FC236}">
                <a16:creationId xmlns:a16="http://schemas.microsoft.com/office/drawing/2014/main" id="{1AFF3F40-4274-C9BD-AA32-75FE5F1E02B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04A81A25-F634-EB74-7113-814D236F056A}"/>
              </a:ext>
            </a:extLst>
          </p:cNvPr>
          <p:cNvSpPr txBox="1"/>
          <p:nvPr/>
        </p:nvSpPr>
        <p:spPr>
          <a:xfrm>
            <a:off x="945292" y="833050"/>
            <a:ext cx="8071061" cy="3454792"/>
          </a:xfrm>
          <a:prstGeom prst="rect">
            <a:avLst/>
          </a:prstGeom>
          <a:noFill/>
          <a:effectLst>
            <a:outerShdw blurRad="50800" dist="38100" dir="10800000" algn="r" rotWithShape="0">
              <a:prstClr val="black">
                <a:alpha val="40000"/>
              </a:prstClr>
            </a:outerShdw>
          </a:effectLst>
        </p:spPr>
        <p:txBody>
          <a:bodyPr wrap="square">
            <a:spAutoFit/>
          </a:bodyPr>
          <a:lstStyle/>
          <a:p>
            <a:pPr algn="just"/>
            <a:r>
              <a:rPr lang="en-US" dirty="0">
                <a:solidFill>
                  <a:schemeClr val="accent3"/>
                </a:solidFill>
                <a:latin typeface="Fira Code"/>
                <a:ea typeface="Fira Code"/>
                <a:cs typeface="B Nazanin" panose="00000400000000000000" pitchFamily="2" charset="-78"/>
              </a:rPr>
              <a:t>If we are supposed to get an </a:t>
            </a:r>
            <a:r>
              <a:rPr lang="en-US" b="1" dirty="0">
                <a:solidFill>
                  <a:schemeClr val="accent3"/>
                </a:solidFill>
                <a:latin typeface="Fira Code"/>
                <a:ea typeface="Fira Code"/>
                <a:cs typeface="B Nazanin" panose="00000400000000000000" pitchFamily="2" charset="-78"/>
              </a:rPr>
              <a:t>input</a:t>
            </a:r>
            <a:r>
              <a:rPr lang="en-US" dirty="0">
                <a:solidFill>
                  <a:schemeClr val="accent3"/>
                </a:solidFill>
                <a:latin typeface="Fira Code"/>
                <a:ea typeface="Fira Code"/>
                <a:cs typeface="B Nazanin" panose="00000400000000000000" pitchFamily="2" charset="-78"/>
              </a:rPr>
              <a:t> from the user, how do we do that? </a:t>
            </a:r>
            <a:r>
              <a:rPr lang="en-US" dirty="0" err="1">
                <a:solidFill>
                  <a:srgbClr val="FF0000"/>
                </a:solidFill>
                <a:latin typeface="Fira Code"/>
                <a:ea typeface="Fira Code"/>
                <a:cs typeface="B Nazanin" panose="00000400000000000000" pitchFamily="2" charset="-78"/>
              </a:rPr>
              <a:t>scanf</a:t>
            </a:r>
            <a:endParaRPr lang="fa-IR" b="1" dirty="0">
              <a:solidFill>
                <a:srgbClr val="FF0000"/>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r>
              <a:rPr lang="en-US" dirty="0">
                <a:solidFill>
                  <a:schemeClr val="accent3"/>
                </a:solidFill>
                <a:latin typeface="Fira Code"/>
                <a:ea typeface="Fira Code"/>
                <a:cs typeface="B Nazanin" panose="00000400000000000000" pitchFamily="2" charset="-78"/>
              </a:rPr>
              <a:t>syntax:</a:t>
            </a:r>
            <a:endParaRPr lang="fa-IR" dirty="0">
              <a:solidFill>
                <a:schemeClr val="accent3"/>
              </a:solidFill>
              <a:latin typeface="Fira Code"/>
              <a:ea typeface="Fira Code"/>
              <a:cs typeface="B Nazanin" panose="00000400000000000000" pitchFamily="2" charset="-78"/>
            </a:endParaRPr>
          </a:p>
          <a:p>
            <a:pPr algn="just"/>
            <a:endParaRPr lang="en-US" dirty="0">
              <a:solidFill>
                <a:schemeClr val="accent6"/>
              </a:solidFill>
              <a:latin typeface="Consolas" panose="020B0609020204030204" pitchFamily="49" charset="0"/>
            </a:endParaRPr>
          </a:p>
          <a:p>
            <a:pPr algn="just"/>
            <a:endParaRPr lang="en-US" sz="1600" dirty="0">
              <a:solidFill>
                <a:schemeClr val="accent6"/>
              </a:solidFill>
              <a:latin typeface="Consolas" panose="020B0609020204030204" pitchFamily="49" charset="0"/>
            </a:endParaRPr>
          </a:p>
          <a:p>
            <a:pPr algn="just"/>
            <a:r>
              <a:rPr lang="en-US" sz="2400" dirty="0">
                <a:solidFill>
                  <a:schemeClr val="accent2"/>
                </a:solidFill>
                <a:latin typeface="Fira Code"/>
                <a:ea typeface="Fira Code"/>
                <a:cs typeface="Fira Code"/>
                <a:sym typeface="Fira Code"/>
              </a:rPr>
              <a:t>Output</a:t>
            </a:r>
          </a:p>
          <a:p>
            <a:pPr algn="just"/>
            <a:endParaRPr lang="fa-IR" sz="2400" dirty="0">
              <a:solidFill>
                <a:schemeClr val="accent2"/>
              </a:solidFill>
              <a:latin typeface="Fira Code"/>
              <a:ea typeface="Fira Code"/>
              <a:sym typeface="Fira Code"/>
            </a:endParaRPr>
          </a:p>
          <a:p>
            <a:pPr algn="just"/>
            <a:r>
              <a:rPr lang="en-US" dirty="0">
                <a:solidFill>
                  <a:schemeClr val="accent3"/>
                </a:solidFill>
                <a:latin typeface="Fira Code"/>
                <a:ea typeface="Fira Code"/>
                <a:cs typeface="B Nazanin" panose="00000400000000000000" pitchFamily="2" charset="-78"/>
              </a:rPr>
              <a:t>What if we want to print the output? </a:t>
            </a:r>
            <a:r>
              <a:rPr lang="en-US" dirty="0" err="1">
                <a:solidFill>
                  <a:srgbClr val="FF0000"/>
                </a:solidFill>
                <a:latin typeface="Fira Code"/>
                <a:ea typeface="Fira Code"/>
                <a:cs typeface="B Nazanin" panose="00000400000000000000" pitchFamily="2" charset="-78"/>
              </a:rPr>
              <a:t>prinft</a:t>
            </a:r>
            <a:endParaRPr lang="en-US" dirty="0">
              <a:solidFill>
                <a:srgbClr val="FF0000"/>
              </a:solidFill>
              <a:latin typeface="Fira Code"/>
              <a:ea typeface="Fira Code"/>
              <a:cs typeface="B Nazanin" panose="00000400000000000000" pitchFamily="2" charset="-78"/>
            </a:endParaRPr>
          </a:p>
          <a:p>
            <a:pPr algn="just"/>
            <a:endParaRPr lang="en-US" dirty="0">
              <a:solidFill>
                <a:srgbClr val="FF0000"/>
              </a:solidFill>
              <a:latin typeface="Fira Code"/>
              <a:ea typeface="Fira Code"/>
              <a:cs typeface="B Nazanin" panose="00000400000000000000" pitchFamily="2" charset="-78"/>
            </a:endParaRPr>
          </a:p>
          <a:p>
            <a:pPr algn="just"/>
            <a:r>
              <a:rPr lang="en-US" dirty="0">
                <a:solidFill>
                  <a:schemeClr val="accent3"/>
                </a:solidFill>
                <a:latin typeface="Fira Code"/>
                <a:ea typeface="Fira Code"/>
                <a:cs typeface="B Nazanin" panose="00000400000000000000" pitchFamily="2" charset="-78"/>
              </a:rPr>
              <a:t>syntax:</a:t>
            </a:r>
          </a:p>
          <a:p>
            <a:pPr algn="just"/>
            <a:r>
              <a:rPr lang="en-US" dirty="0">
                <a:solidFill>
                  <a:srgbClr val="9966B8"/>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a:t>
            </a:r>
            <a:r>
              <a:rPr lang="en-US" dirty="0">
                <a:solidFill>
                  <a:srgbClr val="FF0000"/>
                </a:solidFill>
                <a:latin typeface="Consolas" panose="020B0609020204030204" pitchFamily="49" charset="0"/>
              </a:rPr>
              <a:t>type</a:t>
            </a:r>
            <a:r>
              <a:rPr lang="en-US" dirty="0">
                <a:solidFill>
                  <a:schemeClr val="accent6"/>
                </a:solidFill>
                <a:latin typeface="Consolas" panose="020B0609020204030204" pitchFamily="49" charset="0"/>
              </a:rPr>
              <a:t>", </a:t>
            </a:r>
            <a:r>
              <a:rPr lang="en-US" dirty="0">
                <a:solidFill>
                  <a:srgbClr val="FF0000"/>
                </a:solidFill>
                <a:latin typeface="Consolas" panose="020B0609020204030204" pitchFamily="49" charset="0"/>
              </a:rPr>
              <a:t>variable</a:t>
            </a:r>
            <a:r>
              <a:rPr lang="en-US" dirty="0">
                <a:solidFill>
                  <a:schemeClr val="accent6"/>
                </a:solidFill>
                <a:latin typeface="Consolas" panose="020B0609020204030204" pitchFamily="49" charset="0"/>
              </a:rPr>
              <a:t>);</a:t>
            </a:r>
          </a:p>
          <a:p>
            <a:pPr algn="just"/>
            <a:endParaRPr lang="en-US" sz="1600" dirty="0">
              <a:solidFill>
                <a:srgbClr val="FF0000"/>
              </a:solidFill>
              <a:latin typeface="Fira Code"/>
              <a:ea typeface="Fira Code"/>
              <a:cs typeface="B Nazanin" panose="00000400000000000000" pitchFamily="2" charset="-78"/>
            </a:endParaRPr>
          </a:p>
          <a:p>
            <a:pPr algn="just"/>
            <a:r>
              <a:rPr lang="en-US" sz="1200" b="1" dirty="0">
                <a:solidFill>
                  <a:srgbClr val="FF0000"/>
                </a:solidFill>
              </a:rPr>
              <a:t>Don't forget to include the </a:t>
            </a:r>
            <a:r>
              <a:rPr lang="en-US" sz="1200" b="1" dirty="0" err="1">
                <a:solidFill>
                  <a:srgbClr val="FF0000"/>
                </a:solidFill>
              </a:rPr>
              <a:t>stdio</a:t>
            </a:r>
            <a:r>
              <a:rPr lang="en-US" sz="1200" b="1" dirty="0">
                <a:solidFill>
                  <a:srgbClr val="FF0000"/>
                </a:solidFill>
              </a:rPr>
              <a:t> library in your code.</a:t>
            </a:r>
            <a:endParaRPr lang="en-US" sz="1200" dirty="0">
              <a:solidFill>
                <a:srgbClr val="FF0000"/>
              </a:solidFill>
            </a:endParaRPr>
          </a:p>
          <a:p>
            <a:pPr algn="just"/>
            <a:endParaRPr lang="en-US" sz="1600" dirty="0">
              <a:solidFill>
                <a:schemeClr val="accent3"/>
              </a:solidFill>
              <a:latin typeface="Fira Code"/>
              <a:ea typeface="Fira Code"/>
              <a:cs typeface="B Nazanin" panose="00000400000000000000" pitchFamily="2" charset="-78"/>
            </a:endParaRPr>
          </a:p>
        </p:txBody>
      </p:sp>
      <p:sp>
        <p:nvSpPr>
          <p:cNvPr id="14" name="Google Shape;814;p39">
            <a:extLst>
              <a:ext uri="{FF2B5EF4-FFF2-40B4-BE49-F238E27FC236}">
                <a16:creationId xmlns:a16="http://schemas.microsoft.com/office/drawing/2014/main" id="{ED717D66-E9A8-70D3-A2F7-38DBEDAAF20D}"/>
              </a:ext>
            </a:extLst>
          </p:cNvPr>
          <p:cNvSpPr txBox="1">
            <a:spLocks/>
          </p:cNvSpPr>
          <p:nvPr/>
        </p:nvSpPr>
        <p:spPr>
          <a:xfrm>
            <a:off x="945292" y="284205"/>
            <a:ext cx="5877790" cy="73952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Input</a:t>
            </a:r>
          </a:p>
        </p:txBody>
      </p:sp>
      <p:sp>
        <p:nvSpPr>
          <p:cNvPr id="5" name="Rectangle 1">
            <a:extLst>
              <a:ext uri="{FF2B5EF4-FFF2-40B4-BE49-F238E27FC236}">
                <a16:creationId xmlns:a16="http://schemas.microsoft.com/office/drawing/2014/main" id="{C0F73F64-3574-8AD8-4CEB-23197E30660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4B0AC03-A005-3753-0732-BC8E6638D7ED}"/>
              </a:ext>
            </a:extLst>
          </p:cNvPr>
          <p:cNvSpPr txBox="1"/>
          <p:nvPr/>
        </p:nvSpPr>
        <p:spPr>
          <a:xfrm>
            <a:off x="1237604" y="1549000"/>
            <a:ext cx="3898557" cy="307777"/>
          </a:xfrm>
          <a:prstGeom prst="rect">
            <a:avLst/>
          </a:prstGeom>
          <a:noFill/>
        </p:spPr>
        <p:txBody>
          <a:bodyPr wrap="square" rtlCol="0">
            <a:spAutoFit/>
          </a:bodyPr>
          <a:lstStyle/>
          <a:p>
            <a:pPr algn="just"/>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scanf</a:t>
            </a:r>
            <a:r>
              <a:rPr lang="en-US" dirty="0">
                <a:solidFill>
                  <a:schemeClr val="accent6"/>
                </a:solidFill>
                <a:latin typeface="Consolas" panose="020B0609020204030204" pitchFamily="49" charset="0"/>
              </a:rPr>
              <a:t>("%</a:t>
            </a:r>
            <a:r>
              <a:rPr lang="en-US" dirty="0">
                <a:solidFill>
                  <a:srgbClr val="FF0000"/>
                </a:solidFill>
                <a:latin typeface="Consolas" panose="020B0609020204030204" pitchFamily="49" charset="0"/>
              </a:rPr>
              <a:t>type</a:t>
            </a:r>
            <a:r>
              <a:rPr lang="en-US" dirty="0">
                <a:solidFill>
                  <a:schemeClr val="accent6"/>
                </a:solidFill>
                <a:latin typeface="Consolas" panose="020B0609020204030204" pitchFamily="49" charset="0"/>
              </a:rPr>
              <a:t>", &amp;</a:t>
            </a:r>
            <a:r>
              <a:rPr lang="en-US" dirty="0">
                <a:solidFill>
                  <a:srgbClr val="FF0000"/>
                </a:solidFill>
                <a:latin typeface="Consolas" panose="020B0609020204030204" pitchFamily="49" charset="0"/>
              </a:rPr>
              <a:t>variable</a:t>
            </a:r>
            <a:r>
              <a:rPr lang="en-US" dirty="0">
                <a:solidFill>
                  <a:schemeClr val="accent6"/>
                </a:solidFill>
                <a:latin typeface="Consolas" panose="020B0609020204030204" pitchFamily="49" charset="0"/>
              </a:rPr>
              <a:t>);</a:t>
            </a:r>
          </a:p>
        </p:txBody>
      </p:sp>
      <p:sp>
        <p:nvSpPr>
          <p:cNvPr id="8" name="Google Shape;473;p28">
            <a:extLst>
              <a:ext uri="{FF2B5EF4-FFF2-40B4-BE49-F238E27FC236}">
                <a16:creationId xmlns:a16="http://schemas.microsoft.com/office/drawing/2014/main" id="{FA4CF9AF-BF54-ECBF-F651-BE1DF820D443}"/>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9" name="Google Shape;473;p28">
            <a:extLst>
              <a:ext uri="{FF2B5EF4-FFF2-40B4-BE49-F238E27FC236}">
                <a16:creationId xmlns:a16="http://schemas.microsoft.com/office/drawing/2014/main" id="{6446E054-EB99-7338-23BF-BD1F16B94C28}"/>
              </a:ext>
            </a:extLst>
          </p:cNvPr>
          <p:cNvSpPr txBox="1">
            <a:spLocks/>
          </p:cNvSpPr>
          <p:nvPr/>
        </p:nvSpPr>
        <p:spPr>
          <a:xfrm>
            <a:off x="8479224" y="4666848"/>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4</a:t>
            </a:r>
            <a:endParaRPr lang="en" dirty="0">
              <a:solidFill>
                <a:schemeClr val="accent3"/>
              </a:solidFill>
            </a:endParaRPr>
          </a:p>
        </p:txBody>
      </p:sp>
    </p:spTree>
    <p:extLst>
      <p:ext uri="{BB962C8B-B14F-4D97-AF65-F5344CB8AC3E}">
        <p14:creationId xmlns:p14="http://schemas.microsoft.com/office/powerpoint/2010/main" val="1117906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108265EC-6104-450E-0BE4-10DACB9CB181}"/>
            </a:ext>
          </a:extLst>
        </p:cNvPr>
        <p:cNvGrpSpPr/>
        <p:nvPr/>
      </p:nvGrpSpPr>
      <p:grpSpPr>
        <a:xfrm>
          <a:off x="0" y="0"/>
          <a:ext cx="0" cy="0"/>
          <a:chOff x="0" y="0"/>
          <a:chExt cx="0" cy="0"/>
        </a:xfrm>
      </p:grpSpPr>
      <p:sp>
        <p:nvSpPr>
          <p:cNvPr id="465" name="Google Shape;465;p27">
            <a:extLst>
              <a:ext uri="{FF2B5EF4-FFF2-40B4-BE49-F238E27FC236}">
                <a16:creationId xmlns:a16="http://schemas.microsoft.com/office/drawing/2014/main" id="{BEFE93D8-F748-1840-0FE2-07EABC38D364}"/>
              </a:ext>
            </a:extLst>
          </p:cNvPr>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err="1"/>
              <a:t>DataType.c</a:t>
            </a:r>
            <a:endParaRPr sz="1000" dirty="0"/>
          </a:p>
        </p:txBody>
      </p:sp>
      <p:sp>
        <p:nvSpPr>
          <p:cNvPr id="12" name="AutoShape 4">
            <a:extLst>
              <a:ext uri="{FF2B5EF4-FFF2-40B4-BE49-F238E27FC236}">
                <a16:creationId xmlns:a16="http://schemas.microsoft.com/office/drawing/2014/main" id="{5DE33F09-FB10-EB17-D5BF-C8E6E0307194}"/>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BA202E3D-D165-021E-0D5F-BA36FA2900EB}"/>
              </a:ext>
            </a:extLst>
          </p:cNvPr>
          <p:cNvSpPr txBox="1"/>
          <p:nvPr/>
        </p:nvSpPr>
        <p:spPr>
          <a:xfrm>
            <a:off x="945292" y="985148"/>
            <a:ext cx="8071061" cy="584775"/>
          </a:xfrm>
          <a:prstGeom prst="rect">
            <a:avLst/>
          </a:prstGeom>
          <a:noFill/>
          <a:effectLst>
            <a:outerShdw blurRad="50800" dist="38100" dir="10800000" algn="r" rotWithShape="0">
              <a:prstClr val="black">
                <a:alpha val="40000"/>
              </a:prstClr>
            </a:outerShdw>
          </a:effectLst>
        </p:spPr>
        <p:txBody>
          <a:bodyPr wrap="square">
            <a:spAutoFit/>
          </a:bodyPr>
          <a:lstStyle/>
          <a:p>
            <a:pPr algn="just"/>
            <a:endParaRPr lang="en-US" sz="1600" dirty="0">
              <a:solidFill>
                <a:srgbClr val="FF0000"/>
              </a:solidFill>
              <a:latin typeface="Fira Code"/>
              <a:ea typeface="Fira Code"/>
              <a:cs typeface="B Nazanin" panose="00000400000000000000" pitchFamily="2" charset="-78"/>
            </a:endParaRPr>
          </a:p>
          <a:p>
            <a:pPr algn="just"/>
            <a:endParaRPr lang="en-US" sz="1600" dirty="0">
              <a:solidFill>
                <a:schemeClr val="accent3"/>
              </a:solidFill>
              <a:latin typeface="Fira Code"/>
              <a:ea typeface="Fira Code"/>
              <a:cs typeface="B Nazanin" panose="00000400000000000000" pitchFamily="2" charset="-78"/>
            </a:endParaRPr>
          </a:p>
        </p:txBody>
      </p:sp>
      <p:sp>
        <p:nvSpPr>
          <p:cNvPr id="14" name="Google Shape;814;p39">
            <a:extLst>
              <a:ext uri="{FF2B5EF4-FFF2-40B4-BE49-F238E27FC236}">
                <a16:creationId xmlns:a16="http://schemas.microsoft.com/office/drawing/2014/main" id="{B4CB88C2-4BDD-3EFC-6EAF-06F7F132B548}"/>
              </a:ext>
            </a:extLst>
          </p:cNvPr>
          <p:cNvSpPr txBox="1">
            <a:spLocks/>
          </p:cNvSpPr>
          <p:nvPr/>
        </p:nvSpPr>
        <p:spPr>
          <a:xfrm>
            <a:off x="898797" y="197126"/>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Data Type</a:t>
            </a:r>
          </a:p>
        </p:txBody>
      </p:sp>
      <p:sp>
        <p:nvSpPr>
          <p:cNvPr id="5" name="Rectangle 1">
            <a:extLst>
              <a:ext uri="{FF2B5EF4-FFF2-40B4-BE49-F238E27FC236}">
                <a16:creationId xmlns:a16="http://schemas.microsoft.com/office/drawing/2014/main" id="{FE183280-2216-189F-EE1D-BB69FE9C72F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5168DF63-C329-5C5B-A76F-2286E82B2FD1}"/>
              </a:ext>
            </a:extLst>
          </p:cNvPr>
          <p:cNvSpPr txBox="1"/>
          <p:nvPr/>
        </p:nvSpPr>
        <p:spPr>
          <a:xfrm>
            <a:off x="945292" y="908203"/>
            <a:ext cx="8132846" cy="738664"/>
          </a:xfrm>
          <a:prstGeom prst="rect">
            <a:avLst/>
          </a:prstGeom>
          <a:noFill/>
        </p:spPr>
        <p:txBody>
          <a:bodyPr wrap="square">
            <a:spAutoFit/>
          </a:bodyPr>
          <a:lstStyle/>
          <a:p>
            <a:pPr algn="just"/>
            <a:r>
              <a:rPr lang="en-US" dirty="0">
                <a:solidFill>
                  <a:schemeClr val="accent3"/>
                </a:solidFill>
                <a:latin typeface="Fira Code"/>
                <a:ea typeface="Fira Code"/>
                <a:cs typeface="B Nazanin" panose="00000400000000000000" pitchFamily="2" charset="-78"/>
              </a:rPr>
              <a:t>What if we want the input we get from the user to be a specific type of data? How is that done?</a:t>
            </a:r>
            <a:endParaRPr lang="fa-IR"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p:txBody>
      </p:sp>
      <p:graphicFrame>
        <p:nvGraphicFramePr>
          <p:cNvPr id="9" name="Table 8">
            <a:extLst>
              <a:ext uri="{FF2B5EF4-FFF2-40B4-BE49-F238E27FC236}">
                <a16:creationId xmlns:a16="http://schemas.microsoft.com/office/drawing/2014/main" id="{7E8975ED-EB27-9B46-BDE5-1129B030C2D4}"/>
              </a:ext>
            </a:extLst>
          </p:cNvPr>
          <p:cNvGraphicFramePr>
            <a:graphicFrameLocks noGrp="1"/>
          </p:cNvGraphicFramePr>
          <p:nvPr>
            <p:extLst>
              <p:ext uri="{D42A27DB-BD31-4B8C-83A1-F6EECF244321}">
                <p14:modId xmlns:p14="http://schemas.microsoft.com/office/powerpoint/2010/main" val="3754138668"/>
              </p:ext>
            </p:extLst>
          </p:nvPr>
        </p:nvGraphicFramePr>
        <p:xfrm>
          <a:off x="1579605" y="1721056"/>
          <a:ext cx="6096000" cy="2225040"/>
        </p:xfrm>
        <a:graphic>
          <a:graphicData uri="http://schemas.openxmlformats.org/drawingml/2006/table">
            <a:tbl>
              <a:tblPr firstRow="1" bandRow="1">
                <a:tableStyleId>{4BEAB1D1-4E42-4361-B4FD-13862715D387}</a:tableStyleId>
              </a:tblPr>
              <a:tblGrid>
                <a:gridCol w="3048000">
                  <a:extLst>
                    <a:ext uri="{9D8B030D-6E8A-4147-A177-3AD203B41FA5}">
                      <a16:colId xmlns:a16="http://schemas.microsoft.com/office/drawing/2014/main" val="307909722"/>
                    </a:ext>
                  </a:extLst>
                </a:gridCol>
                <a:gridCol w="3048000">
                  <a:extLst>
                    <a:ext uri="{9D8B030D-6E8A-4147-A177-3AD203B41FA5}">
                      <a16:colId xmlns:a16="http://schemas.microsoft.com/office/drawing/2014/main" val="3909677308"/>
                    </a:ext>
                  </a:extLst>
                </a:gridCol>
              </a:tblGrid>
              <a:tr h="370840">
                <a:tc>
                  <a:txBody>
                    <a:bodyPr/>
                    <a:lstStyle/>
                    <a:p>
                      <a:pPr algn="ctr"/>
                      <a:r>
                        <a:rPr lang="en-US" sz="1400" b="1" i="0" u="none" strike="noStrike" cap="none" dirty="0">
                          <a:solidFill>
                            <a:schemeClr val="accent3"/>
                          </a:solidFill>
                          <a:latin typeface="Fira Code"/>
                          <a:ea typeface="Fira Code"/>
                          <a:cs typeface="B Nazanin" panose="00000400000000000000" pitchFamily="2" charset="-78"/>
                          <a:sym typeface="Arial"/>
                        </a:rPr>
                        <a:t>Type</a:t>
                      </a:r>
                    </a:p>
                  </a:txBody>
                  <a:tcPr/>
                </a:tc>
                <a:tc>
                  <a:txBody>
                    <a:bodyPr/>
                    <a:lstStyle/>
                    <a:p>
                      <a:pPr algn="ctr"/>
                      <a:r>
                        <a:rPr lang="en-US" sz="1400" b="1" i="0" u="none" strike="noStrike" cap="none" dirty="0">
                          <a:solidFill>
                            <a:schemeClr val="accent3"/>
                          </a:solidFill>
                          <a:latin typeface="Fira Code"/>
                          <a:ea typeface="Fira Code"/>
                          <a:cs typeface="B Nazanin" panose="00000400000000000000" pitchFamily="2" charset="-78"/>
                          <a:sym typeface="Arial"/>
                        </a:rPr>
                        <a:t>specifier</a:t>
                      </a:r>
                    </a:p>
                  </a:txBody>
                  <a:tcPr/>
                </a:tc>
                <a:extLst>
                  <a:ext uri="{0D108BD9-81ED-4DB2-BD59-A6C34878D82A}">
                    <a16:rowId xmlns:a16="http://schemas.microsoft.com/office/drawing/2014/main" val="3403566376"/>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int</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%d</a:t>
                      </a:r>
                    </a:p>
                  </a:txBody>
                  <a:tcPr/>
                </a:tc>
                <a:extLst>
                  <a:ext uri="{0D108BD9-81ED-4DB2-BD59-A6C34878D82A}">
                    <a16:rowId xmlns:a16="http://schemas.microsoft.com/office/drawing/2014/main" val="2910006649"/>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char</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%c</a:t>
                      </a:r>
                    </a:p>
                  </a:txBody>
                  <a:tcPr/>
                </a:tc>
                <a:extLst>
                  <a:ext uri="{0D108BD9-81ED-4DB2-BD59-A6C34878D82A}">
                    <a16:rowId xmlns:a16="http://schemas.microsoft.com/office/drawing/2014/main" val="1442854579"/>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float</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%f</a:t>
                      </a:r>
                    </a:p>
                  </a:txBody>
                  <a:tcPr/>
                </a:tc>
                <a:extLst>
                  <a:ext uri="{0D108BD9-81ED-4DB2-BD59-A6C34878D82A}">
                    <a16:rowId xmlns:a16="http://schemas.microsoft.com/office/drawing/2014/main" val="112817435"/>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double</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a:t>
                      </a:r>
                      <a:r>
                        <a:rPr lang="en-US" sz="1400" b="0" i="0" u="none" strike="noStrike" cap="none" dirty="0" err="1">
                          <a:solidFill>
                            <a:schemeClr val="accent3"/>
                          </a:solidFill>
                          <a:latin typeface="Fira Code"/>
                          <a:ea typeface="Fira Code"/>
                          <a:cs typeface="B Nazanin" panose="00000400000000000000" pitchFamily="2" charset="-78"/>
                          <a:sym typeface="Arial"/>
                        </a:rPr>
                        <a:t>lf</a:t>
                      </a:r>
                      <a:endParaRPr lang="en-US" sz="1400" b="0" i="0" u="none" strike="noStrike" cap="none" dirty="0">
                        <a:solidFill>
                          <a:schemeClr val="accent3"/>
                        </a:solidFill>
                        <a:latin typeface="Fira Code"/>
                        <a:ea typeface="Fira Code"/>
                        <a:cs typeface="B Nazanin" panose="00000400000000000000" pitchFamily="2" charset="-78"/>
                        <a:sym typeface="Arial"/>
                      </a:endParaRPr>
                    </a:p>
                  </a:txBody>
                  <a:tcPr/>
                </a:tc>
                <a:extLst>
                  <a:ext uri="{0D108BD9-81ED-4DB2-BD59-A6C34878D82A}">
                    <a16:rowId xmlns:a16="http://schemas.microsoft.com/office/drawing/2014/main" val="2096827521"/>
                  </a:ext>
                </a:extLst>
              </a:tr>
              <a:tr h="370840">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Long double</a:t>
                      </a:r>
                    </a:p>
                  </a:txBody>
                  <a:tcPr/>
                </a:tc>
                <a:tc>
                  <a:txBody>
                    <a:bodyPr/>
                    <a:lstStyle/>
                    <a:p>
                      <a:pPr algn="ctr"/>
                      <a:r>
                        <a:rPr lang="en-US" sz="1400" b="0" i="0" u="none" strike="noStrike" cap="none" dirty="0">
                          <a:solidFill>
                            <a:schemeClr val="accent3"/>
                          </a:solidFill>
                          <a:latin typeface="Fira Code"/>
                          <a:ea typeface="Fira Code"/>
                          <a:cs typeface="B Nazanin" panose="00000400000000000000" pitchFamily="2" charset="-78"/>
                          <a:sym typeface="Arial"/>
                        </a:rPr>
                        <a:t>%</a:t>
                      </a:r>
                      <a:r>
                        <a:rPr lang="en-US" sz="1400" b="0" i="0" u="none" strike="noStrike" cap="none" dirty="0" err="1">
                          <a:solidFill>
                            <a:schemeClr val="accent3"/>
                          </a:solidFill>
                          <a:latin typeface="Fira Code"/>
                          <a:ea typeface="Fira Code"/>
                          <a:cs typeface="B Nazanin" panose="00000400000000000000" pitchFamily="2" charset="-78"/>
                          <a:sym typeface="Arial"/>
                        </a:rPr>
                        <a:t>Lf</a:t>
                      </a:r>
                      <a:endParaRPr lang="en-US" sz="1400" b="0" i="0" u="none" strike="noStrike" cap="none" dirty="0">
                        <a:solidFill>
                          <a:schemeClr val="accent3"/>
                        </a:solidFill>
                        <a:latin typeface="Fira Code"/>
                        <a:ea typeface="Fira Code"/>
                        <a:cs typeface="B Nazanin" panose="00000400000000000000" pitchFamily="2" charset="-78"/>
                        <a:sym typeface="Arial"/>
                      </a:endParaRPr>
                    </a:p>
                  </a:txBody>
                  <a:tcPr/>
                </a:tc>
                <a:extLst>
                  <a:ext uri="{0D108BD9-81ED-4DB2-BD59-A6C34878D82A}">
                    <a16:rowId xmlns:a16="http://schemas.microsoft.com/office/drawing/2014/main" val="4284677588"/>
                  </a:ext>
                </a:extLst>
              </a:tr>
            </a:tbl>
          </a:graphicData>
        </a:graphic>
      </p:graphicFrame>
      <p:sp>
        <p:nvSpPr>
          <p:cNvPr id="10" name="Google Shape;473;p28">
            <a:extLst>
              <a:ext uri="{FF2B5EF4-FFF2-40B4-BE49-F238E27FC236}">
                <a16:creationId xmlns:a16="http://schemas.microsoft.com/office/drawing/2014/main" id="{E5C197AE-821D-3B81-F8AC-0B1320753C0B}"/>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11" name="Google Shape;473;p28">
            <a:extLst>
              <a:ext uri="{FF2B5EF4-FFF2-40B4-BE49-F238E27FC236}">
                <a16:creationId xmlns:a16="http://schemas.microsoft.com/office/drawing/2014/main" id="{E93F05B7-8512-91B9-5697-536122541215}"/>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5</a:t>
            </a:r>
            <a:endParaRPr lang="en" dirty="0">
              <a:solidFill>
                <a:schemeClr val="accent3"/>
              </a:solidFill>
            </a:endParaRPr>
          </a:p>
        </p:txBody>
      </p:sp>
    </p:spTree>
    <p:extLst>
      <p:ext uri="{BB962C8B-B14F-4D97-AF65-F5344CB8AC3E}">
        <p14:creationId xmlns:p14="http://schemas.microsoft.com/office/powerpoint/2010/main" val="2626921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905CC2EB-7D35-1D29-9D77-EDCA45B22F3E}"/>
            </a:ext>
          </a:extLst>
        </p:cNvPr>
        <p:cNvGrpSpPr/>
        <p:nvPr/>
      </p:nvGrpSpPr>
      <p:grpSpPr>
        <a:xfrm>
          <a:off x="0" y="0"/>
          <a:ext cx="0" cy="0"/>
          <a:chOff x="0" y="0"/>
          <a:chExt cx="0" cy="0"/>
        </a:xfrm>
      </p:grpSpPr>
      <p:sp>
        <p:nvSpPr>
          <p:cNvPr id="465" name="Google Shape;465;p27">
            <a:extLst>
              <a:ext uri="{FF2B5EF4-FFF2-40B4-BE49-F238E27FC236}">
                <a16:creationId xmlns:a16="http://schemas.microsoft.com/office/drawing/2014/main" id="{02858F2F-A7FF-D64D-1115-33F2D5DB6185}"/>
              </a:ext>
            </a:extLst>
          </p:cNvPr>
          <p:cNvSpPr txBox="1">
            <a:spLocks noGrp="1"/>
          </p:cNvSpPr>
          <p:nvPr>
            <p:ph type="subTitle" idx="1"/>
          </p:nvPr>
        </p:nvSpPr>
        <p:spPr>
          <a:xfrm>
            <a:off x="4472052" y="135274"/>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a:t>Task3</a:t>
            </a:r>
            <a:endParaRPr sz="1000" dirty="0"/>
          </a:p>
        </p:txBody>
      </p:sp>
      <p:sp>
        <p:nvSpPr>
          <p:cNvPr id="12" name="AutoShape 4">
            <a:extLst>
              <a:ext uri="{FF2B5EF4-FFF2-40B4-BE49-F238E27FC236}">
                <a16:creationId xmlns:a16="http://schemas.microsoft.com/office/drawing/2014/main" id="{B22D1E8D-A0BF-08E6-69A7-ABCCF7A59A4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A92B06AC-BE29-308B-34B3-947BD8B698CC}"/>
              </a:ext>
            </a:extLst>
          </p:cNvPr>
          <p:cNvSpPr txBox="1"/>
          <p:nvPr/>
        </p:nvSpPr>
        <p:spPr>
          <a:xfrm>
            <a:off x="945292" y="985148"/>
            <a:ext cx="8071061" cy="584775"/>
          </a:xfrm>
          <a:prstGeom prst="rect">
            <a:avLst/>
          </a:prstGeom>
          <a:noFill/>
          <a:effectLst>
            <a:outerShdw blurRad="50800" dist="38100" dir="10800000" algn="r" rotWithShape="0">
              <a:prstClr val="black">
                <a:alpha val="40000"/>
              </a:prstClr>
            </a:outerShdw>
          </a:effectLst>
        </p:spPr>
        <p:txBody>
          <a:bodyPr wrap="square">
            <a:spAutoFit/>
          </a:bodyPr>
          <a:lstStyle/>
          <a:p>
            <a:pPr algn="just"/>
            <a:endParaRPr lang="en-US" sz="1600" dirty="0">
              <a:solidFill>
                <a:srgbClr val="FF0000"/>
              </a:solidFill>
              <a:latin typeface="Fira Code"/>
              <a:ea typeface="Fira Code"/>
              <a:cs typeface="B Nazanin" panose="00000400000000000000" pitchFamily="2" charset="-78"/>
            </a:endParaRPr>
          </a:p>
          <a:p>
            <a:pPr algn="just"/>
            <a:endParaRPr lang="en-US" sz="1600" dirty="0">
              <a:solidFill>
                <a:schemeClr val="accent3"/>
              </a:solidFill>
              <a:latin typeface="Fira Code"/>
              <a:ea typeface="Fira Code"/>
              <a:cs typeface="B Nazanin" panose="00000400000000000000" pitchFamily="2" charset="-78"/>
            </a:endParaRPr>
          </a:p>
        </p:txBody>
      </p:sp>
      <p:sp>
        <p:nvSpPr>
          <p:cNvPr id="14" name="Google Shape;814;p39">
            <a:extLst>
              <a:ext uri="{FF2B5EF4-FFF2-40B4-BE49-F238E27FC236}">
                <a16:creationId xmlns:a16="http://schemas.microsoft.com/office/drawing/2014/main" id="{B29DFB94-5196-8F83-EB33-7391C417387C}"/>
              </a:ext>
            </a:extLst>
          </p:cNvPr>
          <p:cNvSpPr txBox="1">
            <a:spLocks/>
          </p:cNvSpPr>
          <p:nvPr/>
        </p:nvSpPr>
        <p:spPr>
          <a:xfrm>
            <a:off x="880262" y="203304"/>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Task</a:t>
            </a:r>
          </a:p>
        </p:txBody>
      </p:sp>
      <p:sp>
        <p:nvSpPr>
          <p:cNvPr id="5" name="Rectangle 1">
            <a:extLst>
              <a:ext uri="{FF2B5EF4-FFF2-40B4-BE49-F238E27FC236}">
                <a16:creationId xmlns:a16="http://schemas.microsoft.com/office/drawing/2014/main" id="{AA5AEC94-523F-08D3-59B3-301C18B4EA2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AECFC21B-CE1E-4BCB-936D-246AEF3A2B80}"/>
              </a:ext>
            </a:extLst>
          </p:cNvPr>
          <p:cNvSpPr txBox="1"/>
          <p:nvPr/>
        </p:nvSpPr>
        <p:spPr>
          <a:xfrm>
            <a:off x="1009175" y="1028897"/>
            <a:ext cx="8007178" cy="3539430"/>
          </a:xfrm>
          <a:prstGeom prst="rect">
            <a:avLst/>
          </a:prstGeom>
          <a:noFill/>
        </p:spPr>
        <p:txBody>
          <a:bodyPr wrap="square">
            <a:spAutoFit/>
          </a:bodyPr>
          <a:lstStyle/>
          <a:p>
            <a:pPr algn="just"/>
            <a:r>
              <a:rPr lang="en-US" dirty="0">
                <a:solidFill>
                  <a:schemeClr val="accent3"/>
                </a:solidFill>
                <a:latin typeface="Fira Code"/>
                <a:ea typeface="Fira Code"/>
                <a:cs typeface="B Nazanin" panose="00000400000000000000" pitchFamily="2" charset="-78"/>
              </a:rPr>
              <a:t>1.Write a program that receives the user's height in centimeters, converts it to meters, and displays the result (use int format for input and output)</a:t>
            </a: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r>
              <a:rPr lang="en-US" dirty="0">
                <a:solidFill>
                  <a:schemeClr val="accent3"/>
                </a:solidFill>
                <a:latin typeface="Fira Code"/>
                <a:ea typeface="Fira Code"/>
                <a:cs typeface="B Nazanin" panose="00000400000000000000" pitchFamily="2" charset="-78"/>
              </a:rPr>
              <a:t>2.What if our number is not a multiple of 100? What happens when we enter such a value?</a:t>
            </a:r>
            <a:endParaRPr lang="fa-IR" dirty="0">
              <a:solidFill>
                <a:schemeClr val="accent3"/>
              </a:solidFill>
              <a:latin typeface="Fira Code"/>
              <a:ea typeface="Fira Code"/>
              <a:cs typeface="B Nazanin" panose="00000400000000000000" pitchFamily="2" charset="-78"/>
            </a:endParaRPr>
          </a:p>
          <a:p>
            <a:pPr algn="just"/>
            <a:endParaRPr lang="fa-IR" dirty="0">
              <a:solidFill>
                <a:schemeClr val="accent3"/>
              </a:solidFill>
              <a:latin typeface="Fira Code"/>
              <a:ea typeface="Fira Code"/>
              <a:cs typeface="B Nazanin" panose="00000400000000000000" pitchFamily="2" charset="-78"/>
            </a:endParaRPr>
          </a:p>
          <a:p>
            <a:pPr algn="just"/>
            <a:endParaRPr lang="fa-IR" dirty="0">
              <a:solidFill>
                <a:schemeClr val="accent3"/>
              </a:solidFill>
              <a:latin typeface="Fira Code"/>
              <a:ea typeface="Fira Code"/>
              <a:cs typeface="B Nazanin" panose="00000400000000000000" pitchFamily="2" charset="-78"/>
            </a:endParaRPr>
          </a:p>
          <a:p>
            <a:pPr algn="just"/>
            <a:r>
              <a:rPr lang="en-US" dirty="0">
                <a:solidFill>
                  <a:schemeClr val="accent3"/>
                </a:solidFill>
                <a:latin typeface="Fira Code"/>
                <a:ea typeface="Fira Code"/>
                <a:cs typeface="B Nazanin" panose="00000400000000000000" pitchFamily="2" charset="-78"/>
              </a:rPr>
              <a:t>3.Now write the program with the correct format</a:t>
            </a: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a:p>
            <a:pPr algn="just"/>
            <a:endParaRPr lang="en-US" dirty="0">
              <a:solidFill>
                <a:schemeClr val="accent3"/>
              </a:solidFill>
              <a:latin typeface="Fira Code"/>
              <a:ea typeface="Fira Code"/>
              <a:cs typeface="B Nazanin" panose="00000400000000000000" pitchFamily="2" charset="-78"/>
            </a:endParaRPr>
          </a:p>
        </p:txBody>
      </p:sp>
      <p:sp>
        <p:nvSpPr>
          <p:cNvPr id="7" name="Google Shape;473;p28">
            <a:extLst>
              <a:ext uri="{FF2B5EF4-FFF2-40B4-BE49-F238E27FC236}">
                <a16:creationId xmlns:a16="http://schemas.microsoft.com/office/drawing/2014/main" id="{6A850B6E-B4D5-F736-3B40-5FB5A5060AE7}"/>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9" name="Google Shape;473;p28">
            <a:extLst>
              <a:ext uri="{FF2B5EF4-FFF2-40B4-BE49-F238E27FC236}">
                <a16:creationId xmlns:a16="http://schemas.microsoft.com/office/drawing/2014/main" id="{08FFAAA8-BC7D-8705-E86D-E5D0EE9A88AF}"/>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6</a:t>
            </a:r>
            <a:endParaRPr lang="en" dirty="0">
              <a:solidFill>
                <a:schemeClr val="accent3"/>
              </a:solidFill>
            </a:endParaRPr>
          </a:p>
        </p:txBody>
      </p:sp>
      <p:sp>
        <p:nvSpPr>
          <p:cNvPr id="2" name="Google Shape;465;p27">
            <a:extLst>
              <a:ext uri="{FF2B5EF4-FFF2-40B4-BE49-F238E27FC236}">
                <a16:creationId xmlns:a16="http://schemas.microsoft.com/office/drawing/2014/main" id="{E5AF7E29-2FF5-5DF3-4A51-5005B196C8BD}"/>
              </a:ext>
            </a:extLst>
          </p:cNvPr>
          <p:cNvSpPr txBox="1">
            <a:spLocks/>
          </p:cNvSpPr>
          <p:nvPr/>
        </p:nvSpPr>
        <p:spPr>
          <a:xfrm>
            <a:off x="-5975"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sym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9pPr>
          </a:lstStyle>
          <a:p>
            <a:pPr marL="0" indent="0" algn="ctr"/>
            <a:r>
              <a:rPr lang="en-US" sz="1000"/>
              <a:t>Pseudocode.c</a:t>
            </a:r>
            <a:endParaRPr lang="en-US" sz="1000" dirty="0"/>
          </a:p>
        </p:txBody>
      </p:sp>
    </p:spTree>
    <p:extLst>
      <p:ext uri="{BB962C8B-B14F-4D97-AF65-F5344CB8AC3E}">
        <p14:creationId xmlns:p14="http://schemas.microsoft.com/office/powerpoint/2010/main" val="2625181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166DB20B-24F3-E4C8-9DF0-8FB50F0303EC}"/>
            </a:ext>
          </a:extLst>
        </p:cNvPr>
        <p:cNvGrpSpPr/>
        <p:nvPr/>
      </p:nvGrpSpPr>
      <p:grpSpPr>
        <a:xfrm>
          <a:off x="0" y="0"/>
          <a:ext cx="0" cy="0"/>
          <a:chOff x="0" y="0"/>
          <a:chExt cx="0" cy="0"/>
        </a:xfrm>
      </p:grpSpPr>
      <p:sp>
        <p:nvSpPr>
          <p:cNvPr id="465" name="Google Shape;465;p27">
            <a:extLst>
              <a:ext uri="{FF2B5EF4-FFF2-40B4-BE49-F238E27FC236}">
                <a16:creationId xmlns:a16="http://schemas.microsoft.com/office/drawing/2014/main" id="{CC89556A-3707-16FA-FCEC-A769D623002F}"/>
              </a:ext>
            </a:extLst>
          </p:cNvPr>
          <p:cNvSpPr txBox="1">
            <a:spLocks noGrp="1"/>
          </p:cNvSpPr>
          <p:nvPr>
            <p:ph type="subTitle" idx="1"/>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000" dirty="0"/>
              <a:t>Task4</a:t>
            </a:r>
            <a:endParaRPr sz="1000" dirty="0"/>
          </a:p>
        </p:txBody>
      </p:sp>
      <p:sp>
        <p:nvSpPr>
          <p:cNvPr id="12" name="AutoShape 4">
            <a:extLst>
              <a:ext uri="{FF2B5EF4-FFF2-40B4-BE49-F238E27FC236}">
                <a16:creationId xmlns:a16="http://schemas.microsoft.com/office/drawing/2014/main" id="{CD1D5D23-1571-F5CC-346A-4D29CA03786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876A3B29-80FE-7F1A-F6E8-C8F3D03BD1FA}"/>
              </a:ext>
            </a:extLst>
          </p:cNvPr>
          <p:cNvSpPr txBox="1"/>
          <p:nvPr/>
        </p:nvSpPr>
        <p:spPr>
          <a:xfrm>
            <a:off x="945292" y="985148"/>
            <a:ext cx="8071061" cy="584775"/>
          </a:xfrm>
          <a:prstGeom prst="rect">
            <a:avLst/>
          </a:prstGeom>
          <a:noFill/>
          <a:effectLst>
            <a:outerShdw blurRad="50800" dist="38100" dir="10800000" algn="r" rotWithShape="0">
              <a:prstClr val="black">
                <a:alpha val="40000"/>
              </a:prstClr>
            </a:outerShdw>
          </a:effectLst>
        </p:spPr>
        <p:txBody>
          <a:bodyPr wrap="square">
            <a:spAutoFit/>
          </a:bodyPr>
          <a:lstStyle/>
          <a:p>
            <a:pPr algn="just"/>
            <a:endParaRPr lang="en-US" sz="1600" dirty="0">
              <a:solidFill>
                <a:srgbClr val="FF0000"/>
              </a:solidFill>
              <a:latin typeface="Fira Code"/>
              <a:ea typeface="Fira Code"/>
              <a:cs typeface="B Nazanin" panose="00000400000000000000" pitchFamily="2" charset="-78"/>
            </a:endParaRPr>
          </a:p>
          <a:p>
            <a:pPr algn="just"/>
            <a:endParaRPr lang="en-US" sz="1600" dirty="0">
              <a:solidFill>
                <a:schemeClr val="accent3"/>
              </a:solidFill>
              <a:latin typeface="Fira Code"/>
              <a:ea typeface="Fira Code"/>
              <a:cs typeface="B Nazanin" panose="00000400000000000000" pitchFamily="2" charset="-78"/>
            </a:endParaRPr>
          </a:p>
        </p:txBody>
      </p:sp>
      <p:sp>
        <p:nvSpPr>
          <p:cNvPr id="14" name="Google Shape;814;p39">
            <a:extLst>
              <a:ext uri="{FF2B5EF4-FFF2-40B4-BE49-F238E27FC236}">
                <a16:creationId xmlns:a16="http://schemas.microsoft.com/office/drawing/2014/main" id="{3A3C4C96-709E-0141-B567-6C3264EACB5A}"/>
              </a:ext>
            </a:extLst>
          </p:cNvPr>
          <p:cNvSpPr txBox="1">
            <a:spLocks/>
          </p:cNvSpPr>
          <p:nvPr/>
        </p:nvSpPr>
        <p:spPr>
          <a:xfrm>
            <a:off x="881409" y="229582"/>
            <a:ext cx="5877790" cy="97480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200"/>
              <a:buFont typeface="Fira Code"/>
              <a:buNone/>
              <a:defRPr sz="3000" b="0" i="0" u="none" strike="noStrike" cap="none">
                <a:solidFill>
                  <a:schemeClr val="lt1"/>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5200"/>
              <a:buFont typeface="Fira Code"/>
              <a:buNone/>
              <a:defRPr sz="5200" b="0" i="0" u="none" strike="noStrike" cap="none">
                <a:solidFill>
                  <a:schemeClr val="dk1"/>
                </a:solidFill>
                <a:latin typeface="Fira Code"/>
                <a:ea typeface="Fira Code"/>
                <a:cs typeface="Fira Code"/>
                <a:sym typeface="Fira Code"/>
              </a:defRPr>
            </a:lvl9pPr>
          </a:lstStyle>
          <a:p>
            <a:r>
              <a:rPr lang="en-US" sz="2400" dirty="0">
                <a:solidFill>
                  <a:schemeClr val="accent2"/>
                </a:solidFill>
              </a:rPr>
              <a:t>Task</a:t>
            </a:r>
          </a:p>
        </p:txBody>
      </p:sp>
      <p:sp>
        <p:nvSpPr>
          <p:cNvPr id="5" name="Rectangle 1">
            <a:extLst>
              <a:ext uri="{FF2B5EF4-FFF2-40B4-BE49-F238E27FC236}">
                <a16:creationId xmlns:a16="http://schemas.microsoft.com/office/drawing/2014/main" id="{FAC17E1F-8164-07FF-AEBF-EEF512772CB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3A47D9FA-0488-9644-BAD2-EF63B9F3EA19}"/>
              </a:ext>
            </a:extLst>
          </p:cNvPr>
          <p:cNvSpPr txBox="1"/>
          <p:nvPr/>
        </p:nvSpPr>
        <p:spPr>
          <a:xfrm>
            <a:off x="945292" y="1079606"/>
            <a:ext cx="8007178" cy="1600438"/>
          </a:xfrm>
          <a:prstGeom prst="rect">
            <a:avLst/>
          </a:prstGeom>
          <a:noFill/>
        </p:spPr>
        <p:txBody>
          <a:bodyPr wrap="square">
            <a:spAutoFit/>
          </a:bodyPr>
          <a:lstStyle/>
          <a:p>
            <a:pPr lvl="0" algn="just" eaLnBrk="0" fontAlgn="base" hangingPunct="0">
              <a:spcBef>
                <a:spcPct val="0"/>
              </a:spcBef>
              <a:spcAft>
                <a:spcPct val="0"/>
              </a:spcAft>
              <a:buClrTx/>
            </a:pPr>
            <a:r>
              <a:rPr lang="en-US" altLang="en-US" dirty="0">
                <a:solidFill>
                  <a:schemeClr val="accent3"/>
                </a:solidFill>
                <a:latin typeface="Fira Code"/>
                <a:ea typeface="Fira Code"/>
                <a:cs typeface="B Nazanin" panose="00000400000000000000" pitchFamily="2" charset="-78"/>
              </a:rPr>
              <a:t>Write a program that takes a </a:t>
            </a:r>
            <a:r>
              <a:rPr lang="en-US" altLang="en-US" b="1" dirty="0">
                <a:solidFill>
                  <a:schemeClr val="accent3"/>
                </a:solidFill>
                <a:latin typeface="Fira Code"/>
                <a:ea typeface="Fira Code"/>
                <a:cs typeface="B Nazanin" panose="00000400000000000000" pitchFamily="2" charset="-78"/>
              </a:rPr>
              <a:t>character</a:t>
            </a:r>
            <a:r>
              <a:rPr lang="en-US" altLang="en-US" dirty="0">
                <a:solidFill>
                  <a:schemeClr val="accent3"/>
                </a:solidFill>
                <a:latin typeface="Fira Code"/>
                <a:ea typeface="Fira Code"/>
                <a:cs typeface="B Nazanin" panose="00000400000000000000" pitchFamily="2" charset="-78"/>
              </a:rPr>
              <a:t> as input from the user, but prints that character as an </a:t>
            </a:r>
            <a:r>
              <a:rPr lang="en-US" altLang="en-US" b="1" dirty="0">
                <a:solidFill>
                  <a:schemeClr val="accent3"/>
                </a:solidFill>
                <a:latin typeface="Fira Code"/>
                <a:ea typeface="Fira Code"/>
                <a:cs typeface="B Nazanin" panose="00000400000000000000" pitchFamily="2" charset="-78"/>
              </a:rPr>
              <a:t>integer</a:t>
            </a:r>
            <a:r>
              <a:rPr lang="en-US" altLang="en-US" dirty="0">
                <a:solidFill>
                  <a:schemeClr val="accent3"/>
                </a:solidFill>
                <a:latin typeface="Fira Code"/>
                <a:ea typeface="Fira Code"/>
                <a:cs typeface="B Nazanin" panose="00000400000000000000" pitchFamily="2" charset="-78"/>
              </a:rPr>
              <a:t> in the output.</a:t>
            </a:r>
            <a:endParaRPr lang="fa-IR" altLang="en-US" dirty="0">
              <a:solidFill>
                <a:schemeClr val="accent3"/>
              </a:solidFill>
              <a:latin typeface="Fira Code"/>
              <a:ea typeface="Fira Code"/>
              <a:cs typeface="B Nazanin" panose="00000400000000000000" pitchFamily="2" charset="-78"/>
            </a:endParaRPr>
          </a:p>
          <a:p>
            <a:pPr lvl="0" eaLnBrk="0" fontAlgn="base" hangingPunct="0">
              <a:spcBef>
                <a:spcPct val="0"/>
              </a:spcBef>
              <a:spcAft>
                <a:spcPct val="0"/>
              </a:spcAft>
              <a:buClrTx/>
            </a:pPr>
            <a:endParaRPr lang="fa-IR"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r>
              <a:rPr lang="en-US" altLang="en-US" dirty="0">
                <a:solidFill>
                  <a:schemeClr val="accent3"/>
                </a:solidFill>
                <a:latin typeface="Fira Code"/>
                <a:ea typeface="Fira Code"/>
                <a:cs typeface="B Nazanin" panose="00000400000000000000" pitchFamily="2" charset="-78"/>
              </a:rPr>
              <a:t>What do you think this output shows us? Does it make sense or is it meaningless?</a:t>
            </a:r>
          </a:p>
          <a:p>
            <a:pPr lvl="0" eaLnBrk="0" fontAlgn="base" hangingPunct="0">
              <a:spcBef>
                <a:spcPct val="0"/>
              </a:spcBef>
              <a:spcAft>
                <a:spcPct val="0"/>
              </a:spcAft>
              <a:buClrTx/>
            </a:pPr>
            <a:endParaRPr lang="fa-IR" altLang="en-US" dirty="0">
              <a:solidFill>
                <a:schemeClr val="accent3"/>
              </a:solidFill>
              <a:latin typeface="Fira Code"/>
              <a:ea typeface="Fira Code"/>
              <a:cs typeface="B Nazanin" panose="00000400000000000000" pitchFamily="2" charset="-78"/>
            </a:endParaRPr>
          </a:p>
          <a:p>
            <a:pPr lvl="0" eaLnBrk="0" fontAlgn="base" hangingPunct="0">
              <a:spcBef>
                <a:spcPct val="0"/>
              </a:spcBef>
              <a:spcAft>
                <a:spcPct val="0"/>
              </a:spcAft>
              <a:buClrTx/>
            </a:pPr>
            <a:endParaRPr lang="en-US" altLang="en-US" dirty="0">
              <a:solidFill>
                <a:schemeClr val="accent3"/>
              </a:solidFill>
              <a:latin typeface="Fira Code"/>
              <a:ea typeface="Fira Code"/>
              <a:cs typeface="B Nazanin" panose="00000400000000000000" pitchFamily="2" charset="-78"/>
            </a:endParaRPr>
          </a:p>
        </p:txBody>
      </p:sp>
      <p:sp>
        <p:nvSpPr>
          <p:cNvPr id="7" name="Google Shape;473;p28">
            <a:extLst>
              <a:ext uri="{FF2B5EF4-FFF2-40B4-BE49-F238E27FC236}">
                <a16:creationId xmlns:a16="http://schemas.microsoft.com/office/drawing/2014/main" id="{8FD3ED2C-2301-5B3C-1E6F-9B240A58050B}"/>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9" name="Google Shape;473;p28">
            <a:extLst>
              <a:ext uri="{FF2B5EF4-FFF2-40B4-BE49-F238E27FC236}">
                <a16:creationId xmlns:a16="http://schemas.microsoft.com/office/drawing/2014/main" id="{D5736DC8-2A17-CBAB-F5E8-056C996011F3}"/>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7</a:t>
            </a:r>
            <a:endParaRPr lang="en" dirty="0">
              <a:solidFill>
                <a:schemeClr val="accent3"/>
              </a:solidFill>
            </a:endParaRPr>
          </a:p>
        </p:txBody>
      </p:sp>
      <p:sp>
        <p:nvSpPr>
          <p:cNvPr id="2" name="Google Shape;465;p27">
            <a:extLst>
              <a:ext uri="{FF2B5EF4-FFF2-40B4-BE49-F238E27FC236}">
                <a16:creationId xmlns:a16="http://schemas.microsoft.com/office/drawing/2014/main" id="{FEAEE508-035D-9A78-178A-FD9EB09BAEBF}"/>
              </a:ext>
            </a:extLst>
          </p:cNvPr>
          <p:cNvSpPr txBox="1">
            <a:spLocks/>
          </p:cNvSpPr>
          <p:nvPr/>
        </p:nvSpPr>
        <p:spPr>
          <a:xfrm>
            <a:off x="-5975"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sym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9pPr>
          </a:lstStyle>
          <a:p>
            <a:pPr marL="0" indent="0" algn="ctr"/>
            <a:r>
              <a:rPr lang="en-US" sz="1000"/>
              <a:t>Pseudocode.c</a:t>
            </a:r>
            <a:endParaRPr lang="en-US" sz="1000" dirty="0"/>
          </a:p>
        </p:txBody>
      </p:sp>
    </p:spTree>
    <p:extLst>
      <p:ext uri="{BB962C8B-B14F-4D97-AF65-F5344CB8AC3E}">
        <p14:creationId xmlns:p14="http://schemas.microsoft.com/office/powerpoint/2010/main" val="3757757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DAE457-6998-14C2-99F1-11F49C0F3B37}"/>
              </a:ext>
            </a:extLst>
          </p:cNvPr>
          <p:cNvSpPr txBox="1"/>
          <p:nvPr/>
        </p:nvSpPr>
        <p:spPr>
          <a:xfrm>
            <a:off x="957649" y="940137"/>
            <a:ext cx="8013356" cy="461664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chemeClr val="accent3"/>
                </a:solidFill>
                <a:latin typeface="Fira Code"/>
                <a:ea typeface="Fira Code"/>
                <a:cs typeface="B Nazanin" panose="00000400000000000000" pitchFamily="2" charset="-78"/>
              </a:rPr>
              <a:t>Well, what happens if we use the data type long int instead of int? Will our program run into any issues? </a:t>
            </a: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r>
              <a:rPr lang="en-US" altLang="en-US" dirty="0">
                <a:solidFill>
                  <a:schemeClr val="accent3"/>
                </a:solidFill>
                <a:latin typeface="Fira Code"/>
                <a:ea typeface="Fira Code"/>
                <a:cs typeface="B Nazanin" panose="00000400000000000000" pitchFamily="2" charset="-78"/>
              </a:rPr>
              <a:t>Maybe nothing will happen functionally and the program will run correctly, but the problem is that we are using more memory by using larger variables, which makes our program heavier. So, we need to be careful when choosing the type of variable.</a:t>
            </a:r>
            <a:endParaRPr lang="fa-IR"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endParaRPr lang="fa-IR"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endParaRPr lang="en-US" altLang="en-US" dirty="0">
              <a:solidFill>
                <a:schemeClr val="accent3"/>
              </a:solidFill>
              <a:latin typeface="Fira Code"/>
              <a:ea typeface="Fira Code"/>
              <a:cs typeface="B Nazanin" panose="00000400000000000000" pitchFamily="2" charset="-78"/>
            </a:endParaRPr>
          </a:p>
          <a:p>
            <a:pPr algn="just" eaLnBrk="0" fontAlgn="base" hangingPunct="0">
              <a:spcBef>
                <a:spcPct val="0"/>
              </a:spcBef>
              <a:spcAft>
                <a:spcPct val="0"/>
              </a:spcAft>
              <a:buClrTx/>
            </a:pPr>
            <a:r>
              <a:rPr lang="en-US" altLang="en-US" dirty="0">
                <a:solidFill>
                  <a:schemeClr val="accent3"/>
                </a:solidFill>
                <a:latin typeface="Fira Code"/>
                <a:ea typeface="Fira Code"/>
                <a:cs typeface="B Nazanin" panose="00000400000000000000" pitchFamily="2" charset="-78"/>
              </a:rPr>
              <a:t>You can use the </a:t>
            </a:r>
            <a:r>
              <a:rPr lang="en-US" altLang="en-US" dirty="0" err="1">
                <a:solidFill>
                  <a:schemeClr val="accent3"/>
                </a:solidFill>
                <a:latin typeface="Fira Code"/>
                <a:ea typeface="Fira Code"/>
                <a:cs typeface="B Nazanin" panose="00000400000000000000" pitchFamily="2" charset="-78"/>
              </a:rPr>
              <a:t>sizeof</a:t>
            </a:r>
            <a:r>
              <a:rPr lang="en-US" altLang="en-US" dirty="0">
                <a:solidFill>
                  <a:schemeClr val="accent3"/>
                </a:solidFill>
                <a:latin typeface="Fira Code"/>
                <a:ea typeface="Fira Code"/>
                <a:cs typeface="B Nazanin" panose="00000400000000000000" pitchFamily="2" charset="-78"/>
              </a:rPr>
              <a:t> to see how much memory each data type occupies.</a:t>
            </a: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("int: %</a:t>
            </a:r>
            <a:r>
              <a:rPr lang="en-US" dirty="0" err="1">
                <a:solidFill>
                  <a:schemeClr val="accent6"/>
                </a:solidFill>
                <a:latin typeface="Consolas" panose="020B0609020204030204" pitchFamily="49" charset="0"/>
              </a:rPr>
              <a:t>ld</a:t>
            </a:r>
            <a:r>
              <a:rPr lang="en-US" dirty="0">
                <a:solidFill>
                  <a:schemeClr val="accent6"/>
                </a:solidFill>
                <a:latin typeface="Consolas" panose="020B0609020204030204" pitchFamily="49" charset="0"/>
              </a:rPr>
              <a:t> \n", </a:t>
            </a:r>
            <a:r>
              <a:rPr lang="en-US" dirty="0" err="1">
                <a:solidFill>
                  <a:srgbClr val="FF0000"/>
                </a:solidFill>
                <a:latin typeface="Consolas" panose="020B0609020204030204" pitchFamily="49" charset="0"/>
              </a:rPr>
              <a:t>sizeof</a:t>
            </a:r>
            <a:r>
              <a:rPr lang="en-US" dirty="0">
                <a:solidFill>
                  <a:schemeClr val="accent6"/>
                </a:solidFill>
                <a:latin typeface="Consolas" panose="020B0609020204030204" pitchFamily="49" charset="0"/>
              </a:rPr>
              <a:t>(</a:t>
            </a:r>
            <a:r>
              <a:rPr lang="en-US" i="1" dirty="0">
                <a:solidFill>
                  <a:srgbClr val="7030A0"/>
                </a:solidFill>
                <a:latin typeface="Consolas" panose="020B0609020204030204" pitchFamily="49" charset="0"/>
              </a:rPr>
              <a:t>int</a:t>
            </a:r>
            <a:r>
              <a:rPr lang="en-US" dirty="0">
                <a:solidFill>
                  <a:schemeClr val="accent6"/>
                </a:solidFill>
                <a:latin typeface="Consolas" panose="020B0609020204030204" pitchFamily="49" charset="0"/>
              </a:rPr>
              <a:t>));</a:t>
            </a:r>
          </a:p>
          <a:p>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("float: %</a:t>
            </a:r>
            <a:r>
              <a:rPr lang="en-US" dirty="0" err="1">
                <a:solidFill>
                  <a:schemeClr val="accent6"/>
                </a:solidFill>
                <a:latin typeface="Consolas" panose="020B0609020204030204" pitchFamily="49" charset="0"/>
              </a:rPr>
              <a:t>ld</a:t>
            </a:r>
            <a:r>
              <a:rPr lang="en-US" dirty="0">
                <a:solidFill>
                  <a:schemeClr val="accent6"/>
                </a:solidFill>
                <a:latin typeface="Consolas" panose="020B0609020204030204" pitchFamily="49" charset="0"/>
              </a:rPr>
              <a:t> \n", </a:t>
            </a:r>
            <a:r>
              <a:rPr lang="en-US" dirty="0" err="1">
                <a:solidFill>
                  <a:srgbClr val="FF0000"/>
                </a:solidFill>
                <a:latin typeface="Consolas" panose="020B0609020204030204" pitchFamily="49" charset="0"/>
              </a:rPr>
              <a:t>sizeof</a:t>
            </a:r>
            <a:r>
              <a:rPr lang="en-US" dirty="0">
                <a:solidFill>
                  <a:schemeClr val="accent6"/>
                </a:solidFill>
                <a:latin typeface="Consolas" panose="020B0609020204030204" pitchFamily="49" charset="0"/>
              </a:rPr>
              <a:t>(</a:t>
            </a:r>
            <a:r>
              <a:rPr lang="en-US" i="1" dirty="0">
                <a:solidFill>
                  <a:srgbClr val="00B0F0"/>
                </a:solidFill>
                <a:latin typeface="Consolas" panose="020B0609020204030204" pitchFamily="49" charset="0"/>
              </a:rPr>
              <a:t>float</a:t>
            </a:r>
            <a:r>
              <a:rPr lang="en-US" dirty="0">
                <a:solidFill>
                  <a:schemeClr val="accent6"/>
                </a:solidFill>
                <a:latin typeface="Consolas" panose="020B0609020204030204" pitchFamily="49" charset="0"/>
              </a:rPr>
              <a:t>));</a:t>
            </a:r>
          </a:p>
          <a:p>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("double: %</a:t>
            </a:r>
            <a:r>
              <a:rPr lang="en-US" dirty="0" err="1">
                <a:solidFill>
                  <a:schemeClr val="accent6"/>
                </a:solidFill>
                <a:latin typeface="Consolas" panose="020B0609020204030204" pitchFamily="49" charset="0"/>
              </a:rPr>
              <a:t>ld</a:t>
            </a:r>
            <a:r>
              <a:rPr lang="en-US" dirty="0">
                <a:solidFill>
                  <a:schemeClr val="accent6"/>
                </a:solidFill>
                <a:latin typeface="Consolas" panose="020B0609020204030204" pitchFamily="49" charset="0"/>
              </a:rPr>
              <a:t> \n", </a:t>
            </a:r>
            <a:r>
              <a:rPr lang="en-US" dirty="0" err="1">
                <a:solidFill>
                  <a:srgbClr val="FF0000"/>
                </a:solidFill>
                <a:latin typeface="Consolas" panose="020B0609020204030204" pitchFamily="49" charset="0"/>
              </a:rPr>
              <a:t>sizeof</a:t>
            </a:r>
            <a:r>
              <a:rPr lang="en-US" dirty="0">
                <a:solidFill>
                  <a:schemeClr val="accent6"/>
                </a:solidFill>
                <a:latin typeface="Consolas" panose="020B0609020204030204" pitchFamily="49" charset="0"/>
              </a:rPr>
              <a:t>(</a:t>
            </a:r>
            <a:r>
              <a:rPr lang="en-US" i="1" dirty="0">
                <a:solidFill>
                  <a:srgbClr val="92D050"/>
                </a:solidFill>
                <a:latin typeface="Consolas" panose="020B0609020204030204" pitchFamily="49" charset="0"/>
              </a:rPr>
              <a:t>double</a:t>
            </a:r>
            <a:r>
              <a:rPr lang="en-US" dirty="0">
                <a:solidFill>
                  <a:schemeClr val="accent6"/>
                </a:solidFill>
                <a:latin typeface="Consolas" panose="020B0609020204030204" pitchFamily="49" charset="0"/>
              </a:rPr>
              <a:t>));</a:t>
            </a:r>
          </a:p>
          <a:p>
            <a:r>
              <a:rPr lang="en-US" dirty="0">
                <a:solidFill>
                  <a:schemeClr val="accent6"/>
                </a:solidFill>
                <a:latin typeface="Consolas" panose="020B0609020204030204" pitchFamily="49" charset="0"/>
              </a:rPr>
              <a:t> </a:t>
            </a:r>
            <a:r>
              <a:rPr lang="en-US" dirty="0" err="1">
                <a:solidFill>
                  <a:schemeClr val="accent6"/>
                </a:solidFill>
                <a:latin typeface="Consolas" panose="020B0609020204030204" pitchFamily="49" charset="0"/>
              </a:rPr>
              <a:t>printf</a:t>
            </a:r>
            <a:r>
              <a:rPr lang="en-US" dirty="0">
                <a:solidFill>
                  <a:schemeClr val="accent6"/>
                </a:solidFill>
                <a:latin typeface="Consolas" panose="020B0609020204030204" pitchFamily="49" charset="0"/>
              </a:rPr>
              <a:t>("char: %</a:t>
            </a:r>
            <a:r>
              <a:rPr lang="en-US" dirty="0" err="1">
                <a:solidFill>
                  <a:schemeClr val="accent6"/>
                </a:solidFill>
                <a:latin typeface="Consolas" panose="020B0609020204030204" pitchFamily="49" charset="0"/>
              </a:rPr>
              <a:t>ld</a:t>
            </a:r>
            <a:r>
              <a:rPr lang="en-US" dirty="0">
                <a:solidFill>
                  <a:schemeClr val="accent6"/>
                </a:solidFill>
                <a:latin typeface="Consolas" panose="020B0609020204030204" pitchFamily="49" charset="0"/>
              </a:rPr>
              <a:t> \n", </a:t>
            </a:r>
            <a:r>
              <a:rPr lang="en-US" dirty="0" err="1">
                <a:solidFill>
                  <a:srgbClr val="FF0000"/>
                </a:solidFill>
                <a:latin typeface="Consolas" panose="020B0609020204030204" pitchFamily="49" charset="0"/>
              </a:rPr>
              <a:t>sizeof</a:t>
            </a:r>
            <a:r>
              <a:rPr lang="en-US" dirty="0">
                <a:solidFill>
                  <a:schemeClr val="accent6"/>
                </a:solidFill>
                <a:latin typeface="Consolas" panose="020B0609020204030204" pitchFamily="49" charset="0"/>
              </a:rPr>
              <a:t>(</a:t>
            </a:r>
            <a:r>
              <a:rPr lang="en-US" i="1" dirty="0">
                <a:solidFill>
                  <a:srgbClr val="FFC000"/>
                </a:solidFill>
                <a:latin typeface="Consolas" panose="020B0609020204030204" pitchFamily="49" charset="0"/>
              </a:rPr>
              <a:t>char</a:t>
            </a:r>
            <a:r>
              <a:rPr lang="en-US" dirty="0">
                <a:solidFill>
                  <a:schemeClr val="accent6"/>
                </a:solidFill>
                <a:latin typeface="Consolas" panose="020B0609020204030204" pitchFamily="49" charset="0"/>
              </a:rPr>
              <a:t>));</a:t>
            </a:r>
            <a:endParaRPr lang="en-US" altLang="en-US" dirty="0">
              <a:solidFill>
                <a:schemeClr val="accent6"/>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fa-IR"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chemeClr val="accent3"/>
              </a:solidFill>
              <a:latin typeface="Fira Code"/>
              <a:ea typeface="Fira Code"/>
              <a:cs typeface="B Nazanin" panose="00000400000000000000" pitchFamily="2" charset="-78"/>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chemeClr val="accent3"/>
              </a:solidFill>
              <a:latin typeface="Fira Code"/>
              <a:ea typeface="Fira Code"/>
              <a:cs typeface="B Nazanin" panose="00000400000000000000" pitchFamily="2" charset="-78"/>
            </a:endParaRPr>
          </a:p>
        </p:txBody>
      </p:sp>
      <p:sp>
        <p:nvSpPr>
          <p:cNvPr id="6" name="TextBox 5">
            <a:extLst>
              <a:ext uri="{FF2B5EF4-FFF2-40B4-BE49-F238E27FC236}">
                <a16:creationId xmlns:a16="http://schemas.microsoft.com/office/drawing/2014/main" id="{6BFCE5C5-6DA7-D0DB-1DA1-1927CF9248EE}"/>
              </a:ext>
            </a:extLst>
          </p:cNvPr>
          <p:cNvSpPr txBox="1"/>
          <p:nvPr/>
        </p:nvSpPr>
        <p:spPr>
          <a:xfrm>
            <a:off x="957649" y="374362"/>
            <a:ext cx="4572000" cy="461665"/>
          </a:xfrm>
          <a:prstGeom prst="rect">
            <a:avLst/>
          </a:prstGeom>
          <a:noFill/>
        </p:spPr>
        <p:txBody>
          <a:bodyPr wrap="square">
            <a:spAutoFit/>
          </a:bodyPr>
          <a:lstStyle/>
          <a:p>
            <a:r>
              <a:rPr lang="en-US" sz="2400" dirty="0">
                <a:solidFill>
                  <a:schemeClr val="accent2"/>
                </a:solidFill>
                <a:latin typeface="Fira Code"/>
                <a:ea typeface="Fira Code"/>
                <a:cs typeface="Fira Code"/>
                <a:sym typeface="Fira Code"/>
              </a:rPr>
              <a:t>Question</a:t>
            </a:r>
          </a:p>
        </p:txBody>
      </p:sp>
      <p:sp>
        <p:nvSpPr>
          <p:cNvPr id="3" name="Google Shape;473;p28">
            <a:extLst>
              <a:ext uri="{FF2B5EF4-FFF2-40B4-BE49-F238E27FC236}">
                <a16:creationId xmlns:a16="http://schemas.microsoft.com/office/drawing/2014/main" id="{884C2F4A-8FD5-8E41-F330-D44EFB4427AE}"/>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5" name="Google Shape;473;p28">
            <a:extLst>
              <a:ext uri="{FF2B5EF4-FFF2-40B4-BE49-F238E27FC236}">
                <a16:creationId xmlns:a16="http://schemas.microsoft.com/office/drawing/2014/main" id="{8129167D-322C-2C60-3B9B-AFCDB7BB1F6E}"/>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8</a:t>
            </a:r>
            <a:endParaRPr lang="en" dirty="0">
              <a:solidFill>
                <a:schemeClr val="accent3"/>
              </a:solidFill>
            </a:endParaRPr>
          </a:p>
        </p:txBody>
      </p:sp>
    </p:spTree>
    <p:extLst>
      <p:ext uri="{BB962C8B-B14F-4D97-AF65-F5344CB8AC3E}">
        <p14:creationId xmlns:p14="http://schemas.microsoft.com/office/powerpoint/2010/main" val="7084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2B6AC-899F-84D4-CDAB-19EECDBC93D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4BD1ED0-6177-BBE9-A4C4-389ACF88351A}"/>
              </a:ext>
            </a:extLst>
          </p:cNvPr>
          <p:cNvSpPr txBox="1"/>
          <p:nvPr/>
        </p:nvSpPr>
        <p:spPr>
          <a:xfrm>
            <a:off x="1130643" y="119352"/>
            <a:ext cx="4572000" cy="461665"/>
          </a:xfrm>
          <a:prstGeom prst="rect">
            <a:avLst/>
          </a:prstGeom>
          <a:noFill/>
        </p:spPr>
        <p:txBody>
          <a:bodyPr wrap="square">
            <a:spAutoFit/>
          </a:bodyPr>
          <a:lstStyle/>
          <a:p>
            <a:r>
              <a:rPr lang="en-US" sz="2400" dirty="0">
                <a:solidFill>
                  <a:schemeClr val="accent2"/>
                </a:solidFill>
                <a:latin typeface="Fira Code"/>
                <a:ea typeface="Fira Code"/>
                <a:cs typeface="Fira Code"/>
                <a:sym typeface="Fira Code"/>
              </a:rPr>
              <a:t>Home Work</a:t>
            </a:r>
          </a:p>
        </p:txBody>
      </p:sp>
      <p:sp>
        <p:nvSpPr>
          <p:cNvPr id="3" name="Google Shape;473;p28">
            <a:extLst>
              <a:ext uri="{FF2B5EF4-FFF2-40B4-BE49-F238E27FC236}">
                <a16:creationId xmlns:a16="http://schemas.microsoft.com/office/drawing/2014/main" id="{2A6193F6-5F1E-733A-6151-68FED5FA78AC}"/>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5" name="Google Shape;473;p28">
            <a:extLst>
              <a:ext uri="{FF2B5EF4-FFF2-40B4-BE49-F238E27FC236}">
                <a16:creationId xmlns:a16="http://schemas.microsoft.com/office/drawing/2014/main" id="{50A32439-1046-EF4F-20AC-0423B3AEB1A7}"/>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8</a:t>
            </a:r>
            <a:endParaRPr lang="en" dirty="0">
              <a:solidFill>
                <a:schemeClr val="accent3"/>
              </a:solidFill>
            </a:endParaRPr>
          </a:p>
        </p:txBody>
      </p:sp>
      <p:sp>
        <p:nvSpPr>
          <p:cNvPr id="4" name="TextBox 3">
            <a:extLst>
              <a:ext uri="{FF2B5EF4-FFF2-40B4-BE49-F238E27FC236}">
                <a16:creationId xmlns:a16="http://schemas.microsoft.com/office/drawing/2014/main" id="{DE38C815-0319-5BC3-4F27-D0D0AE6E5F94}"/>
              </a:ext>
            </a:extLst>
          </p:cNvPr>
          <p:cNvSpPr txBox="1"/>
          <p:nvPr/>
        </p:nvSpPr>
        <p:spPr>
          <a:xfrm>
            <a:off x="1075039" y="715718"/>
            <a:ext cx="7858898" cy="3816429"/>
          </a:xfrm>
          <a:prstGeom prst="rect">
            <a:avLst/>
          </a:prstGeom>
          <a:noFill/>
        </p:spPr>
        <p:txBody>
          <a:bodyPr wrap="square">
            <a:spAutoFit/>
          </a:bodyPr>
          <a:lstStyle/>
          <a:p>
            <a:pPr algn="just">
              <a:lnSpc>
                <a:spcPct val="150000"/>
              </a:lnSpc>
              <a:buNone/>
            </a:pPr>
            <a:r>
              <a:rPr lang="en-US" sz="1200" dirty="0">
                <a:solidFill>
                  <a:schemeClr val="accent3"/>
                </a:solidFill>
                <a:latin typeface="Fira Code"/>
                <a:ea typeface="Fira Code"/>
                <a:cs typeface="B Nazanin" panose="00000400000000000000" pitchFamily="2" charset="-78"/>
              </a:rPr>
              <a:t>A class of ten students took a quiz. The grades (integers between 0 and 100) for this quiz are given.</a:t>
            </a:r>
            <a:endParaRPr lang="fa-IR" sz="1200" dirty="0">
              <a:solidFill>
                <a:schemeClr val="accent3"/>
              </a:solidFill>
              <a:latin typeface="Fira Code"/>
              <a:ea typeface="Fira Code"/>
              <a:cs typeface="B Nazanin" panose="00000400000000000000" pitchFamily="2" charset="-78"/>
            </a:endParaRPr>
          </a:p>
          <a:p>
            <a:pPr>
              <a:lnSpc>
                <a:spcPct val="150000"/>
              </a:lnSpc>
              <a:buNone/>
            </a:pPr>
            <a:br>
              <a:rPr lang="en-US" sz="1200" dirty="0">
                <a:solidFill>
                  <a:schemeClr val="accent3"/>
                </a:solidFill>
                <a:latin typeface="Fira Code"/>
                <a:ea typeface="Fira Code"/>
                <a:cs typeface="B Nazanin" panose="00000400000000000000" pitchFamily="2" charset="-78"/>
              </a:rPr>
            </a:br>
            <a:r>
              <a:rPr lang="en-US" sz="1200" dirty="0">
                <a:solidFill>
                  <a:schemeClr val="accent3"/>
                </a:solidFill>
                <a:latin typeface="Fira Code"/>
                <a:ea typeface="Fira Code"/>
                <a:cs typeface="B Nazanin" panose="00000400000000000000" pitchFamily="2" charset="-78"/>
              </a:rPr>
              <a:t>Your task is to determine the class average.</a:t>
            </a:r>
          </a:p>
          <a:p>
            <a:pPr>
              <a:lnSpc>
                <a:spcPct val="150000"/>
              </a:lnSpc>
              <a:buNone/>
            </a:pPr>
            <a:r>
              <a:rPr lang="en-US" sz="1200" dirty="0">
                <a:solidFill>
                  <a:schemeClr val="accent3"/>
                </a:solidFill>
                <a:latin typeface="Fira Code"/>
                <a:ea typeface="Fira Code"/>
                <a:cs typeface="B Nazanin" panose="00000400000000000000" pitchFamily="2" charset="-78"/>
              </a:rPr>
              <a:t>Write a pseudocode algorithm that:</a:t>
            </a:r>
            <a:endParaRPr lang="fa-IR" sz="1200" dirty="0">
              <a:solidFill>
                <a:schemeClr val="accent3"/>
              </a:solidFill>
              <a:latin typeface="Fira Code"/>
              <a:ea typeface="Fira Code"/>
              <a:cs typeface="B Nazanin" panose="00000400000000000000" pitchFamily="2" charset="-78"/>
            </a:endParaRPr>
          </a:p>
          <a:p>
            <a:pPr>
              <a:lnSpc>
                <a:spcPct val="150000"/>
              </a:lnSpc>
              <a:buNone/>
            </a:pPr>
            <a:endParaRPr lang="en-US" sz="1200" dirty="0">
              <a:solidFill>
                <a:schemeClr val="accent3"/>
              </a:solidFill>
              <a:latin typeface="Fira Code"/>
              <a:ea typeface="Fira Code"/>
              <a:cs typeface="B Nazanin" panose="00000400000000000000" pitchFamily="2" charset="-78"/>
            </a:endParaRPr>
          </a:p>
          <a:p>
            <a:pPr>
              <a:lnSpc>
                <a:spcPct val="150000"/>
              </a:lnSpc>
              <a:buClr>
                <a:schemeClr val="accent3"/>
              </a:buClr>
              <a:buFont typeface="+mj-lt"/>
              <a:buAutoNum type="arabicPeriod"/>
            </a:pPr>
            <a:r>
              <a:rPr lang="en-US" sz="1200" dirty="0">
                <a:solidFill>
                  <a:schemeClr val="accent3"/>
                </a:solidFill>
                <a:latin typeface="Fira Code"/>
                <a:ea typeface="Fira Code"/>
                <a:cs typeface="B Nazanin" panose="00000400000000000000" pitchFamily="2" charset="-78"/>
              </a:rPr>
              <a:t>Inputs the grades of all 10 students (one at a time)</a:t>
            </a:r>
          </a:p>
          <a:p>
            <a:pPr>
              <a:lnSpc>
                <a:spcPct val="150000"/>
              </a:lnSpc>
              <a:buClr>
                <a:schemeClr val="accent3"/>
              </a:buClr>
              <a:buFont typeface="+mj-lt"/>
              <a:buAutoNum type="arabicPeriod"/>
            </a:pPr>
            <a:r>
              <a:rPr lang="en-US" sz="1200" dirty="0">
                <a:solidFill>
                  <a:schemeClr val="accent3"/>
                </a:solidFill>
                <a:latin typeface="Fira Code"/>
                <a:ea typeface="Fira Code"/>
                <a:cs typeface="B Nazanin" panose="00000400000000000000" pitchFamily="2" charset="-78"/>
              </a:rPr>
              <a:t>Calculates the average grade</a:t>
            </a:r>
          </a:p>
          <a:p>
            <a:pPr>
              <a:lnSpc>
                <a:spcPct val="150000"/>
              </a:lnSpc>
              <a:buClr>
                <a:schemeClr val="accent3"/>
              </a:buClr>
              <a:buFont typeface="+mj-lt"/>
              <a:buAutoNum type="arabicPeriod"/>
            </a:pPr>
            <a:r>
              <a:rPr lang="en-US" sz="1200" dirty="0">
                <a:solidFill>
                  <a:schemeClr val="accent3"/>
                </a:solidFill>
                <a:latin typeface="Fira Code"/>
                <a:ea typeface="Fira Code"/>
                <a:cs typeface="B Nazanin" panose="00000400000000000000" pitchFamily="2" charset="-78"/>
              </a:rPr>
              <a:t>Displays the result</a:t>
            </a:r>
            <a:endParaRPr lang="fa-IR" sz="1200" dirty="0">
              <a:solidFill>
                <a:schemeClr val="accent3"/>
              </a:solidFill>
              <a:latin typeface="Fira Code"/>
              <a:ea typeface="Fira Code"/>
              <a:cs typeface="B Nazanin" panose="00000400000000000000" pitchFamily="2" charset="-78"/>
            </a:endParaRPr>
          </a:p>
          <a:p>
            <a:pPr>
              <a:lnSpc>
                <a:spcPct val="150000"/>
              </a:lnSpc>
              <a:buClr>
                <a:schemeClr val="accent3"/>
              </a:buClr>
            </a:pPr>
            <a:endParaRPr lang="en-US" sz="1200" dirty="0">
              <a:solidFill>
                <a:schemeClr val="accent3"/>
              </a:solidFill>
              <a:latin typeface="Fira Code"/>
              <a:ea typeface="Fira Code"/>
              <a:cs typeface="B Nazanin" panose="00000400000000000000" pitchFamily="2" charset="-78"/>
            </a:endParaRPr>
          </a:p>
          <a:p>
            <a:pPr>
              <a:buNone/>
            </a:pPr>
            <a:r>
              <a:rPr lang="en-US" sz="1200" dirty="0">
                <a:solidFill>
                  <a:schemeClr val="accent3"/>
                </a:solidFill>
                <a:latin typeface="Fira Code"/>
                <a:ea typeface="Fira Code"/>
                <a:cs typeface="B Nazanin" panose="00000400000000000000" pitchFamily="2" charset="-78"/>
              </a:rPr>
              <a:t>You must use counter-controlled repetition in your pseudocode.</a:t>
            </a:r>
            <a:endParaRPr lang="fa-IR" sz="1200" dirty="0">
              <a:solidFill>
                <a:schemeClr val="accent3"/>
              </a:solidFill>
              <a:latin typeface="Fira Code"/>
              <a:ea typeface="Fira Code"/>
              <a:cs typeface="B Nazanin" panose="00000400000000000000" pitchFamily="2" charset="-78"/>
            </a:endParaRPr>
          </a:p>
          <a:p>
            <a:pPr algn="just">
              <a:buNone/>
            </a:pPr>
            <a:br>
              <a:rPr lang="en-US" sz="1200" dirty="0">
                <a:solidFill>
                  <a:schemeClr val="accent3"/>
                </a:solidFill>
                <a:latin typeface="Fira Code"/>
                <a:ea typeface="Fira Code"/>
                <a:cs typeface="B Nazanin" panose="00000400000000000000" pitchFamily="2" charset="-78"/>
              </a:rPr>
            </a:br>
            <a:r>
              <a:rPr lang="en-US" sz="1200" dirty="0">
                <a:solidFill>
                  <a:schemeClr val="accent3"/>
                </a:solidFill>
                <a:latin typeface="Fira Code"/>
                <a:ea typeface="Fira Code"/>
                <a:cs typeface="B Nazanin" panose="00000400000000000000" pitchFamily="2" charset="-78"/>
              </a:rPr>
              <a:t>This type of repetition is also known as definite repetition, where the number of iterations is known in advance.</a:t>
            </a:r>
            <a:endParaRPr lang="fa-IR" sz="1200" dirty="0">
              <a:solidFill>
                <a:schemeClr val="accent3"/>
              </a:solidFill>
              <a:latin typeface="Fira Code"/>
              <a:ea typeface="Fira Code"/>
              <a:cs typeface="B Nazanin" panose="00000400000000000000" pitchFamily="2" charset="-78"/>
            </a:endParaRPr>
          </a:p>
          <a:p>
            <a:pPr>
              <a:buNone/>
            </a:pPr>
            <a:endParaRPr lang="en-US" dirty="0">
              <a:solidFill>
                <a:schemeClr val="accent3"/>
              </a:solidFill>
              <a:latin typeface="Fira Code"/>
              <a:ea typeface="Fira Code"/>
              <a:cs typeface="B Nazanin" panose="00000400000000000000" pitchFamily="2" charset="-78"/>
            </a:endParaRPr>
          </a:p>
        </p:txBody>
      </p:sp>
      <p:sp>
        <p:nvSpPr>
          <p:cNvPr id="7" name="TextBox 6">
            <a:extLst>
              <a:ext uri="{FF2B5EF4-FFF2-40B4-BE49-F238E27FC236}">
                <a16:creationId xmlns:a16="http://schemas.microsoft.com/office/drawing/2014/main" id="{C91934DB-3D7B-057C-F9F3-8703350806CF}"/>
              </a:ext>
            </a:extLst>
          </p:cNvPr>
          <p:cNvSpPr txBox="1"/>
          <p:nvPr/>
        </p:nvSpPr>
        <p:spPr>
          <a:xfrm>
            <a:off x="6675021" y="128722"/>
            <a:ext cx="2576184" cy="246221"/>
          </a:xfrm>
          <a:prstGeom prst="rect">
            <a:avLst/>
          </a:prstGeom>
          <a:noFill/>
        </p:spPr>
        <p:txBody>
          <a:bodyPr wrap="square">
            <a:spAutoFit/>
          </a:bodyPr>
          <a:lstStyle/>
          <a:p>
            <a:r>
              <a:rPr lang="en-US" sz="1000" dirty="0">
                <a:solidFill>
                  <a:schemeClr val="accent3"/>
                </a:solidFill>
                <a:latin typeface="Fira Code"/>
                <a:ea typeface="Fira Code"/>
                <a:cs typeface="Fira Code"/>
                <a:sym typeface="Fira Code"/>
              </a:rPr>
              <a:t>HW1</a:t>
            </a:r>
          </a:p>
        </p:txBody>
      </p:sp>
    </p:spTree>
    <p:extLst>
      <p:ext uri="{BB962C8B-B14F-4D97-AF65-F5344CB8AC3E}">
        <p14:creationId xmlns:p14="http://schemas.microsoft.com/office/powerpoint/2010/main" val="2462575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9CB14-3F33-9FAB-5288-987C93E0F88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9EA121-A4F5-8D3D-08D3-9D0F0F5FF3AE}"/>
              </a:ext>
            </a:extLst>
          </p:cNvPr>
          <p:cNvSpPr txBox="1"/>
          <p:nvPr/>
        </p:nvSpPr>
        <p:spPr>
          <a:xfrm>
            <a:off x="1130643" y="119352"/>
            <a:ext cx="4572000" cy="461665"/>
          </a:xfrm>
          <a:prstGeom prst="rect">
            <a:avLst/>
          </a:prstGeom>
          <a:noFill/>
        </p:spPr>
        <p:txBody>
          <a:bodyPr wrap="square">
            <a:spAutoFit/>
          </a:bodyPr>
          <a:lstStyle/>
          <a:p>
            <a:r>
              <a:rPr lang="en-US" sz="2400" dirty="0">
                <a:solidFill>
                  <a:schemeClr val="accent2"/>
                </a:solidFill>
                <a:latin typeface="Fira Code"/>
                <a:ea typeface="Fira Code"/>
                <a:cs typeface="Fira Code"/>
                <a:sym typeface="Fira Code"/>
              </a:rPr>
              <a:t>Home Work</a:t>
            </a:r>
          </a:p>
        </p:txBody>
      </p:sp>
      <p:sp>
        <p:nvSpPr>
          <p:cNvPr id="3" name="Google Shape;473;p28">
            <a:extLst>
              <a:ext uri="{FF2B5EF4-FFF2-40B4-BE49-F238E27FC236}">
                <a16:creationId xmlns:a16="http://schemas.microsoft.com/office/drawing/2014/main" id="{CB10C8B6-0ACB-E173-9625-76BE6C561E25}"/>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5" name="Google Shape;473;p28">
            <a:extLst>
              <a:ext uri="{FF2B5EF4-FFF2-40B4-BE49-F238E27FC236}">
                <a16:creationId xmlns:a16="http://schemas.microsoft.com/office/drawing/2014/main" id="{5C8A7404-86FD-D703-2B25-8AC8C388A309}"/>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8</a:t>
            </a:r>
            <a:endParaRPr lang="en" dirty="0">
              <a:solidFill>
                <a:schemeClr val="accent3"/>
              </a:solidFill>
            </a:endParaRPr>
          </a:p>
        </p:txBody>
      </p:sp>
      <p:sp>
        <p:nvSpPr>
          <p:cNvPr id="4" name="TextBox 3">
            <a:extLst>
              <a:ext uri="{FF2B5EF4-FFF2-40B4-BE49-F238E27FC236}">
                <a16:creationId xmlns:a16="http://schemas.microsoft.com/office/drawing/2014/main" id="{A4B067EA-BBC3-8065-4A3E-464017B482CF}"/>
              </a:ext>
            </a:extLst>
          </p:cNvPr>
          <p:cNvSpPr txBox="1"/>
          <p:nvPr/>
        </p:nvSpPr>
        <p:spPr>
          <a:xfrm>
            <a:off x="1062681" y="777501"/>
            <a:ext cx="7858898" cy="2492990"/>
          </a:xfrm>
          <a:prstGeom prst="rect">
            <a:avLst/>
          </a:prstGeom>
          <a:noFill/>
        </p:spPr>
        <p:txBody>
          <a:bodyPr wrap="square">
            <a:spAutoFit/>
          </a:bodyPr>
          <a:lstStyle/>
          <a:p>
            <a:pPr lvl="0" algn="just" eaLnBrk="0" fontAlgn="base" hangingPunct="0">
              <a:spcBef>
                <a:spcPct val="0"/>
              </a:spcBef>
              <a:spcAft>
                <a:spcPct val="0"/>
              </a:spcAft>
              <a:buClrTx/>
            </a:pPr>
            <a:r>
              <a:rPr lang="en-US" altLang="en-US" sz="1200" dirty="0">
                <a:solidFill>
                  <a:schemeClr val="accent3"/>
                </a:solidFill>
                <a:latin typeface="Fira Code"/>
                <a:ea typeface="Fira Code"/>
                <a:cs typeface="B Nazanin" panose="00000400000000000000" pitchFamily="2" charset="-78"/>
              </a:rPr>
              <a:t>You are asked to generalize the class-average problem.</a:t>
            </a:r>
          </a:p>
          <a:p>
            <a:pPr lvl="0" algn="just" eaLnBrk="0" fontAlgn="base" hangingPunct="0">
              <a:spcBef>
                <a:spcPct val="0"/>
              </a:spcBef>
              <a:spcAft>
                <a:spcPct val="0"/>
              </a:spcAft>
              <a:buClrTx/>
            </a:pPr>
            <a:endParaRPr lang="en-US" altLang="en-US" sz="1200" dirty="0">
              <a:solidFill>
                <a:schemeClr val="accent3"/>
              </a:solidFill>
              <a:latin typeface="Fira Code"/>
              <a:ea typeface="Fira Code"/>
              <a:cs typeface="B Nazanin" panose="00000400000000000000" pitchFamily="2" charset="-78"/>
            </a:endParaRPr>
          </a:p>
          <a:p>
            <a:pPr lvl="0" algn="just" eaLnBrk="0" fontAlgn="base" hangingPunct="0">
              <a:spcBef>
                <a:spcPct val="0"/>
              </a:spcBef>
              <a:spcAft>
                <a:spcPct val="0"/>
              </a:spcAft>
              <a:buClrTx/>
            </a:pPr>
            <a:r>
              <a:rPr lang="en-US" altLang="en-US" sz="1200" dirty="0">
                <a:solidFill>
                  <a:schemeClr val="accent3"/>
                </a:solidFill>
                <a:latin typeface="Fira Code"/>
                <a:ea typeface="Fira Code"/>
                <a:cs typeface="B Nazanin" panose="00000400000000000000" pitchFamily="2" charset="-78"/>
              </a:rPr>
              <a:t>In the previous version of the problem, the number of grades (e.g., 10) was known in advance. However, now you need to develop a class-averaging program that processes an arbitrary number of grades.</a:t>
            </a:r>
          </a:p>
          <a:p>
            <a:pPr lvl="0" algn="just" eaLnBrk="0" fontAlgn="base" hangingPunct="0">
              <a:spcBef>
                <a:spcPct val="0"/>
              </a:spcBef>
              <a:spcAft>
                <a:spcPct val="0"/>
              </a:spcAft>
              <a:buClrTx/>
            </a:pPr>
            <a:endParaRPr lang="en-US" altLang="en-US" sz="1200" dirty="0">
              <a:solidFill>
                <a:schemeClr val="accent3"/>
              </a:solidFill>
              <a:latin typeface="Fira Code"/>
              <a:ea typeface="Fira Code"/>
              <a:cs typeface="B Nazanin" panose="00000400000000000000" pitchFamily="2" charset="-78"/>
            </a:endParaRPr>
          </a:p>
          <a:p>
            <a:pPr lvl="0" algn="just" eaLnBrk="0" fontAlgn="base" hangingPunct="0">
              <a:spcBef>
                <a:spcPct val="0"/>
              </a:spcBef>
              <a:spcAft>
                <a:spcPct val="0"/>
              </a:spcAft>
              <a:buClrTx/>
            </a:pPr>
            <a:r>
              <a:rPr lang="en-US" altLang="en-US" sz="1200" dirty="0">
                <a:solidFill>
                  <a:schemeClr val="accent3"/>
                </a:solidFill>
                <a:latin typeface="Fira Code"/>
                <a:ea typeface="Fira Code"/>
                <a:cs typeface="B Nazanin" panose="00000400000000000000" pitchFamily="2" charset="-78"/>
              </a:rPr>
              <a:t>Since the number of grades is not known before execution, the program must keep reading grades until the user enters a sentinel value to indicate the end of input. Grades are non-negative integers (0 to 100), and the sentinel value -1 should be used to stop input.</a:t>
            </a:r>
          </a:p>
          <a:p>
            <a:pPr lvl="0" algn="just" eaLnBrk="0" fontAlgn="base" hangingPunct="0">
              <a:spcBef>
                <a:spcPct val="0"/>
              </a:spcBef>
              <a:spcAft>
                <a:spcPct val="0"/>
              </a:spcAft>
              <a:buClrTx/>
            </a:pPr>
            <a:endParaRPr lang="en-US" altLang="en-US" sz="1200" dirty="0">
              <a:solidFill>
                <a:schemeClr val="accent3"/>
              </a:solidFill>
              <a:latin typeface="Fira Code"/>
              <a:ea typeface="Fira Code"/>
              <a:cs typeface="B Nazanin" panose="00000400000000000000" pitchFamily="2" charset="-78"/>
            </a:endParaRPr>
          </a:p>
          <a:p>
            <a:pPr lvl="0" algn="just" eaLnBrk="0" fontAlgn="base" hangingPunct="0">
              <a:spcBef>
                <a:spcPct val="0"/>
              </a:spcBef>
              <a:spcAft>
                <a:spcPct val="0"/>
              </a:spcAft>
              <a:buClrTx/>
            </a:pPr>
            <a:r>
              <a:rPr lang="en-US" altLang="en-US" sz="1200" dirty="0">
                <a:solidFill>
                  <a:schemeClr val="accent3"/>
                </a:solidFill>
                <a:latin typeface="Fira Code"/>
                <a:ea typeface="Fira Code"/>
                <a:cs typeface="B Nazanin" panose="00000400000000000000" pitchFamily="2" charset="-78"/>
              </a:rPr>
              <a:t>The program should then calculate and display the average grade of all valid inputs (excluding the sentinel)</a:t>
            </a:r>
          </a:p>
        </p:txBody>
      </p:sp>
      <p:sp>
        <p:nvSpPr>
          <p:cNvPr id="7" name="TextBox 6">
            <a:extLst>
              <a:ext uri="{FF2B5EF4-FFF2-40B4-BE49-F238E27FC236}">
                <a16:creationId xmlns:a16="http://schemas.microsoft.com/office/drawing/2014/main" id="{962DFA57-205C-9E8A-8227-11DA074B0327}"/>
              </a:ext>
            </a:extLst>
          </p:cNvPr>
          <p:cNvSpPr txBox="1"/>
          <p:nvPr/>
        </p:nvSpPr>
        <p:spPr>
          <a:xfrm>
            <a:off x="6675021" y="128722"/>
            <a:ext cx="2576184" cy="246221"/>
          </a:xfrm>
          <a:prstGeom prst="rect">
            <a:avLst/>
          </a:prstGeom>
          <a:noFill/>
        </p:spPr>
        <p:txBody>
          <a:bodyPr wrap="square">
            <a:spAutoFit/>
          </a:bodyPr>
          <a:lstStyle/>
          <a:p>
            <a:r>
              <a:rPr lang="en-US" sz="1000" dirty="0">
                <a:solidFill>
                  <a:schemeClr val="accent3"/>
                </a:solidFill>
                <a:latin typeface="Fira Code"/>
                <a:ea typeface="Fira Code"/>
                <a:cs typeface="Fira Code"/>
                <a:sym typeface="Fira Code"/>
              </a:rPr>
              <a:t>HW2</a:t>
            </a:r>
          </a:p>
        </p:txBody>
      </p:sp>
    </p:spTree>
    <p:extLst>
      <p:ext uri="{BB962C8B-B14F-4D97-AF65-F5344CB8AC3E}">
        <p14:creationId xmlns:p14="http://schemas.microsoft.com/office/powerpoint/2010/main" val="3028964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BF9C9-660A-44A9-638F-B99CCC02521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10CE8C1-6925-EFAB-B6DB-D86DA9F235D6}"/>
              </a:ext>
            </a:extLst>
          </p:cNvPr>
          <p:cNvSpPr txBox="1"/>
          <p:nvPr/>
        </p:nvSpPr>
        <p:spPr>
          <a:xfrm>
            <a:off x="1130643" y="119352"/>
            <a:ext cx="4572000" cy="461665"/>
          </a:xfrm>
          <a:prstGeom prst="rect">
            <a:avLst/>
          </a:prstGeom>
          <a:noFill/>
        </p:spPr>
        <p:txBody>
          <a:bodyPr wrap="square">
            <a:spAutoFit/>
          </a:bodyPr>
          <a:lstStyle/>
          <a:p>
            <a:r>
              <a:rPr lang="en-US" sz="2400" dirty="0">
                <a:solidFill>
                  <a:schemeClr val="accent2"/>
                </a:solidFill>
                <a:latin typeface="Fira Code"/>
                <a:ea typeface="Fira Code"/>
                <a:cs typeface="Fira Code"/>
                <a:sym typeface="Fira Code"/>
              </a:rPr>
              <a:t>Home Work</a:t>
            </a:r>
          </a:p>
        </p:txBody>
      </p:sp>
      <p:sp>
        <p:nvSpPr>
          <p:cNvPr id="3" name="Google Shape;473;p28">
            <a:extLst>
              <a:ext uri="{FF2B5EF4-FFF2-40B4-BE49-F238E27FC236}">
                <a16:creationId xmlns:a16="http://schemas.microsoft.com/office/drawing/2014/main" id="{E1139450-54CC-2DC9-10E0-E1F80A4FAD8F}"/>
              </a:ext>
            </a:extLst>
          </p:cNvPr>
          <p:cNvSpPr txBox="1">
            <a:spLocks/>
          </p:cNvSpPr>
          <p:nvPr/>
        </p:nvSpPr>
        <p:spPr>
          <a:xfrm>
            <a:off x="732739" y="4666848"/>
            <a:ext cx="48651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US" dirty="0">
                <a:solidFill>
                  <a:schemeClr val="accent3"/>
                </a:solidFill>
              </a:rPr>
              <a:t>Programming Language Lab</a:t>
            </a:r>
          </a:p>
        </p:txBody>
      </p:sp>
      <p:sp>
        <p:nvSpPr>
          <p:cNvPr id="5" name="Google Shape;473;p28">
            <a:extLst>
              <a:ext uri="{FF2B5EF4-FFF2-40B4-BE49-F238E27FC236}">
                <a16:creationId xmlns:a16="http://schemas.microsoft.com/office/drawing/2014/main" id="{0DAAB46C-7BE3-E2EB-6F8F-25CFBEDB8CC4}"/>
              </a:ext>
            </a:extLst>
          </p:cNvPr>
          <p:cNvSpPr txBox="1">
            <a:spLocks/>
          </p:cNvSpPr>
          <p:nvPr/>
        </p:nvSpPr>
        <p:spPr>
          <a:xfrm>
            <a:off x="8433851" y="4694675"/>
            <a:ext cx="31912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buFont typeface="Fira Code"/>
              <a:buNone/>
            </a:pPr>
            <a:r>
              <a:rPr lang="en" sz="1100" dirty="0">
                <a:solidFill>
                  <a:schemeClr val="accent3"/>
                </a:solidFill>
              </a:rPr>
              <a:t>8</a:t>
            </a:r>
            <a:endParaRPr lang="en" dirty="0">
              <a:solidFill>
                <a:schemeClr val="accent3"/>
              </a:solidFill>
            </a:endParaRPr>
          </a:p>
        </p:txBody>
      </p:sp>
      <p:sp>
        <p:nvSpPr>
          <p:cNvPr id="4" name="TextBox 3">
            <a:extLst>
              <a:ext uri="{FF2B5EF4-FFF2-40B4-BE49-F238E27FC236}">
                <a16:creationId xmlns:a16="http://schemas.microsoft.com/office/drawing/2014/main" id="{8A6E03C9-0AB6-2113-EA63-ECE070D1A899}"/>
              </a:ext>
            </a:extLst>
          </p:cNvPr>
          <p:cNvSpPr txBox="1"/>
          <p:nvPr/>
        </p:nvSpPr>
        <p:spPr>
          <a:xfrm>
            <a:off x="1198605" y="888711"/>
            <a:ext cx="7858898" cy="1569660"/>
          </a:xfrm>
          <a:prstGeom prst="rect">
            <a:avLst/>
          </a:prstGeom>
          <a:noFill/>
        </p:spPr>
        <p:txBody>
          <a:bodyPr wrap="square">
            <a:spAutoFit/>
          </a:bodyPr>
          <a:lstStyle/>
          <a:p>
            <a:r>
              <a:rPr lang="en-US" sz="1200" dirty="0">
                <a:solidFill>
                  <a:schemeClr val="accent3"/>
                </a:solidFill>
                <a:latin typeface="Fira Code"/>
                <a:ea typeface="Fira Code"/>
                <a:cs typeface="B Nazanin" panose="00000400000000000000" pitchFamily="2" charset="-78"/>
              </a:rPr>
              <a:t>Your Task:</a:t>
            </a:r>
          </a:p>
          <a:p>
            <a:endParaRPr lang="en-US" sz="1200" dirty="0">
              <a:solidFill>
                <a:schemeClr val="accent3"/>
              </a:solidFill>
              <a:latin typeface="Fira Code"/>
              <a:ea typeface="Fira Code"/>
              <a:cs typeface="B Nazanin" panose="00000400000000000000" pitchFamily="2" charset="-78"/>
            </a:endParaRPr>
          </a:p>
          <a:p>
            <a:r>
              <a:rPr lang="en-US" sz="1200" dirty="0">
                <a:solidFill>
                  <a:schemeClr val="accent3"/>
                </a:solidFill>
                <a:latin typeface="Fira Code"/>
                <a:ea typeface="Fira Code"/>
                <a:cs typeface="B Nazanin" panose="00000400000000000000" pitchFamily="2" charset="-78"/>
              </a:rPr>
              <a:t>Write a pseudocode algorithm that:</a:t>
            </a:r>
          </a:p>
          <a:p>
            <a:endParaRPr lang="en-US" sz="1200" dirty="0">
              <a:solidFill>
                <a:schemeClr val="accent3"/>
              </a:solidFill>
              <a:latin typeface="Fira Code"/>
              <a:ea typeface="Fira Code"/>
              <a:cs typeface="B Nazanin" panose="00000400000000000000" pitchFamily="2" charset="-78"/>
            </a:endParaRPr>
          </a:p>
          <a:p>
            <a:pPr marL="228600" indent="-228600">
              <a:buClr>
                <a:schemeClr val="accent3"/>
              </a:buClr>
              <a:buFont typeface="+mj-lt"/>
              <a:buAutoNum type="arabicPeriod"/>
            </a:pPr>
            <a:r>
              <a:rPr lang="en-US" sz="1200" dirty="0">
                <a:solidFill>
                  <a:schemeClr val="accent3"/>
                </a:solidFill>
                <a:latin typeface="Fira Code"/>
                <a:ea typeface="Fira Code"/>
                <a:cs typeface="B Nazanin" panose="00000400000000000000" pitchFamily="2" charset="-78"/>
              </a:rPr>
              <a:t>Initializes all required variables properly</a:t>
            </a:r>
          </a:p>
          <a:p>
            <a:pPr marL="228600" indent="-228600">
              <a:buClr>
                <a:schemeClr val="accent3"/>
              </a:buClr>
              <a:buFont typeface="+mj-lt"/>
              <a:buAutoNum type="arabicPeriod"/>
            </a:pPr>
            <a:r>
              <a:rPr lang="en-US" sz="1200" dirty="0">
                <a:solidFill>
                  <a:schemeClr val="accent3"/>
                </a:solidFill>
                <a:latin typeface="Fira Code"/>
                <a:ea typeface="Fira Code"/>
                <a:cs typeface="B Nazanin" panose="00000400000000000000" pitchFamily="2" charset="-78"/>
              </a:rPr>
              <a:t>Uses sentinel-controlled repetition to input grades</a:t>
            </a:r>
          </a:p>
          <a:p>
            <a:pPr marL="228600" indent="-228600">
              <a:buClr>
                <a:schemeClr val="accent3"/>
              </a:buClr>
              <a:buFont typeface="+mj-lt"/>
              <a:buAutoNum type="arabicPeriod"/>
            </a:pPr>
            <a:r>
              <a:rPr lang="en-US" sz="1200" dirty="0">
                <a:solidFill>
                  <a:schemeClr val="accent3"/>
                </a:solidFill>
                <a:latin typeface="Fira Code"/>
                <a:ea typeface="Fira Code"/>
                <a:cs typeface="B Nazanin" panose="00000400000000000000" pitchFamily="2" charset="-78"/>
              </a:rPr>
              <a:t>Validates that division by zero does not occur</a:t>
            </a:r>
          </a:p>
          <a:p>
            <a:pPr marL="228600" indent="-228600">
              <a:buClr>
                <a:schemeClr val="accent3"/>
              </a:buClr>
              <a:buFont typeface="+mj-lt"/>
              <a:buAutoNum type="arabicPeriod"/>
            </a:pPr>
            <a:r>
              <a:rPr lang="en-US" sz="1200" dirty="0">
                <a:solidFill>
                  <a:schemeClr val="accent3"/>
                </a:solidFill>
                <a:latin typeface="Fira Code"/>
                <a:ea typeface="Fira Code"/>
                <a:cs typeface="B Nazanin" panose="00000400000000000000" pitchFamily="2" charset="-78"/>
              </a:rPr>
              <a:t>Calculates and displays the average grade</a:t>
            </a:r>
          </a:p>
        </p:txBody>
      </p:sp>
      <p:sp>
        <p:nvSpPr>
          <p:cNvPr id="7" name="TextBox 6">
            <a:extLst>
              <a:ext uri="{FF2B5EF4-FFF2-40B4-BE49-F238E27FC236}">
                <a16:creationId xmlns:a16="http://schemas.microsoft.com/office/drawing/2014/main" id="{BE1385D3-FF6A-E20B-D8A5-BF44FBC71680}"/>
              </a:ext>
            </a:extLst>
          </p:cNvPr>
          <p:cNvSpPr txBox="1"/>
          <p:nvPr/>
        </p:nvSpPr>
        <p:spPr>
          <a:xfrm>
            <a:off x="6675021" y="128722"/>
            <a:ext cx="2576184" cy="246221"/>
          </a:xfrm>
          <a:prstGeom prst="rect">
            <a:avLst/>
          </a:prstGeom>
          <a:noFill/>
        </p:spPr>
        <p:txBody>
          <a:bodyPr wrap="square">
            <a:spAutoFit/>
          </a:bodyPr>
          <a:lstStyle/>
          <a:p>
            <a:r>
              <a:rPr lang="en-US" sz="1000" dirty="0">
                <a:solidFill>
                  <a:schemeClr val="accent3"/>
                </a:solidFill>
                <a:latin typeface="Fira Code"/>
                <a:ea typeface="Fira Code"/>
                <a:cs typeface="Fira Code"/>
                <a:sym typeface="Fira Code"/>
              </a:rPr>
              <a:t>HW2</a:t>
            </a:r>
          </a:p>
        </p:txBody>
      </p:sp>
      <p:sp>
        <p:nvSpPr>
          <p:cNvPr id="10" name="Rectangle: Rounded Corners 9">
            <a:extLst>
              <a:ext uri="{FF2B5EF4-FFF2-40B4-BE49-F238E27FC236}">
                <a16:creationId xmlns:a16="http://schemas.microsoft.com/office/drawing/2014/main" id="{D0C0B0C0-0C24-14AA-AAC0-84A4C54A1BAB}"/>
              </a:ext>
            </a:extLst>
          </p:cNvPr>
          <p:cNvSpPr/>
          <p:nvPr/>
        </p:nvSpPr>
        <p:spPr>
          <a:xfrm>
            <a:off x="1198605" y="3044444"/>
            <a:ext cx="3645244" cy="1365422"/>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a:t>Enter grade: 95  </a:t>
            </a:r>
          </a:p>
          <a:p>
            <a:r>
              <a:rPr lang="en-US"/>
              <a:t>Enter grade: 83  </a:t>
            </a:r>
          </a:p>
          <a:p>
            <a:r>
              <a:rPr lang="en-US"/>
              <a:t>Enter grade: 74  </a:t>
            </a:r>
          </a:p>
          <a:p>
            <a:r>
              <a:rPr lang="en-US"/>
              <a:t>Enter grade: 100  </a:t>
            </a:r>
          </a:p>
          <a:p>
            <a:r>
              <a:rPr lang="en-US"/>
              <a:t>Enter grade: -1</a:t>
            </a:r>
            <a:endParaRPr lang="en-US" dirty="0"/>
          </a:p>
        </p:txBody>
      </p:sp>
      <p:sp>
        <p:nvSpPr>
          <p:cNvPr id="11" name="Rectangle: Rounded Corners 10">
            <a:extLst>
              <a:ext uri="{FF2B5EF4-FFF2-40B4-BE49-F238E27FC236}">
                <a16:creationId xmlns:a16="http://schemas.microsoft.com/office/drawing/2014/main" id="{5D3F279F-995C-3ADB-D52F-249A490DF60C}"/>
              </a:ext>
            </a:extLst>
          </p:cNvPr>
          <p:cNvSpPr/>
          <p:nvPr/>
        </p:nvSpPr>
        <p:spPr>
          <a:xfrm>
            <a:off x="5329881" y="3044445"/>
            <a:ext cx="3645244" cy="1365421"/>
          </a:xfrm>
          <a:prstGeom prst="round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US" dirty="0"/>
              <a:t>Class average is 88</a:t>
            </a:r>
          </a:p>
          <a:p>
            <a:endParaRPr lang="en-US" dirty="0"/>
          </a:p>
          <a:p>
            <a:endParaRPr lang="en-US" dirty="0"/>
          </a:p>
          <a:p>
            <a:endParaRPr lang="en-US" dirty="0"/>
          </a:p>
          <a:p>
            <a:endParaRPr lang="en-US" dirty="0"/>
          </a:p>
        </p:txBody>
      </p:sp>
      <p:sp>
        <p:nvSpPr>
          <p:cNvPr id="13" name="TextBox 12">
            <a:extLst>
              <a:ext uri="{FF2B5EF4-FFF2-40B4-BE49-F238E27FC236}">
                <a16:creationId xmlns:a16="http://schemas.microsoft.com/office/drawing/2014/main" id="{8251A016-F24E-842B-0A36-DA1568892E11}"/>
              </a:ext>
            </a:extLst>
          </p:cNvPr>
          <p:cNvSpPr txBox="1"/>
          <p:nvPr/>
        </p:nvSpPr>
        <p:spPr>
          <a:xfrm>
            <a:off x="1217140" y="2766065"/>
            <a:ext cx="1573943" cy="276999"/>
          </a:xfrm>
          <a:prstGeom prst="rect">
            <a:avLst/>
          </a:prstGeom>
          <a:noFill/>
        </p:spPr>
        <p:txBody>
          <a:bodyPr wrap="square">
            <a:spAutoFit/>
          </a:bodyPr>
          <a:lstStyle/>
          <a:p>
            <a:r>
              <a:rPr lang="en-US" sz="1200" dirty="0">
                <a:solidFill>
                  <a:schemeClr val="accent3"/>
                </a:solidFill>
                <a:latin typeface="Fira Code"/>
                <a:ea typeface="Fira Code"/>
                <a:cs typeface="B Nazanin" panose="00000400000000000000" pitchFamily="2" charset="-78"/>
              </a:rPr>
              <a:t>Example Input:</a:t>
            </a:r>
          </a:p>
        </p:txBody>
      </p:sp>
      <p:sp>
        <p:nvSpPr>
          <p:cNvPr id="14" name="TextBox 13">
            <a:extLst>
              <a:ext uri="{FF2B5EF4-FFF2-40B4-BE49-F238E27FC236}">
                <a16:creationId xmlns:a16="http://schemas.microsoft.com/office/drawing/2014/main" id="{0C1A20E6-6F7F-57E4-A7A3-C7B26ACE6D87}"/>
              </a:ext>
            </a:extLst>
          </p:cNvPr>
          <p:cNvSpPr txBox="1"/>
          <p:nvPr/>
        </p:nvSpPr>
        <p:spPr>
          <a:xfrm>
            <a:off x="5383942" y="2766064"/>
            <a:ext cx="1573943" cy="276999"/>
          </a:xfrm>
          <a:prstGeom prst="rect">
            <a:avLst/>
          </a:prstGeom>
          <a:noFill/>
        </p:spPr>
        <p:txBody>
          <a:bodyPr wrap="square">
            <a:spAutoFit/>
          </a:bodyPr>
          <a:lstStyle/>
          <a:p>
            <a:r>
              <a:rPr lang="en-US" sz="1200" dirty="0">
                <a:solidFill>
                  <a:schemeClr val="accent3"/>
                </a:solidFill>
                <a:latin typeface="Fira Code"/>
                <a:ea typeface="Fira Code"/>
                <a:cs typeface="B Nazanin" panose="00000400000000000000" pitchFamily="2" charset="-78"/>
              </a:rPr>
              <a:t>Output:</a:t>
            </a:r>
          </a:p>
        </p:txBody>
      </p:sp>
    </p:spTree>
    <p:extLst>
      <p:ext uri="{BB962C8B-B14F-4D97-AF65-F5344CB8AC3E}">
        <p14:creationId xmlns:p14="http://schemas.microsoft.com/office/powerpoint/2010/main" val="2383727754"/>
      </p:ext>
    </p:extLst>
  </p:cSld>
  <p:clrMapOvr>
    <a:masterClrMapping/>
  </p:clrMapOvr>
</p:sld>
</file>

<file path=ppt/theme/theme1.xml><?xml version="1.0" encoding="utf-8"?>
<a:theme xmlns:a="http://schemas.openxmlformats.org/drawingml/2006/main"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1839</TotalTime>
  <Words>882</Words>
  <Application>Microsoft Office PowerPoint</Application>
  <PresentationFormat>On-screen Show (16:9)</PresentationFormat>
  <Paragraphs>171</Paragraphs>
  <Slides>12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Dana</vt:lpstr>
      <vt:lpstr>Fira Code</vt:lpstr>
      <vt:lpstr>Arial</vt:lpstr>
      <vt:lpstr>Consolas</vt:lpstr>
      <vt:lpstr>Programming Language Workshop for Beginners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shayan naghizadeh</dc:creator>
  <cp:lastModifiedBy>shayan naghizadeh</cp:lastModifiedBy>
  <cp:revision>36</cp:revision>
  <dcterms:modified xsi:type="dcterms:W3CDTF">2025-08-07T09:31:29Z</dcterms:modified>
</cp:coreProperties>
</file>