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  <p:sldMasterId id="2147483673" r:id="rId2"/>
  </p:sldMasterIdLst>
  <p:notesMasterIdLst>
    <p:notesMasterId r:id="rId15"/>
  </p:notesMasterIdLst>
  <p:sldIdLst>
    <p:sldId id="256" r:id="rId3"/>
    <p:sldId id="268" r:id="rId4"/>
    <p:sldId id="325" r:id="rId5"/>
    <p:sldId id="326" r:id="rId6"/>
    <p:sldId id="302" r:id="rId7"/>
    <p:sldId id="324" r:id="rId8"/>
    <p:sldId id="332" r:id="rId9"/>
    <p:sldId id="327" r:id="rId10"/>
    <p:sldId id="328" r:id="rId11"/>
    <p:sldId id="330" r:id="rId12"/>
    <p:sldId id="331" r:id="rId13"/>
    <p:sldId id="329" r:id="rId14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506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EAB1D1-4E42-4361-B4FD-13862715D387}">
  <a:tblStyle styleId="{4BEAB1D1-4E42-4361-B4FD-13862715D3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94" autoAdjust="0"/>
    <p:restoredTop sz="90920" autoAdjust="0"/>
  </p:normalViewPr>
  <p:slideViewPr>
    <p:cSldViewPr snapToGrid="0">
      <p:cViewPr varScale="1">
        <p:scale>
          <a:sx n="133" d="100"/>
          <a:sy n="133" d="100"/>
        </p:scale>
        <p:origin x="96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B66F20EA-9EE7-74C6-276F-2F04D588B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73086FCA-738E-856B-B267-3C244AAD66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C7B46C18-E0C4-5C86-B430-C5A60EF609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5565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EB43480A-85EF-9E27-7344-F1C99ED65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D48E643C-A8B6-344F-D3D7-41970A5994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06B3ACD9-E47C-9627-C590-0891DC8FAA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1220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64F14AAE-DAFD-4678-933F-29E24F58F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AE8AC989-3FD8-D00D-4618-E64596290B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15C52449-B22E-9729-3BCA-E14FB2775A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0692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AA94F45F-7B13-3C17-D198-B3117DE5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AF7B1ACF-B8EB-B2D8-D7F3-266B8BB676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16777661-F762-9B4C-7028-85E1691626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662421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657CDC5B-E44C-1C07-B15B-51544A98F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95676D3D-D776-76B1-FE36-A5C3602BAA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8F5C2046-66C9-2893-609E-78B1F0E8A8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6317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7ED3D4D3-78B4-C62D-4D49-7FC7C28CD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B80D8C22-3AB0-0268-8A37-6F840B0DC1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DE7B4B56-97B0-86D0-5148-4AFBA6B2D8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07528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2DF21CC2-F685-39CE-B234-D75B249FD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4CC117F4-17D8-7CBB-EE67-6AE7513F1B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C47CB8C2-CD5E-50DA-12CE-F626520531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83643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9F117321-B177-10B6-6566-B16EF566F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62A29A39-313E-EF41-3870-8D3461836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68AE8E04-B5CB-7F6E-C282-02939AB7A0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80469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53A6F1E3-CA25-EE97-DFEB-C1CA1FBF9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90DBEA6A-1D77-74C2-7BF3-5B2B7D56B3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5EEE3C3A-0071-5400-5E74-0122EB4AE7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10654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BCD4DB07-AFC0-469F-8125-1057F0117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9BD8DA29-828C-AE3D-A4CD-4211A8E8EC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92410051-7064-2ADE-895C-9C0ACBD3F6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4694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2797183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2816875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099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413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Background 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122709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Background  1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4110342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725804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4">
            <a:extLst>
              <a:ext uri="{FF2B5EF4-FFF2-40B4-BE49-F238E27FC236}">
                <a16:creationId xmlns:a16="http://schemas.microsoft.com/office/drawing/2014/main" id="{73A6F7C9-409A-797F-AF51-72A58DC2B3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4BD535-FD73-68B5-4BE5-860DA0541C5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3784285" y="779086"/>
            <a:ext cx="1439504" cy="14989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D45637-B11C-F7F6-DCA4-E0AE67DAF9EE}"/>
              </a:ext>
            </a:extLst>
          </p:cNvPr>
          <p:cNvSpPr txBox="1"/>
          <p:nvPr/>
        </p:nvSpPr>
        <p:spPr>
          <a:xfrm>
            <a:off x="2458994" y="2468693"/>
            <a:ext cx="4226011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 err="1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Amirkabir</a:t>
            </a: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 University of Technology </a:t>
            </a:r>
          </a:p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(Tehran Polytechnic)</a:t>
            </a:r>
          </a:p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Department of Computer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7241D8-4EDA-5CE1-0015-3864259E023C}"/>
              </a:ext>
            </a:extLst>
          </p:cNvPr>
          <p:cNvSpPr txBox="1"/>
          <p:nvPr/>
        </p:nvSpPr>
        <p:spPr>
          <a:xfrm>
            <a:off x="4272348" y="3408151"/>
            <a:ext cx="17114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</a:rPr>
              <a:t>Pointers 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7883D40C-C45D-E65E-55F1-8C32CA9B554E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/>
          <p:cNvSpPr txBox="1">
            <a:spLocks noGrp="1"/>
          </p:cNvSpPr>
          <p:nvPr>
            <p:ph type="title"/>
          </p:nvPr>
        </p:nvSpPr>
        <p:spPr>
          <a:xfrm>
            <a:off x="717325" y="542575"/>
            <a:ext cx="3170675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Pinters and Memory address (part 2)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0CB1B906-9D2D-DA52-E288-A7AF29752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76AA0F72-B4B3-A835-2448-9B6F66427F6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Pointer.c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62BB25A8-0365-8335-956B-3A6E02EA2F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05600" y="2419350"/>
            <a:ext cx="1318800" cy="131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5D74B8-C009-2C08-5FF5-89C0D8A2478D}"/>
              </a:ext>
            </a:extLst>
          </p:cNvPr>
          <p:cNvSpPr txBox="1"/>
          <p:nvPr/>
        </p:nvSpPr>
        <p:spPr>
          <a:xfrm>
            <a:off x="1005895" y="757579"/>
            <a:ext cx="7993294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F242458C-6852-F5CF-C7DA-DB567612C22B}"/>
              </a:ext>
            </a:extLst>
          </p:cNvPr>
          <p:cNvSpPr txBox="1">
            <a:spLocks/>
          </p:cNvSpPr>
          <p:nvPr/>
        </p:nvSpPr>
        <p:spPr>
          <a:xfrm>
            <a:off x="1005894" y="270175"/>
            <a:ext cx="6762905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Const Pointer vs Pointer to Const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FC666315-E0A6-06F3-B037-1E5106A697CF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8FFE9449-E731-9C8E-FF41-AAB4304FEC9A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870624-2CC2-D307-0A14-41EFADC74CFF}"/>
              </a:ext>
            </a:extLst>
          </p:cNvPr>
          <p:cNvSpPr txBox="1"/>
          <p:nvPr/>
        </p:nvSpPr>
        <p:spPr>
          <a:xfrm>
            <a:off x="1129002" y="947184"/>
            <a:ext cx="7993294" cy="295465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endParaRPr lang="en-US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We need const in C to:</a:t>
            </a:r>
          </a:p>
          <a:p>
            <a:pPr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285750" indent="-28575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Protect data from being changed accidentally</a:t>
            </a:r>
          </a:p>
          <a:p>
            <a:pPr>
              <a:buClr>
                <a:schemeClr val="accent3"/>
              </a:buClr>
            </a:pPr>
            <a:endParaRPr lang="en-US" sz="12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285750" indent="-28575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Allow compiler optimizations</a:t>
            </a:r>
          </a:p>
          <a:p>
            <a:pPr marL="285750" indent="-285750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285750" indent="-28575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Prevent bugs with pointers</a:t>
            </a:r>
          </a:p>
          <a:p>
            <a:pPr marL="285750" indent="-285750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285750" indent="-28575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Work with string literals safely</a:t>
            </a:r>
          </a:p>
          <a:p>
            <a:pPr marL="285750" indent="-285750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285750" indent="-28575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…</a:t>
            </a:r>
          </a:p>
          <a:p>
            <a:pPr>
              <a:buClr>
                <a:schemeClr val="accent3"/>
              </a:buClr>
            </a:pPr>
            <a:endParaRPr lang="en-US" sz="1600" dirty="0"/>
          </a:p>
          <a:p>
            <a:pPr>
              <a:buClr>
                <a:schemeClr val="accent3"/>
              </a:buClr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2" name="AutoShape 2" descr="Memory Management in Operating System - GeeksforGeeks">
            <a:extLst>
              <a:ext uri="{FF2B5EF4-FFF2-40B4-BE49-F238E27FC236}">
                <a16:creationId xmlns:a16="http://schemas.microsoft.com/office/drawing/2014/main" id="{4D0C7EDF-82C3-2D38-DDF2-32B9780444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Memory Management in Operating System - GeeksforGeeks">
            <a:extLst>
              <a:ext uri="{FF2B5EF4-FFF2-40B4-BE49-F238E27FC236}">
                <a16:creationId xmlns:a16="http://schemas.microsoft.com/office/drawing/2014/main" id="{95B3EC92-50B9-9CBF-BB30-DD48EDBEF8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Google Shape;465;p27">
            <a:extLst>
              <a:ext uri="{FF2B5EF4-FFF2-40B4-BE49-F238E27FC236}">
                <a16:creationId xmlns:a16="http://schemas.microsoft.com/office/drawing/2014/main" id="{526E9825-3198-56C2-5D0C-5C87C18E76BC}"/>
              </a:ext>
            </a:extLst>
          </p:cNvPr>
          <p:cNvSpPr txBox="1">
            <a:spLocks/>
          </p:cNvSpPr>
          <p:nvPr/>
        </p:nvSpPr>
        <p:spPr>
          <a:xfrm>
            <a:off x="4597685" y="55573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endParaRPr lang="en-US" sz="1000" dirty="0"/>
          </a:p>
        </p:txBody>
      </p:sp>
      <p:pic>
        <p:nvPicPr>
          <p:cNvPr id="2050" name="Picture 2" descr="Const Pointers and Pointers to Const Values in C : r/C_Programming">
            <a:extLst>
              <a:ext uri="{FF2B5EF4-FFF2-40B4-BE49-F238E27FC236}">
                <a16:creationId xmlns:a16="http://schemas.microsoft.com/office/drawing/2014/main" id="{86E28DF0-4E65-6F2F-6A5F-C365AC339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590" y="1459586"/>
            <a:ext cx="2832386" cy="2064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6569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DD080F1F-700A-E43E-99C4-64194C031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4E80151B-42DE-444C-3750-1A296482726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Pointer.c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F5EF5A98-A3EB-0D73-B133-1F76D57C19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05600" y="2419350"/>
            <a:ext cx="1318800" cy="131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79F8FB-3727-9354-6436-87A0C6D37A76}"/>
              </a:ext>
            </a:extLst>
          </p:cNvPr>
          <p:cNvSpPr txBox="1"/>
          <p:nvPr/>
        </p:nvSpPr>
        <p:spPr>
          <a:xfrm>
            <a:off x="1005895" y="757579"/>
            <a:ext cx="7993294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0E82F74B-AC6F-0FB1-B4DA-D969AF18504A}"/>
              </a:ext>
            </a:extLst>
          </p:cNvPr>
          <p:cNvSpPr txBox="1">
            <a:spLocks/>
          </p:cNvSpPr>
          <p:nvPr/>
        </p:nvSpPr>
        <p:spPr>
          <a:xfrm>
            <a:off x="1005894" y="270175"/>
            <a:ext cx="6762905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Const Pointer vs Pointer to Const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B398DB9D-985D-B2E6-74E4-AA3E93ADA050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85517A63-A003-D10C-80E5-17B8EB7A3964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87359C-4005-91CC-F2CD-73E9D4F0C601}"/>
              </a:ext>
            </a:extLst>
          </p:cNvPr>
          <p:cNvSpPr txBox="1"/>
          <p:nvPr/>
        </p:nvSpPr>
        <p:spPr>
          <a:xfrm>
            <a:off x="1129002" y="947184"/>
            <a:ext cx="7993294" cy="104644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endParaRPr lang="en-US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Run the program in different states.</a:t>
            </a:r>
            <a:b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</a:b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(by uncommenting or commenting A-D)</a:t>
            </a:r>
          </a:p>
          <a:p>
            <a:pPr>
              <a:buClr>
                <a:schemeClr val="accent3"/>
              </a:buClr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2" name="AutoShape 2" descr="Memory Management in Operating System - GeeksforGeeks">
            <a:extLst>
              <a:ext uri="{FF2B5EF4-FFF2-40B4-BE49-F238E27FC236}">
                <a16:creationId xmlns:a16="http://schemas.microsoft.com/office/drawing/2014/main" id="{B58AC31C-2B8F-4974-150E-84DBED5E7E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Memory Management in Operating System - GeeksforGeeks">
            <a:extLst>
              <a:ext uri="{FF2B5EF4-FFF2-40B4-BE49-F238E27FC236}">
                <a16:creationId xmlns:a16="http://schemas.microsoft.com/office/drawing/2014/main" id="{D4CE2967-1A8F-3743-73B2-7FAA21D5BE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Google Shape;465;p27">
            <a:extLst>
              <a:ext uri="{FF2B5EF4-FFF2-40B4-BE49-F238E27FC236}">
                <a16:creationId xmlns:a16="http://schemas.microsoft.com/office/drawing/2014/main" id="{F251737A-B543-0802-E0BC-62AB4902C470}"/>
              </a:ext>
            </a:extLst>
          </p:cNvPr>
          <p:cNvSpPr txBox="1">
            <a:spLocks/>
          </p:cNvSpPr>
          <p:nvPr/>
        </p:nvSpPr>
        <p:spPr>
          <a:xfrm>
            <a:off x="4597685" y="55573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r>
              <a:rPr lang="en-US" sz="1000" dirty="0"/>
              <a:t>Task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C09DA2-B604-3DAF-222A-B247B89579B7}"/>
              </a:ext>
            </a:extLst>
          </p:cNvPr>
          <p:cNvSpPr txBox="1"/>
          <p:nvPr/>
        </p:nvSpPr>
        <p:spPr>
          <a:xfrm>
            <a:off x="1229510" y="2147338"/>
            <a:ext cx="4352180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600" dirty="0">
                <a:solidFill>
                  <a:schemeClr val="accent6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Which lines (A–D) cause compile errors, and why?</a:t>
            </a: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AF8063-02C7-677B-95EC-DB55A7AE6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400" y="1233565"/>
            <a:ext cx="3293702" cy="25045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32460FE-AC0F-3E57-0994-E0A504F6954D}"/>
              </a:ext>
            </a:extLst>
          </p:cNvPr>
          <p:cNvSpPr txBox="1"/>
          <p:nvPr/>
        </p:nvSpPr>
        <p:spPr>
          <a:xfrm>
            <a:off x="1129002" y="3424225"/>
            <a:ext cx="4352180" cy="830997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600" dirty="0">
                <a:solidFill>
                  <a:schemeClr val="accent6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Explain the difference between:</a:t>
            </a:r>
          </a:p>
          <a:p>
            <a:pPr marL="285750" indent="-285750" algn="just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/>
                </a:solidFill>
                <a:latin typeface="Fira Code"/>
                <a:ea typeface="Fira Code"/>
                <a:cs typeface="B Nazanin" panose="00000400000000000000" pitchFamily="2" charset="-78"/>
              </a:rPr>
              <a:t>const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 int *p</a:t>
            </a:r>
          </a:p>
          <a:p>
            <a:pPr marL="285750" indent="-285750" algn="just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int *</a:t>
            </a:r>
            <a:r>
              <a:rPr lang="en-US" sz="1600" dirty="0">
                <a:solidFill>
                  <a:schemeClr val="accent2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const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 q</a:t>
            </a:r>
          </a:p>
        </p:txBody>
      </p:sp>
    </p:spTree>
    <p:extLst>
      <p:ext uri="{BB962C8B-B14F-4D97-AF65-F5344CB8AC3E}">
        <p14:creationId xmlns:p14="http://schemas.microsoft.com/office/powerpoint/2010/main" val="2205115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42CCD27B-1F3A-6104-A6A9-C9B968D4E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A264DF29-B9AC-EC90-9E40-A479F209C8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Pointer.c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A14C772F-CD13-D2C6-DA77-ECB208271B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05600" y="2419350"/>
            <a:ext cx="1318800" cy="131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B0465E-896B-243B-5D49-7C62ED51663E}"/>
              </a:ext>
            </a:extLst>
          </p:cNvPr>
          <p:cNvSpPr txBox="1"/>
          <p:nvPr/>
        </p:nvSpPr>
        <p:spPr>
          <a:xfrm>
            <a:off x="1005895" y="757579"/>
            <a:ext cx="7993294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D5D1F74F-26AC-B649-41DF-9B743FD77529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Memory Allocation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C2052E68-90C5-A5ED-7E12-6803CFDEB8A4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2CCB60C1-E6B0-EE92-1FFF-21CB6A86A0F6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2F7EB4-9D19-8FC0-08D8-24AE82CAB836}"/>
              </a:ext>
            </a:extLst>
          </p:cNvPr>
          <p:cNvSpPr txBox="1"/>
          <p:nvPr/>
        </p:nvSpPr>
        <p:spPr>
          <a:xfrm>
            <a:off x="1057495" y="1147613"/>
            <a:ext cx="7695480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600" dirty="0">
                <a:solidFill>
                  <a:schemeClr val="accent2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Dynamic memory allocation 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lets us request memory at </a:t>
            </a:r>
            <a:r>
              <a:rPr lang="en-US" sz="1600" dirty="0">
                <a:solidFill>
                  <a:schemeClr val="accent2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runtime</a:t>
            </a: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A77979-4B9C-F21C-A719-F62B25EEF7EC}"/>
              </a:ext>
            </a:extLst>
          </p:cNvPr>
          <p:cNvSpPr txBox="1"/>
          <p:nvPr/>
        </p:nvSpPr>
        <p:spPr>
          <a:xfrm>
            <a:off x="1129002" y="1316889"/>
            <a:ext cx="7993294" cy="1077218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Sometimes we don’t know size at </a:t>
            </a:r>
            <a:r>
              <a:rPr lang="en-US" dirty="0">
                <a:solidFill>
                  <a:schemeClr val="accent2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compile time</a:t>
            </a: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.</a:t>
            </a:r>
          </a:p>
          <a:p>
            <a:pPr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2" name="AutoShape 2" descr="Memory Management in Operating System - GeeksforGeeks">
            <a:extLst>
              <a:ext uri="{FF2B5EF4-FFF2-40B4-BE49-F238E27FC236}">
                <a16:creationId xmlns:a16="http://schemas.microsoft.com/office/drawing/2014/main" id="{DB78A838-1AC1-2BF1-AEBE-D967F07481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Memory Management in Operating System - GeeksforGeeks">
            <a:extLst>
              <a:ext uri="{FF2B5EF4-FFF2-40B4-BE49-F238E27FC236}">
                <a16:creationId xmlns:a16="http://schemas.microsoft.com/office/drawing/2014/main" id="{E0667DBB-7303-7BC5-B10E-F4EEF18773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320CF7-6F75-A1FA-282C-AE1EF033D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000" y="1901664"/>
            <a:ext cx="3671189" cy="257108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D7E32E2-77FA-7156-A0D8-CC80EEFE9D39}"/>
              </a:ext>
            </a:extLst>
          </p:cNvPr>
          <p:cNvSpPr txBox="1"/>
          <p:nvPr/>
        </p:nvSpPr>
        <p:spPr>
          <a:xfrm>
            <a:off x="1534549" y="2371321"/>
            <a:ext cx="3591100" cy="76944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dirty="0">
                <a:solidFill>
                  <a:schemeClr val="accent6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Look at the given code and see how it is done with pointers. </a:t>
            </a: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A08958-1628-76F2-FBE9-66AF1B172553}"/>
              </a:ext>
            </a:extLst>
          </p:cNvPr>
          <p:cNvSpPr txBox="1"/>
          <p:nvPr/>
        </p:nvSpPr>
        <p:spPr>
          <a:xfrm>
            <a:off x="1057495" y="3485536"/>
            <a:ext cx="3591100" cy="707886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200" dirty="0">
                <a:solidFill>
                  <a:schemeClr val="accent6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Try out </a:t>
            </a:r>
            <a:r>
              <a:rPr lang="en-US" sz="1200" dirty="0" err="1">
                <a:solidFill>
                  <a:schemeClr val="accent2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calloc</a:t>
            </a:r>
            <a:r>
              <a:rPr lang="en-US" sz="1200" dirty="0">
                <a:solidFill>
                  <a:schemeClr val="accent2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() </a:t>
            </a:r>
            <a:r>
              <a:rPr lang="en-US" sz="1200" dirty="0">
                <a:solidFill>
                  <a:schemeClr val="accent6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and figure out the difference with </a:t>
            </a:r>
            <a:r>
              <a:rPr lang="en-US" sz="1200" dirty="0">
                <a:solidFill>
                  <a:schemeClr val="accent2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malloc().</a:t>
            </a: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3379293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402A44E2-AD93-71CE-FBAB-859AF8D85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C65A0A71-36EC-191C-C5EF-AAEF7AAB9C8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Pointer.c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D418E22E-7A1C-C33B-2D91-C7FA15FC27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05600" y="2419350"/>
            <a:ext cx="1318800" cy="131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2CCA00-222C-02DB-0F00-3742AFFF06A3}"/>
              </a:ext>
            </a:extLst>
          </p:cNvPr>
          <p:cNvSpPr txBox="1"/>
          <p:nvPr/>
        </p:nvSpPr>
        <p:spPr>
          <a:xfrm>
            <a:off x="1005895" y="757579"/>
            <a:ext cx="7993294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BC0BD541-21D0-AE38-2FC1-8636B40EBB0A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Memory Allocation for Matrix 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1A8642DA-0D80-5DA5-B94E-E6A4F63F585F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7D33B686-D344-3C4E-48A5-9E12B0A9FAC9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7A2476-7BC4-D569-D18C-1B6303C360DC}"/>
              </a:ext>
            </a:extLst>
          </p:cNvPr>
          <p:cNvSpPr txBox="1"/>
          <p:nvPr/>
        </p:nvSpPr>
        <p:spPr>
          <a:xfrm>
            <a:off x="1129002" y="1316889"/>
            <a:ext cx="7993294" cy="800219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endParaRPr lang="en-US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2" name="AutoShape 2" descr="Memory Management in Operating System - GeeksforGeeks">
            <a:extLst>
              <a:ext uri="{FF2B5EF4-FFF2-40B4-BE49-F238E27FC236}">
                <a16:creationId xmlns:a16="http://schemas.microsoft.com/office/drawing/2014/main" id="{5504C39D-E6B7-396D-F3B8-9E2199E04A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Memory Management in Operating System - GeeksforGeeks">
            <a:extLst>
              <a:ext uri="{FF2B5EF4-FFF2-40B4-BE49-F238E27FC236}">
                <a16:creationId xmlns:a16="http://schemas.microsoft.com/office/drawing/2014/main" id="{E4EE79CA-EEDD-50CC-126A-F24517316A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Google Shape;465;p27">
            <a:extLst>
              <a:ext uri="{FF2B5EF4-FFF2-40B4-BE49-F238E27FC236}">
                <a16:creationId xmlns:a16="http://schemas.microsoft.com/office/drawing/2014/main" id="{7311CC7B-89F5-9DBB-6FDB-079C513E297A}"/>
              </a:ext>
            </a:extLst>
          </p:cNvPr>
          <p:cNvSpPr txBox="1">
            <a:spLocks/>
          </p:cNvSpPr>
          <p:nvPr/>
        </p:nvSpPr>
        <p:spPr>
          <a:xfrm>
            <a:off x="4597685" y="55573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r>
              <a:rPr lang="en-US" sz="1000" dirty="0"/>
              <a:t>Task 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EC998B-E856-28E6-1BAB-2F9E55266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076" y="1135255"/>
            <a:ext cx="3556113" cy="189578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1D091F7-22F3-69A2-14D2-89224208A1A4}"/>
              </a:ext>
            </a:extLst>
          </p:cNvPr>
          <p:cNvSpPr txBox="1"/>
          <p:nvPr/>
        </p:nvSpPr>
        <p:spPr>
          <a:xfrm>
            <a:off x="1209895" y="1300013"/>
            <a:ext cx="3902105" cy="830997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600" dirty="0">
                <a:solidFill>
                  <a:schemeClr val="accent6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Complete the given code to define and fill a matrix</a:t>
            </a: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3FD6F1-F59B-AD0F-5E8D-C642285BC024}"/>
              </a:ext>
            </a:extLst>
          </p:cNvPr>
          <p:cNvSpPr txBox="1"/>
          <p:nvPr/>
        </p:nvSpPr>
        <p:spPr>
          <a:xfrm>
            <a:off x="1297495" y="3164890"/>
            <a:ext cx="5247305" cy="830997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600" dirty="0">
                <a:solidFill>
                  <a:schemeClr val="accent2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You should fill the matrix, print its values and finally free the memory.</a:t>
            </a: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2406411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49C1F967-AF59-5CA8-01E7-15D95FE01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D2F0647D-0D16-6DAF-0266-BD6C0CA1BAD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Pointer.c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DB52A34D-5A1D-E366-FAF7-193209C9EF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05600" y="2419350"/>
            <a:ext cx="1318800" cy="131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255C20-708E-DB66-49E3-5AC8BE390DF8}"/>
              </a:ext>
            </a:extLst>
          </p:cNvPr>
          <p:cNvSpPr txBox="1"/>
          <p:nvPr/>
        </p:nvSpPr>
        <p:spPr>
          <a:xfrm>
            <a:off x="1005895" y="757579"/>
            <a:ext cx="7993294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55FE8DC2-1DA5-2C7E-E7D3-E283068C42EB}"/>
              </a:ext>
            </a:extLst>
          </p:cNvPr>
          <p:cNvSpPr txBox="1">
            <a:spLocks/>
          </p:cNvSpPr>
          <p:nvPr/>
        </p:nvSpPr>
        <p:spPr>
          <a:xfrm>
            <a:off x="1005895" y="278164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3D array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7E49B397-8E08-56FB-5EF4-D783C5FCA881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FEFE6D41-E189-AA31-653A-E394867F330B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21D3D5-5A11-5CA9-0FD1-1ADE6AF37233}"/>
              </a:ext>
            </a:extLst>
          </p:cNvPr>
          <p:cNvSpPr txBox="1"/>
          <p:nvPr/>
        </p:nvSpPr>
        <p:spPr>
          <a:xfrm>
            <a:off x="1129002" y="1316889"/>
            <a:ext cx="7993294" cy="800219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endParaRPr lang="en-US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2" name="AutoShape 2" descr="Memory Management in Operating System - GeeksforGeeks">
            <a:extLst>
              <a:ext uri="{FF2B5EF4-FFF2-40B4-BE49-F238E27FC236}">
                <a16:creationId xmlns:a16="http://schemas.microsoft.com/office/drawing/2014/main" id="{6D8C7904-E25C-7FBC-2D16-BDD588B8C5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Memory Management in Operating System - GeeksforGeeks">
            <a:extLst>
              <a:ext uri="{FF2B5EF4-FFF2-40B4-BE49-F238E27FC236}">
                <a16:creationId xmlns:a16="http://schemas.microsoft.com/office/drawing/2014/main" id="{B713CCE3-69F0-C875-9F4A-2167B4FA4D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Google Shape;465;p27">
            <a:extLst>
              <a:ext uri="{FF2B5EF4-FFF2-40B4-BE49-F238E27FC236}">
                <a16:creationId xmlns:a16="http://schemas.microsoft.com/office/drawing/2014/main" id="{709B7B35-A949-064D-E055-E463293D285A}"/>
              </a:ext>
            </a:extLst>
          </p:cNvPr>
          <p:cNvSpPr txBox="1">
            <a:spLocks/>
          </p:cNvSpPr>
          <p:nvPr/>
        </p:nvSpPr>
        <p:spPr>
          <a:xfrm>
            <a:off x="4597685" y="55573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r>
              <a:rPr lang="en-US" sz="1000" dirty="0"/>
              <a:t>Task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86DBE2-AFD6-A147-947C-4EB912157029}"/>
              </a:ext>
            </a:extLst>
          </p:cNvPr>
          <p:cNvSpPr txBox="1"/>
          <p:nvPr/>
        </p:nvSpPr>
        <p:spPr>
          <a:xfrm>
            <a:off x="1129002" y="1070352"/>
            <a:ext cx="3902105" cy="76944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dirty="0">
                <a:solidFill>
                  <a:schemeClr val="accent6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Complete the given code to define and fill a 3D array.</a:t>
            </a: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143E76-90F5-63DA-0E50-4F0A87EF3A64}"/>
              </a:ext>
            </a:extLst>
          </p:cNvPr>
          <p:cNvSpPr txBox="1"/>
          <p:nvPr/>
        </p:nvSpPr>
        <p:spPr>
          <a:xfrm>
            <a:off x="1211000" y="3688427"/>
            <a:ext cx="7541975" cy="76944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dirty="0">
                <a:solidFill>
                  <a:schemeClr val="accent6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You should use </a:t>
            </a:r>
            <a:r>
              <a:rPr lang="en-US" dirty="0">
                <a:solidFill>
                  <a:schemeClr val="accent2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pointer</a:t>
            </a:r>
            <a:r>
              <a:rPr lang="en-US" dirty="0">
                <a:solidFill>
                  <a:schemeClr val="accent6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 arithmetic for filling and printing the 3D array. </a:t>
            </a: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B4A6514-8FBD-E6D5-5C68-B1BA26483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039" y="1439612"/>
            <a:ext cx="4379150" cy="206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354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792B3715-0F6F-1E5A-B523-2D31676E0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78329A97-1D68-1B56-4BE6-04A5A0FD4C9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Pointer.c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9C143AAA-A836-D24A-83DA-2C93834805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05600" y="2419350"/>
            <a:ext cx="1318800" cy="131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76FBE5-9CB5-2E8D-B5AF-163317592FDB}"/>
              </a:ext>
            </a:extLst>
          </p:cNvPr>
          <p:cNvSpPr txBox="1"/>
          <p:nvPr/>
        </p:nvSpPr>
        <p:spPr>
          <a:xfrm>
            <a:off x="1005895" y="757579"/>
            <a:ext cx="7993294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D87241E1-A0CD-16E5-318C-027F1B8FDF0D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Function Pointer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F15E0927-F725-34BB-65A2-9BE6A0DC5BBA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53EA8404-72D1-645A-78FE-9778909B08D2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C14F4-9BCF-CECF-899A-7E9095E38319}"/>
              </a:ext>
            </a:extLst>
          </p:cNvPr>
          <p:cNvSpPr txBox="1"/>
          <p:nvPr/>
        </p:nvSpPr>
        <p:spPr>
          <a:xfrm>
            <a:off x="1129002" y="1316889"/>
            <a:ext cx="7993294" cy="800219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endParaRPr lang="en-US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2" name="AutoShape 2" descr="Memory Management in Operating System - GeeksforGeeks">
            <a:extLst>
              <a:ext uri="{FF2B5EF4-FFF2-40B4-BE49-F238E27FC236}">
                <a16:creationId xmlns:a16="http://schemas.microsoft.com/office/drawing/2014/main" id="{8E71C1DC-99EF-9AD2-B42E-B80006B619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Memory Management in Operating System - GeeksforGeeks">
            <a:extLst>
              <a:ext uri="{FF2B5EF4-FFF2-40B4-BE49-F238E27FC236}">
                <a16:creationId xmlns:a16="http://schemas.microsoft.com/office/drawing/2014/main" id="{44114CD2-6974-F75D-7161-DBFAC7D3D1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Google Shape;465;p27">
            <a:extLst>
              <a:ext uri="{FF2B5EF4-FFF2-40B4-BE49-F238E27FC236}">
                <a16:creationId xmlns:a16="http://schemas.microsoft.com/office/drawing/2014/main" id="{2865D900-E30F-0D29-3699-B09ABF7350B9}"/>
              </a:ext>
            </a:extLst>
          </p:cNvPr>
          <p:cNvSpPr txBox="1">
            <a:spLocks/>
          </p:cNvSpPr>
          <p:nvPr/>
        </p:nvSpPr>
        <p:spPr>
          <a:xfrm>
            <a:off x="4597685" y="55573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F8C74A-1601-32A3-8DD7-CF9BB11E3FFE}"/>
              </a:ext>
            </a:extLst>
          </p:cNvPr>
          <p:cNvSpPr txBox="1"/>
          <p:nvPr/>
        </p:nvSpPr>
        <p:spPr>
          <a:xfrm>
            <a:off x="1129002" y="1121374"/>
            <a:ext cx="7489398" cy="830997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600" dirty="0">
                <a:solidFill>
                  <a:schemeClr val="accent6"/>
                </a:solidFill>
              </a:rPr>
              <a:t>A </a:t>
            </a:r>
            <a:r>
              <a:rPr lang="en-US" sz="1600" dirty="0">
                <a:solidFill>
                  <a:schemeClr val="accent2"/>
                </a:solidFill>
              </a:rPr>
              <a:t>function pointer </a:t>
            </a:r>
            <a:r>
              <a:rPr lang="en-US" sz="1600" dirty="0">
                <a:solidFill>
                  <a:schemeClr val="accent6"/>
                </a:solidFill>
              </a:rPr>
              <a:t>contains the </a:t>
            </a:r>
            <a:r>
              <a:rPr lang="en-US" sz="1600" dirty="0">
                <a:solidFill>
                  <a:schemeClr val="accent2"/>
                </a:solidFill>
              </a:rPr>
              <a:t>address of a function </a:t>
            </a:r>
            <a:r>
              <a:rPr lang="en-US" sz="1600" dirty="0">
                <a:solidFill>
                  <a:schemeClr val="accent6"/>
                </a:solidFill>
              </a:rPr>
              <a:t>in memory. A function name is really the starting address in memory of the code that performs the function’s task.</a:t>
            </a:r>
            <a:endParaRPr lang="en-US" sz="1600" dirty="0">
              <a:solidFill>
                <a:schemeClr val="accent6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3AFB5C-2F1F-E544-7B08-7EADF9D81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518" y="1732388"/>
            <a:ext cx="3458282" cy="27686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6001508-C4BC-FF18-77AB-04800122F447}"/>
              </a:ext>
            </a:extLst>
          </p:cNvPr>
          <p:cNvSpPr txBox="1"/>
          <p:nvPr/>
        </p:nvSpPr>
        <p:spPr>
          <a:xfrm>
            <a:off x="1476021" y="2613003"/>
            <a:ext cx="3526521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This example shows how function pointer works in practice </a:t>
            </a:r>
            <a:endParaRPr lang="en-US" sz="1600" dirty="0">
              <a:solidFill>
                <a:schemeClr val="accent6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498716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7F0244F3-178D-CC2A-62F1-C6AF1556E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31355ABF-D351-54F9-7A67-56C0A80CD4E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Pointer.c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4C43E4D2-EC4B-2D43-379E-6E525FC40F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05600" y="2362439"/>
            <a:ext cx="1318800" cy="131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0435BD-9E9C-891B-909F-730ACC4A33BA}"/>
              </a:ext>
            </a:extLst>
          </p:cNvPr>
          <p:cNvSpPr txBox="1"/>
          <p:nvPr/>
        </p:nvSpPr>
        <p:spPr>
          <a:xfrm>
            <a:off x="1005895" y="757579"/>
            <a:ext cx="7993294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8F0564AC-3665-0C80-1C17-8C91BE0CB9D8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Function Pointer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A18CFAE2-223F-74F7-442F-B4B802C4FD3C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5570841F-DA70-D967-03ED-43E863F1AB9B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E2EC93-6436-8680-322A-E6BCB503E18E}"/>
              </a:ext>
            </a:extLst>
          </p:cNvPr>
          <p:cNvSpPr txBox="1"/>
          <p:nvPr/>
        </p:nvSpPr>
        <p:spPr>
          <a:xfrm>
            <a:off x="1129002" y="1316889"/>
            <a:ext cx="7993294" cy="800219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endParaRPr lang="en-US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2" name="AutoShape 2" descr="Memory Management in Operating System - GeeksforGeeks">
            <a:extLst>
              <a:ext uri="{FF2B5EF4-FFF2-40B4-BE49-F238E27FC236}">
                <a16:creationId xmlns:a16="http://schemas.microsoft.com/office/drawing/2014/main" id="{1593F452-6153-04C0-45E6-B510D55687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Memory Management in Operating System - GeeksforGeeks">
            <a:extLst>
              <a:ext uri="{FF2B5EF4-FFF2-40B4-BE49-F238E27FC236}">
                <a16:creationId xmlns:a16="http://schemas.microsoft.com/office/drawing/2014/main" id="{E461ED56-BBB0-0446-DDE9-A695F064C1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Google Shape;465;p27">
            <a:extLst>
              <a:ext uri="{FF2B5EF4-FFF2-40B4-BE49-F238E27FC236}">
                <a16:creationId xmlns:a16="http://schemas.microsoft.com/office/drawing/2014/main" id="{DE09F239-B375-0642-93DF-679868E97A95}"/>
              </a:ext>
            </a:extLst>
          </p:cNvPr>
          <p:cNvSpPr txBox="1">
            <a:spLocks/>
          </p:cNvSpPr>
          <p:nvPr/>
        </p:nvSpPr>
        <p:spPr>
          <a:xfrm>
            <a:off x="4597685" y="55573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3B1FEF-A225-C295-DF65-AC74C2313C47}"/>
              </a:ext>
            </a:extLst>
          </p:cNvPr>
          <p:cNvSpPr txBox="1"/>
          <p:nvPr/>
        </p:nvSpPr>
        <p:spPr>
          <a:xfrm>
            <a:off x="1129002" y="1121374"/>
            <a:ext cx="7489398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600" dirty="0">
                <a:solidFill>
                  <a:schemeClr val="accent6"/>
                </a:solidFill>
              </a:rPr>
              <a:t>design a small calculator that can </a:t>
            </a:r>
            <a:r>
              <a:rPr lang="en-US" sz="1600" dirty="0">
                <a:solidFill>
                  <a:schemeClr val="accent2"/>
                </a:solidFill>
              </a:rPr>
              <a:t>add</a:t>
            </a:r>
            <a:r>
              <a:rPr lang="en-US" sz="1600" dirty="0">
                <a:solidFill>
                  <a:schemeClr val="accent6"/>
                </a:solidFill>
              </a:rPr>
              <a:t>, </a:t>
            </a:r>
            <a:r>
              <a:rPr lang="en-US" sz="1600" dirty="0">
                <a:solidFill>
                  <a:schemeClr val="accent2"/>
                </a:solidFill>
              </a:rPr>
              <a:t>subtract, multiply, or divide</a:t>
            </a:r>
            <a:r>
              <a:rPr lang="en-US" sz="1600" dirty="0">
                <a:solidFill>
                  <a:schemeClr val="accent6"/>
                </a:solidFill>
              </a:rPr>
              <a:t> two integers using </a:t>
            </a:r>
            <a:r>
              <a:rPr lang="en-US" sz="1600" dirty="0">
                <a:solidFill>
                  <a:schemeClr val="accent2"/>
                </a:solidFill>
              </a:rPr>
              <a:t>function pointers</a:t>
            </a:r>
            <a:r>
              <a:rPr lang="en-US" sz="1600" dirty="0">
                <a:solidFill>
                  <a:schemeClr val="accent6"/>
                </a:solidFill>
              </a:rPr>
              <a:t>.</a:t>
            </a:r>
            <a:endParaRPr lang="en-US" sz="1600" dirty="0">
              <a:solidFill>
                <a:schemeClr val="accent6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8C55F4-8CB2-F4A2-FB46-B34F1739D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111" y="1778054"/>
            <a:ext cx="3608615" cy="224799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D5577F8-38FB-F8F1-BE1B-F4A391ABEACA}"/>
              </a:ext>
            </a:extLst>
          </p:cNvPr>
          <p:cNvSpPr txBox="1"/>
          <p:nvPr/>
        </p:nvSpPr>
        <p:spPr>
          <a:xfrm>
            <a:off x="1403467" y="2571750"/>
            <a:ext cx="3729074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Complete the given code by doing what is asked. </a:t>
            </a:r>
            <a:endParaRPr lang="en-US" sz="1600" dirty="0">
              <a:solidFill>
                <a:schemeClr val="accent6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7" name="Google Shape;465;p27">
            <a:extLst>
              <a:ext uri="{FF2B5EF4-FFF2-40B4-BE49-F238E27FC236}">
                <a16:creationId xmlns:a16="http://schemas.microsoft.com/office/drawing/2014/main" id="{EC7A7A84-9370-F208-39C8-2F582F89510B}"/>
              </a:ext>
            </a:extLst>
          </p:cNvPr>
          <p:cNvSpPr txBox="1">
            <a:spLocks/>
          </p:cNvSpPr>
          <p:nvPr/>
        </p:nvSpPr>
        <p:spPr>
          <a:xfrm>
            <a:off x="4645074" y="104244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r>
              <a:rPr lang="en-US" sz="1000" dirty="0"/>
              <a:t>Task 4</a:t>
            </a:r>
          </a:p>
        </p:txBody>
      </p:sp>
    </p:spTree>
    <p:extLst>
      <p:ext uri="{BB962C8B-B14F-4D97-AF65-F5344CB8AC3E}">
        <p14:creationId xmlns:p14="http://schemas.microsoft.com/office/powerpoint/2010/main" val="2919312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A431F104-247F-F86C-E7C0-E14F0CA59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A9272013-26E2-6857-0F59-A0FACC1AE1E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Pointer.c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EB1F1CD9-4A5B-A39B-8D0C-ECD6D6E9DF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05600" y="2362439"/>
            <a:ext cx="1318800" cy="131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F1135F-6C40-B481-5276-6145AC1CD2C2}"/>
              </a:ext>
            </a:extLst>
          </p:cNvPr>
          <p:cNvSpPr txBox="1"/>
          <p:nvPr/>
        </p:nvSpPr>
        <p:spPr>
          <a:xfrm>
            <a:off x="1005895" y="757579"/>
            <a:ext cx="7993294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809AF1CF-EB07-F8AC-9052-6BE517B5B9F1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Function Pointer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BBE80714-B1BF-95F1-3480-8065211C1742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F4A99DFE-96ED-A018-2144-9312BE137D4C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9C5871-2D25-1CB4-CCF3-F1CA57637BC9}"/>
              </a:ext>
            </a:extLst>
          </p:cNvPr>
          <p:cNvSpPr txBox="1"/>
          <p:nvPr/>
        </p:nvSpPr>
        <p:spPr>
          <a:xfrm>
            <a:off x="1129002" y="1316889"/>
            <a:ext cx="7993294" cy="800219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endParaRPr lang="en-US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2" name="AutoShape 2" descr="Memory Management in Operating System - GeeksforGeeks">
            <a:extLst>
              <a:ext uri="{FF2B5EF4-FFF2-40B4-BE49-F238E27FC236}">
                <a16:creationId xmlns:a16="http://schemas.microsoft.com/office/drawing/2014/main" id="{F28B857E-193C-C2E7-59A8-D17653F3F5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Memory Management in Operating System - GeeksforGeeks">
            <a:extLst>
              <a:ext uri="{FF2B5EF4-FFF2-40B4-BE49-F238E27FC236}">
                <a16:creationId xmlns:a16="http://schemas.microsoft.com/office/drawing/2014/main" id="{0EFEB046-8BB6-A5CA-D5B2-E7D2ED28F0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Google Shape;465;p27">
            <a:extLst>
              <a:ext uri="{FF2B5EF4-FFF2-40B4-BE49-F238E27FC236}">
                <a16:creationId xmlns:a16="http://schemas.microsoft.com/office/drawing/2014/main" id="{FF785872-21B8-616D-1BDA-FCD6A7B8FDE0}"/>
              </a:ext>
            </a:extLst>
          </p:cNvPr>
          <p:cNvSpPr txBox="1">
            <a:spLocks/>
          </p:cNvSpPr>
          <p:nvPr/>
        </p:nvSpPr>
        <p:spPr>
          <a:xfrm>
            <a:off x="4597685" y="55573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5910D7-EDDC-63E2-BF97-D1B946E445F6}"/>
              </a:ext>
            </a:extLst>
          </p:cNvPr>
          <p:cNvSpPr txBox="1"/>
          <p:nvPr/>
        </p:nvSpPr>
        <p:spPr>
          <a:xfrm>
            <a:off x="1129002" y="1121374"/>
            <a:ext cx="7489398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600" dirty="0">
                <a:solidFill>
                  <a:schemeClr val="accent6"/>
                </a:solidFill>
              </a:rPr>
              <a:t>design a small calculator that can </a:t>
            </a:r>
            <a:r>
              <a:rPr lang="en-US" sz="1600" dirty="0">
                <a:solidFill>
                  <a:schemeClr val="accent2"/>
                </a:solidFill>
              </a:rPr>
              <a:t>add</a:t>
            </a:r>
            <a:r>
              <a:rPr lang="en-US" sz="1600" dirty="0">
                <a:solidFill>
                  <a:schemeClr val="accent6"/>
                </a:solidFill>
              </a:rPr>
              <a:t>, </a:t>
            </a:r>
            <a:r>
              <a:rPr lang="en-US" sz="1600" dirty="0">
                <a:solidFill>
                  <a:schemeClr val="accent2"/>
                </a:solidFill>
              </a:rPr>
              <a:t>subtract, multiply, or divide</a:t>
            </a:r>
            <a:r>
              <a:rPr lang="en-US" sz="1600" dirty="0">
                <a:solidFill>
                  <a:schemeClr val="accent6"/>
                </a:solidFill>
              </a:rPr>
              <a:t> two integers using </a:t>
            </a:r>
            <a:r>
              <a:rPr lang="en-US" sz="1600" dirty="0">
                <a:solidFill>
                  <a:schemeClr val="accent2"/>
                </a:solidFill>
              </a:rPr>
              <a:t>function pointers</a:t>
            </a:r>
            <a:r>
              <a:rPr lang="en-US" sz="1600" dirty="0">
                <a:solidFill>
                  <a:schemeClr val="accent6"/>
                </a:solidFill>
              </a:rPr>
              <a:t>.</a:t>
            </a:r>
            <a:endParaRPr lang="en-US" sz="1600" dirty="0">
              <a:solidFill>
                <a:schemeClr val="accent6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9DA35E-5B7F-01E2-A18D-1C3ADF585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111" y="1778054"/>
            <a:ext cx="3608615" cy="224799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85FB9AF-D36E-1562-90EA-36EB1BC891EB}"/>
              </a:ext>
            </a:extLst>
          </p:cNvPr>
          <p:cNvSpPr txBox="1"/>
          <p:nvPr/>
        </p:nvSpPr>
        <p:spPr>
          <a:xfrm>
            <a:off x="1403467" y="2571750"/>
            <a:ext cx="3729074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Complete the given code by doing what is asked. </a:t>
            </a:r>
            <a:endParaRPr lang="en-US" sz="1600" dirty="0">
              <a:solidFill>
                <a:schemeClr val="accent6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7" name="Google Shape;465;p27">
            <a:extLst>
              <a:ext uri="{FF2B5EF4-FFF2-40B4-BE49-F238E27FC236}">
                <a16:creationId xmlns:a16="http://schemas.microsoft.com/office/drawing/2014/main" id="{EED8A7AC-1B90-FCE3-456D-AC73B1506AB3}"/>
              </a:ext>
            </a:extLst>
          </p:cNvPr>
          <p:cNvSpPr txBox="1">
            <a:spLocks/>
          </p:cNvSpPr>
          <p:nvPr/>
        </p:nvSpPr>
        <p:spPr>
          <a:xfrm>
            <a:off x="4645074" y="104244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r>
              <a:rPr lang="en-US" sz="1000" dirty="0"/>
              <a:t>Task 3</a:t>
            </a:r>
          </a:p>
        </p:txBody>
      </p:sp>
    </p:spTree>
    <p:extLst>
      <p:ext uri="{BB962C8B-B14F-4D97-AF65-F5344CB8AC3E}">
        <p14:creationId xmlns:p14="http://schemas.microsoft.com/office/powerpoint/2010/main" val="1376863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DA60A977-4433-2730-2846-A8A1A542F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314B5640-663F-CBFF-607F-6BAE02A24E3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Pointer.c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3DB073D9-C887-7233-B648-0F11E7D02C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05600" y="2362439"/>
            <a:ext cx="1318800" cy="131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68449C-E43B-EEA5-AE74-8C30DF34895D}"/>
              </a:ext>
            </a:extLst>
          </p:cNvPr>
          <p:cNvSpPr txBox="1"/>
          <p:nvPr/>
        </p:nvSpPr>
        <p:spPr>
          <a:xfrm>
            <a:off x="1005895" y="757579"/>
            <a:ext cx="7993294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9E00D2AF-309D-1F66-73D4-97983600EC73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Function Pointer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434C7051-5A92-1FDE-8137-939493FD73BA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97A96B3F-02E9-9941-9A7D-BA3080A0EB67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804389-C93A-86EA-B965-23D85362CBC8}"/>
              </a:ext>
            </a:extLst>
          </p:cNvPr>
          <p:cNvSpPr txBox="1"/>
          <p:nvPr/>
        </p:nvSpPr>
        <p:spPr>
          <a:xfrm>
            <a:off x="1129002" y="1316889"/>
            <a:ext cx="7993294" cy="800219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endParaRPr lang="en-US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2" name="AutoShape 2" descr="Memory Management in Operating System - GeeksforGeeks">
            <a:extLst>
              <a:ext uri="{FF2B5EF4-FFF2-40B4-BE49-F238E27FC236}">
                <a16:creationId xmlns:a16="http://schemas.microsoft.com/office/drawing/2014/main" id="{01E2B936-DA87-24BF-433C-CDE0431EE7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Memory Management in Operating System - GeeksforGeeks">
            <a:extLst>
              <a:ext uri="{FF2B5EF4-FFF2-40B4-BE49-F238E27FC236}">
                <a16:creationId xmlns:a16="http://schemas.microsoft.com/office/drawing/2014/main" id="{CC1A8521-F736-4C24-5CAF-4D24BA0E9D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Google Shape;465;p27">
            <a:extLst>
              <a:ext uri="{FF2B5EF4-FFF2-40B4-BE49-F238E27FC236}">
                <a16:creationId xmlns:a16="http://schemas.microsoft.com/office/drawing/2014/main" id="{8A487AE4-3AC7-9384-08B8-084152AE0A1F}"/>
              </a:ext>
            </a:extLst>
          </p:cNvPr>
          <p:cNvSpPr txBox="1">
            <a:spLocks/>
          </p:cNvSpPr>
          <p:nvPr/>
        </p:nvSpPr>
        <p:spPr>
          <a:xfrm>
            <a:off x="4597685" y="55573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7B6DAB-7CFC-4137-336B-E5729650E18A}"/>
              </a:ext>
            </a:extLst>
          </p:cNvPr>
          <p:cNvSpPr txBox="1"/>
          <p:nvPr/>
        </p:nvSpPr>
        <p:spPr>
          <a:xfrm>
            <a:off x="1129002" y="1121374"/>
            <a:ext cx="7489398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600" dirty="0">
                <a:solidFill>
                  <a:schemeClr val="accent6"/>
                </a:solidFill>
              </a:rPr>
              <a:t>design a small calculator that can </a:t>
            </a:r>
            <a:r>
              <a:rPr lang="en-US" sz="1600" dirty="0">
                <a:solidFill>
                  <a:schemeClr val="accent2"/>
                </a:solidFill>
              </a:rPr>
              <a:t>add</a:t>
            </a:r>
            <a:r>
              <a:rPr lang="en-US" sz="1600" dirty="0">
                <a:solidFill>
                  <a:schemeClr val="accent6"/>
                </a:solidFill>
              </a:rPr>
              <a:t>, </a:t>
            </a:r>
            <a:r>
              <a:rPr lang="en-US" sz="1600" dirty="0">
                <a:solidFill>
                  <a:schemeClr val="accent2"/>
                </a:solidFill>
              </a:rPr>
              <a:t>subtract, multiply, or divide</a:t>
            </a:r>
            <a:r>
              <a:rPr lang="en-US" sz="1600" dirty="0">
                <a:solidFill>
                  <a:schemeClr val="accent6"/>
                </a:solidFill>
              </a:rPr>
              <a:t> two integers using </a:t>
            </a:r>
            <a:r>
              <a:rPr lang="en-US" sz="1600" dirty="0">
                <a:solidFill>
                  <a:schemeClr val="accent2"/>
                </a:solidFill>
              </a:rPr>
              <a:t>function pointers</a:t>
            </a:r>
            <a:r>
              <a:rPr lang="en-US" sz="1600" dirty="0">
                <a:solidFill>
                  <a:schemeClr val="accent6"/>
                </a:solidFill>
              </a:rPr>
              <a:t>.</a:t>
            </a:r>
            <a:endParaRPr lang="en-US" sz="1600" dirty="0">
              <a:solidFill>
                <a:schemeClr val="accent6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75FF61-B3D3-E555-31DD-6A13332A6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111" y="1778054"/>
            <a:ext cx="3608615" cy="224799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ADDABE1-F618-2BEE-D3B8-672FB09DCAF7}"/>
              </a:ext>
            </a:extLst>
          </p:cNvPr>
          <p:cNvSpPr txBox="1"/>
          <p:nvPr/>
        </p:nvSpPr>
        <p:spPr>
          <a:xfrm>
            <a:off x="1294682" y="2370989"/>
            <a:ext cx="3729074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Complete the given code by doing what is asked. </a:t>
            </a:r>
            <a:endParaRPr lang="en-US" sz="1600" dirty="0">
              <a:solidFill>
                <a:schemeClr val="accent6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7" name="Google Shape;465;p27">
            <a:extLst>
              <a:ext uri="{FF2B5EF4-FFF2-40B4-BE49-F238E27FC236}">
                <a16:creationId xmlns:a16="http://schemas.microsoft.com/office/drawing/2014/main" id="{BDC60FA5-CD4A-C6EA-8B0C-D2C31BA14FF4}"/>
              </a:ext>
            </a:extLst>
          </p:cNvPr>
          <p:cNvSpPr txBox="1">
            <a:spLocks/>
          </p:cNvSpPr>
          <p:nvPr/>
        </p:nvSpPr>
        <p:spPr>
          <a:xfrm>
            <a:off x="4645074" y="104244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r>
              <a:rPr lang="en-US" sz="1000" dirty="0"/>
              <a:t>Task 3</a:t>
            </a:r>
          </a:p>
        </p:txBody>
      </p:sp>
    </p:spTree>
    <p:extLst>
      <p:ext uri="{BB962C8B-B14F-4D97-AF65-F5344CB8AC3E}">
        <p14:creationId xmlns:p14="http://schemas.microsoft.com/office/powerpoint/2010/main" val="3625135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F328F8A8-CAF7-68F9-CFC3-77DFEF983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FAEDDE79-8299-462D-2CB9-FA3D9BC4CB3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Pointer.c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BE6772E1-59A3-9F25-C16C-261C81E38D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05600" y="2366993"/>
            <a:ext cx="1318800" cy="131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D1DE2-E09B-BFF8-BDFB-39C997EFBC3F}"/>
              </a:ext>
            </a:extLst>
          </p:cNvPr>
          <p:cNvSpPr txBox="1"/>
          <p:nvPr/>
        </p:nvSpPr>
        <p:spPr>
          <a:xfrm>
            <a:off x="1005895" y="757579"/>
            <a:ext cx="7993294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B560A9FF-D5EE-396E-41D1-9069D9C6CF48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Homework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960D44E9-1237-F763-2541-6E15ADEBDA2E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2109E557-ABA3-6172-DDED-9D9FC6278230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C547D3-EDE4-5A29-9A97-6D4AAE9C39A4}"/>
              </a:ext>
            </a:extLst>
          </p:cNvPr>
          <p:cNvSpPr txBox="1"/>
          <p:nvPr/>
        </p:nvSpPr>
        <p:spPr>
          <a:xfrm>
            <a:off x="1129002" y="1316889"/>
            <a:ext cx="7993294" cy="800219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endParaRPr lang="en-US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2" name="AutoShape 2" descr="Memory Management in Operating System - GeeksforGeeks">
            <a:extLst>
              <a:ext uri="{FF2B5EF4-FFF2-40B4-BE49-F238E27FC236}">
                <a16:creationId xmlns:a16="http://schemas.microsoft.com/office/drawing/2014/main" id="{64DE3C54-DE83-62C6-6DF6-0DD20CAE81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Memory Management in Operating System - GeeksforGeeks">
            <a:extLst>
              <a:ext uri="{FF2B5EF4-FFF2-40B4-BE49-F238E27FC236}">
                <a16:creationId xmlns:a16="http://schemas.microsoft.com/office/drawing/2014/main" id="{9CA9036C-BA42-1B74-7358-10553EF441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Google Shape;465;p27">
            <a:extLst>
              <a:ext uri="{FF2B5EF4-FFF2-40B4-BE49-F238E27FC236}">
                <a16:creationId xmlns:a16="http://schemas.microsoft.com/office/drawing/2014/main" id="{5323E062-C384-F969-516F-AAA38D676F6E}"/>
              </a:ext>
            </a:extLst>
          </p:cNvPr>
          <p:cNvSpPr txBox="1">
            <a:spLocks/>
          </p:cNvSpPr>
          <p:nvPr/>
        </p:nvSpPr>
        <p:spPr>
          <a:xfrm>
            <a:off x="4597685" y="55573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A7A995-AF17-3935-FCFF-3E3F6162E5D1}"/>
              </a:ext>
            </a:extLst>
          </p:cNvPr>
          <p:cNvSpPr txBox="1"/>
          <p:nvPr/>
        </p:nvSpPr>
        <p:spPr>
          <a:xfrm>
            <a:off x="1129002" y="1121374"/>
            <a:ext cx="7489398" cy="1815882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Assignment: do the following: </a:t>
            </a:r>
          </a:p>
          <a:p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/>
                </a:solidFill>
                <a:latin typeface="Fira Code"/>
                <a:ea typeface="Fira Code"/>
                <a:cs typeface="B Nazanin" panose="00000400000000000000" pitchFamily="2" charset="-78"/>
              </a:rPr>
              <a:t> 7.20 — (Maze Traversal)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</a:rPr>
              <a:t> </a:t>
            </a:r>
            <a:r>
              <a:rPr lang="en-US" sz="1600" dirty="0">
                <a:solidFill>
                  <a:schemeClr val="accent2"/>
                </a:solidFill>
                <a:latin typeface="Fira Code"/>
                <a:ea typeface="Fira Code"/>
                <a:cs typeface="B Nazanin" panose="00000400000000000000" pitchFamily="2" charset="-78"/>
              </a:rPr>
              <a:t>7.21 (Generating Mazes Randomly) </a:t>
            </a:r>
          </a:p>
          <a:p>
            <a:endParaRPr lang="en-US" sz="1600" dirty="0">
              <a:solidFill>
                <a:schemeClr val="accent2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r>
              <a:rPr lang="en-US" sz="1600" dirty="0">
                <a:solidFill>
                  <a:schemeClr val="accent6"/>
                </a:solidFill>
                <a:latin typeface="Fira Code"/>
                <a:ea typeface="Fira Code"/>
                <a:cs typeface="B Nazanin" panose="00000400000000000000" pitchFamily="2" charset="-78"/>
              </a:rPr>
              <a:t>from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</a:rPr>
              <a:t> 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C How to Program, 9th Edition (Deitel)</a:t>
            </a:r>
          </a:p>
          <a:p>
            <a:endParaRPr lang="en-US" sz="1600" dirty="0">
              <a:solidFill>
                <a:schemeClr val="accent2">
                  <a:lumMod val="75000"/>
                </a:schemeClr>
              </a:solidFill>
              <a:latin typeface="Fira Code"/>
              <a:ea typeface="Fira Code"/>
              <a:cs typeface="B Nazanin" panose="00000400000000000000" pitchFamily="2" charset="-78"/>
            </a:endParaRPr>
          </a:p>
        </p:txBody>
      </p:sp>
      <p:sp>
        <p:nvSpPr>
          <p:cNvPr id="17" name="Google Shape;465;p27">
            <a:extLst>
              <a:ext uri="{FF2B5EF4-FFF2-40B4-BE49-F238E27FC236}">
                <a16:creationId xmlns:a16="http://schemas.microsoft.com/office/drawing/2014/main" id="{06B702A0-9C1E-699F-E292-E55EBD6C0898}"/>
              </a:ext>
            </a:extLst>
          </p:cNvPr>
          <p:cNvSpPr txBox="1">
            <a:spLocks/>
          </p:cNvSpPr>
          <p:nvPr/>
        </p:nvSpPr>
        <p:spPr>
          <a:xfrm>
            <a:off x="4645074" y="104244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r>
              <a:rPr lang="en-US" sz="1000" dirty="0"/>
              <a:t>HW</a:t>
            </a:r>
          </a:p>
        </p:txBody>
      </p:sp>
    </p:spTree>
    <p:extLst>
      <p:ext uri="{BB962C8B-B14F-4D97-AF65-F5344CB8AC3E}">
        <p14:creationId xmlns:p14="http://schemas.microsoft.com/office/powerpoint/2010/main" val="554126853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1998</TotalTime>
  <Words>459</Words>
  <Application>Microsoft Office PowerPoint</Application>
  <PresentationFormat>On-screen Show (16:9)</PresentationFormat>
  <Paragraphs>101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Fira Code</vt:lpstr>
      <vt:lpstr>Arial</vt:lpstr>
      <vt:lpstr>Programming Language Workshop for Beginners by Slidesgo</vt:lpstr>
      <vt:lpstr>1_Programming Language Workshop for Beginners by Slidesgo</vt:lpstr>
      <vt:lpstr>PowerPoint Presentation</vt:lpstr>
      <vt:lpstr>Pinters and Memory address (part 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shayan naghizadeh</dc:creator>
  <cp:lastModifiedBy>Esmaeil Khosravi</cp:lastModifiedBy>
  <cp:revision>38</cp:revision>
  <dcterms:modified xsi:type="dcterms:W3CDTF">2025-09-01T16:31:42Z</dcterms:modified>
</cp:coreProperties>
</file>