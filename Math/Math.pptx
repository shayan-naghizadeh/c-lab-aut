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302" r:id="rId3"/>
    <p:sldId id="303" r:id="rId4"/>
    <p:sldId id="306" r:id="rId5"/>
    <p:sldId id="304" r:id="rId6"/>
    <p:sldId id="307" r:id="rId7"/>
    <p:sldId id="308" r:id="rId8"/>
    <p:sldId id="309" r:id="rId9"/>
    <p:sldId id="311" r:id="rId10"/>
    <p:sldId id="312" r:id="rId11"/>
    <p:sldId id="313" r:id="rId12"/>
    <p:sldId id="314" r:id="rId13"/>
  </p:sldIdLst>
  <p:sldSz cx="9144000" cy="5143500" type="screen16x9"/>
  <p:notesSz cx="6858000" cy="9144000"/>
  <p:embeddedFontLst>
    <p:embeddedFont>
      <p:font typeface="B Nazanin" panose="00000400000000000000" pitchFamily="2" charset="-78"/>
      <p:regular r:id="rId15"/>
      <p:bold r:id="rId16"/>
    </p:embeddedFont>
    <p:embeddedFont>
      <p:font typeface="Dana" panose="020B0604020202020204" charset="0"/>
      <p:regular r:id="rId17"/>
      <p:bold r:id="rId18"/>
      <p:italic r:id="rId19"/>
      <p:boldItalic r:id="rId20"/>
    </p:embeddedFont>
    <p:embeddedFont>
      <p:font typeface="Fira Code" panose="020F0502020204030204" pitchFamily="49" charset="0"/>
      <p:regular r:id="rId21"/>
      <p:bold r:id="rId22"/>
    </p:embeddedFont>
    <p:embeddedFont>
      <p:font typeface="Lalezar" panose="020F0502020204030204" pitchFamily="2" charset="-78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4" autoAdjust="0"/>
    <p:restoredTop sz="90920" autoAdjust="0"/>
  </p:normalViewPr>
  <p:slideViewPr>
    <p:cSldViewPr snapToGrid="0">
      <p:cViewPr varScale="1">
        <p:scale>
          <a:sx n="155" d="100"/>
          <a:sy n="155" d="100"/>
        </p:scale>
        <p:origin x="330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64F14AAE-DAFD-4678-933F-29E24F58F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AE8AC989-3FD8-D00D-4618-E64596290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15C52449-B22E-9729-3BCA-E14FB2775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069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D57F8616-4B5E-A135-29EC-8BB041FF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C3449A73-8DF5-59A5-4641-C1BEF4A248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93C75082-CBD8-DD58-C77D-9AD70CB23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4071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87EDCE2E-4245-1C07-2371-B09D114C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BA2E11FB-A1A5-9A85-67B6-BD57467F2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2060E462-E77F-4F8E-229C-4C59BC1C2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2567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E6BAFEF3-F860-8D17-C5EF-D41718AB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C19F876A-2B31-6D1E-AB9A-AFF64BAF7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BC54E4F1-EF5B-E115-5676-7566E70EA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7454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EA264510-CD97-08F2-5B48-8FDBAC54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7C089E62-3DF9-89A2-DFD7-3C45077F7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9B1A5BDC-2549-60D4-4294-271F6FBB2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9782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CDC9CC45-628E-BE68-AC6B-EE306D382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225DEB5C-F0F0-3C20-A5CD-230DC2BFE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9043B4D6-CAA1-AE1C-BDCA-268C668A9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8659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23029B0E-B5EA-59B6-E554-90BB671FC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4CCF7149-453F-8119-F663-445BECFFF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28D66EBB-F1F5-2C80-8852-5873682DD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0492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524B95E9-A558-DFB6-B0BB-BDB8A66C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07349BC1-7241-4E6D-4517-96E6B48D6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A5001C97-689C-0FF0-ED86-E7CC93EAB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3890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2E373F3C-1E65-C514-4D1D-CC3D55065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3BC43BA1-4B3B-9DD0-83FB-7A1616BBB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2FC292F3-843F-1434-6F65-19EB5E35D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518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3B0D8A95-0DE3-45A8-6D3B-0CCA3B3B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2F9800F1-1853-44C8-FDF9-F048B84078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71829962-33A9-DF97-D77B-94933578B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3424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BB4E1877-3449-D108-AE14-C94B7BF4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1978EABA-BFBF-5167-0292-61752A083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213A8F9D-DAA7-7FB4-5C6C-461AD272B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9347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endParaRPr sz="1100" dirty="0"/>
          </a:p>
        </p:txBody>
      </p: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0" y="116994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7936E9-7FC1-30C1-7397-1B2AB8776D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613" y="759349"/>
            <a:ext cx="2106820" cy="1900123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453E56-EC32-C5A9-7C2B-A7AEA24CFF8C}"/>
              </a:ext>
            </a:extLst>
          </p:cNvPr>
          <p:cNvSpPr txBox="1"/>
          <p:nvPr/>
        </p:nvSpPr>
        <p:spPr>
          <a:xfrm>
            <a:off x="3119787" y="2815859"/>
            <a:ext cx="2892474" cy="36933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a-IR" sz="1800" b="1" dirty="0">
                <a:solidFill>
                  <a:schemeClr val="accent6"/>
                </a:solidFill>
                <a:latin typeface="Lalezar" panose="00000500000000000000" pitchFamily="2" charset="-78"/>
                <a:cs typeface="B Nazanin" panose="00000400000000000000" pitchFamily="2" charset="-78"/>
                <a:sym typeface="Roboto Black"/>
              </a:rPr>
              <a:t>کارگاه مبانی برنامه‌نویسی </a:t>
            </a:r>
            <a:endParaRPr lang="en-US" sz="1800" b="1" dirty="0">
              <a:solidFill>
                <a:schemeClr val="accent6"/>
              </a:solidFill>
              <a:cs typeface="B Nazanin" panose="00000400000000000000" pitchFamily="2" charset="-78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A6D1F8-B0DC-5B97-7150-D41AC7E478D1}"/>
              </a:ext>
            </a:extLst>
          </p:cNvPr>
          <p:cNvSpPr txBox="1"/>
          <p:nvPr/>
        </p:nvSpPr>
        <p:spPr>
          <a:xfrm>
            <a:off x="2133474" y="3276900"/>
            <a:ext cx="4865099" cy="707886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a-IR" sz="2000" b="1" dirty="0">
                <a:solidFill>
                  <a:schemeClr val="accent6"/>
                </a:solidFill>
                <a:latin typeface="Lalezar" panose="00000500000000000000" pitchFamily="2" charset="-78"/>
                <a:cs typeface="B Nazanin" panose="00000400000000000000" pitchFamily="2" charset="-78"/>
                <a:sym typeface="Roboto Black"/>
              </a:rPr>
              <a:t>جلسه سوم: محاسابات</a:t>
            </a:r>
            <a:endParaRPr lang="en-US" sz="2000" b="1" dirty="0">
              <a:solidFill>
                <a:schemeClr val="accent6"/>
              </a:solidFill>
              <a:latin typeface="Lalezar" panose="00000500000000000000" pitchFamily="2" charset="-78"/>
              <a:cs typeface="B Nazanin" panose="00000400000000000000" pitchFamily="2" charset="-78"/>
              <a:sym typeface="Roboto Black"/>
            </a:endParaRPr>
          </a:p>
          <a:p>
            <a:pPr algn="ctr" rtl="1"/>
            <a:endParaRPr lang="en-US" sz="2000" dirty="0">
              <a:solidFill>
                <a:schemeClr val="accent6"/>
              </a:solidFill>
              <a:latin typeface="Lalezar" panose="00000500000000000000" pitchFamily="2" charset="-78"/>
              <a:ea typeface="Roboto Black"/>
              <a:cs typeface="Lalezar" panose="00000500000000000000" pitchFamily="2" charset="-78"/>
              <a:sym typeface="Robot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2CCD27B-1F3A-6104-A6A9-C9B968D4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E4D1B80C-4E3D-9DCF-00F8-3365428AC40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A264DF29-B9AC-EC90-9E40-A479F209C8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Math.c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A14C772F-CD13-D2C6-DA77-ECB208271B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0465E-896B-243B-5D49-7C62ED51663E}"/>
              </a:ext>
            </a:extLst>
          </p:cNvPr>
          <p:cNvSpPr txBox="1"/>
          <p:nvPr/>
        </p:nvSpPr>
        <p:spPr>
          <a:xfrm>
            <a:off x="1005895" y="1071152"/>
            <a:ext cx="7993294" cy="169277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Computers, as you've heard so far, work with zeros and ones, which represent low voltage and high voltage, respectively.</a:t>
            </a:r>
          </a:p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just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So far, we've seen how numbers are converted into strings of zeros and ones. Now, the question that arises is: what happens for letters?</a:t>
            </a: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465EB3-F53B-4CEF-A5F4-89EDBC02D0C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D5D1F74F-26AC-B649-41DF-9B743FD77529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How does a computer work ?</a:t>
            </a:r>
          </a:p>
        </p:txBody>
      </p:sp>
    </p:spTree>
    <p:extLst>
      <p:ext uri="{BB962C8B-B14F-4D97-AF65-F5344CB8AC3E}">
        <p14:creationId xmlns:p14="http://schemas.microsoft.com/office/powerpoint/2010/main" val="3379293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551E5A3-9B61-4BF8-7BC6-A0C89502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7CB56126-1675-C227-2254-9DAD7C392C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#2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33EDC9D3-1FA2-B18B-F6B9-A1FCEBADDB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Encoding.c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2FACDD1-CDD7-74B8-D39F-1284FBFCC5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014C1-E5B2-9961-1D5F-A5F5F585A393}"/>
              </a:ext>
            </a:extLst>
          </p:cNvPr>
          <p:cNvSpPr txBox="1"/>
          <p:nvPr/>
        </p:nvSpPr>
        <p:spPr>
          <a:xfrm>
            <a:off x="1005895" y="1071152"/>
            <a:ext cx="7993294" cy="3046988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ASCII</a:t>
            </a:r>
          </a:p>
          <a:p>
            <a:pPr marL="171450" indent="-171450" algn="l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UTF-8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UTF-16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ISO-8859-1 (Latin-1)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Windows-1252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…</a:t>
            </a: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171450" indent="-171450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AB5AB6-8F13-73CA-BD37-DA239A9469F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8FF6D7FD-237A-0249-C906-B6DF79B9EB6F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Encoding systems</a:t>
            </a:r>
          </a:p>
        </p:txBody>
      </p:sp>
    </p:spTree>
    <p:extLst>
      <p:ext uri="{BB962C8B-B14F-4D97-AF65-F5344CB8AC3E}">
        <p14:creationId xmlns:p14="http://schemas.microsoft.com/office/powerpoint/2010/main" val="10825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97079F77-97F3-BAE7-C23F-E5562F5B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B7818CEE-F42F-74CE-75FC-AEEF6576CB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#3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B0C78D16-FAA3-14A3-DF79-0F534B2F73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ASCII.c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D25AABA-7EEB-07A7-3129-B87AC42115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7EBE1B-7963-CDC1-822A-5E20817D9928}"/>
              </a:ext>
            </a:extLst>
          </p:cNvPr>
          <p:cNvSpPr txBox="1"/>
          <p:nvPr/>
        </p:nvSpPr>
        <p:spPr>
          <a:xfrm>
            <a:off x="1084844" y="1062102"/>
            <a:ext cx="7993294" cy="289310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each character is converted into a 7-bit integer which represents that character in digital systems.</a:t>
            </a:r>
            <a:endParaRPr lang="fa-IR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In this system, uppercase letters take two high-value bits equal to 10, and lowercase letters take 11</a:t>
            </a:r>
            <a:r>
              <a:rPr lang="fa-IR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.</a:t>
            </a:r>
          </a:p>
          <a:p>
            <a:pPr algn="just">
              <a:buClr>
                <a:schemeClr val="accent3"/>
              </a:buClr>
            </a:pPr>
            <a:endParaRPr lang="fa-IR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For example</a:t>
            </a:r>
          </a:p>
          <a:p>
            <a:pPr algn="just">
              <a:buClr>
                <a:schemeClr val="accent3"/>
              </a:buClr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b="1" dirty="0">
                <a:solidFill>
                  <a:schemeClr val="bg1"/>
                </a:solidFill>
                <a:latin typeface="Dana" panose="020B0604020202020204" charset="-78"/>
                <a:cs typeface="Dana" panose="020B0604020202020204" charset="-78"/>
              </a:rPr>
              <a:t>		</a:t>
            </a:r>
            <a:r>
              <a:rPr lang="en-US" b="1" dirty="0">
                <a:solidFill>
                  <a:srgbClr val="FF0000"/>
                </a:solidFill>
                <a:latin typeface="Dana" panose="020B0604020202020204" charset="-78"/>
                <a:cs typeface="Dana" panose="020B0604020202020204" charset="-78"/>
              </a:rPr>
              <a:t>A = (10 00001)	 a = (11 00001)</a:t>
            </a:r>
          </a:p>
          <a:p>
            <a:pPr algn="just">
              <a:buClr>
                <a:schemeClr val="accent3"/>
              </a:buClr>
            </a:pPr>
            <a:endParaRPr lang="en-US" b="1" dirty="0">
              <a:solidFill>
                <a:srgbClr val="FF0000"/>
              </a:solidFill>
              <a:latin typeface="Dana" panose="020B0604020202020204" charset="-78"/>
              <a:ea typeface="Fira Code"/>
              <a:cs typeface="Dana" panose="020B0604020202020204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b="1" dirty="0">
                <a:solidFill>
                  <a:srgbClr val="FF0000"/>
                </a:solidFill>
                <a:latin typeface="Dana" panose="020B0604020202020204" charset="-78"/>
                <a:ea typeface="Fira Code"/>
                <a:cs typeface="Dana" panose="020B0604020202020204" charset="-78"/>
                <a:sym typeface="Fira Code"/>
              </a:rPr>
              <a:t>		B = (10 00010)	 b = (11 00010)</a:t>
            </a:r>
          </a:p>
          <a:p>
            <a:pPr algn="just">
              <a:buClr>
                <a:schemeClr val="accent3"/>
              </a:buClr>
            </a:pPr>
            <a:endParaRPr lang="en-US" b="1" dirty="0">
              <a:solidFill>
                <a:srgbClr val="FF0000"/>
              </a:solidFill>
              <a:latin typeface="Dana" panose="020B0604020202020204" charset="-78"/>
              <a:ea typeface="Fira Code"/>
              <a:cs typeface="Dana" panose="020B0604020202020204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en-US" b="1" dirty="0">
                <a:solidFill>
                  <a:srgbClr val="FF0000"/>
                </a:solidFill>
                <a:latin typeface="Dana" panose="020B0604020202020204" charset="-78"/>
                <a:ea typeface="Fira Code"/>
                <a:cs typeface="Dana" panose="020B0604020202020204" charset="-78"/>
                <a:sym typeface="Fira Code"/>
              </a:rPr>
              <a:t>		C = (10 00011)	 c = (11 00011)</a:t>
            </a:r>
            <a:endParaRPr lang="fa-IR" b="1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59186F-287E-182E-863A-FB7E2A3E827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DB41CE82-4819-0FC0-E95A-D4516BFCE52C}"/>
              </a:ext>
            </a:extLst>
          </p:cNvPr>
          <p:cNvSpPr txBox="1">
            <a:spLocks/>
          </p:cNvSpPr>
          <p:nvPr/>
        </p:nvSpPr>
        <p:spPr>
          <a:xfrm>
            <a:off x="112918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ASCII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5B2B9EC4-08D1-A769-B259-B29D6B49256F}"/>
              </a:ext>
            </a:extLst>
          </p:cNvPr>
          <p:cNvSpPr/>
          <p:nvPr/>
        </p:nvSpPr>
        <p:spPr>
          <a:xfrm rot="5400000">
            <a:off x="3845381" y="2508539"/>
            <a:ext cx="96249" cy="504564"/>
          </a:xfrm>
          <a:prstGeom prst="leftBrac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6C055BF7-6D42-A3E7-B1E8-4135B6A8993B}"/>
              </a:ext>
            </a:extLst>
          </p:cNvPr>
          <p:cNvSpPr/>
          <p:nvPr/>
        </p:nvSpPr>
        <p:spPr>
          <a:xfrm rot="16200000">
            <a:off x="3399142" y="2964317"/>
            <a:ext cx="110705" cy="209071"/>
          </a:xfrm>
          <a:prstGeom prst="leftBrac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3656CBFA-4F29-EBE8-F5A5-E54645987F31}"/>
              </a:ext>
            </a:extLst>
          </p:cNvPr>
          <p:cNvSpPr/>
          <p:nvPr/>
        </p:nvSpPr>
        <p:spPr>
          <a:xfrm rot="5400000">
            <a:off x="5713626" y="2519993"/>
            <a:ext cx="96249" cy="504564"/>
          </a:xfrm>
          <a:prstGeom prst="leftBrac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A70EE633-175B-2F4A-77BE-DA2833220E2A}"/>
              </a:ext>
            </a:extLst>
          </p:cNvPr>
          <p:cNvSpPr/>
          <p:nvPr/>
        </p:nvSpPr>
        <p:spPr>
          <a:xfrm rot="16200000">
            <a:off x="5246778" y="2964317"/>
            <a:ext cx="110705" cy="209071"/>
          </a:xfrm>
          <a:prstGeom prst="leftBrac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80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CE61260-10DF-DA33-3205-1CA892D5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0073A3FA-9B4E-6120-DFCC-C5030765512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#4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D70807A7-E800-77B2-6DD0-06B33616AE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Q.c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CF193697-870A-0A21-872D-502EED023E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3400F-4D56-2A75-2446-21192BFE31AA}"/>
              </a:ext>
            </a:extLst>
          </p:cNvPr>
          <p:cNvSpPr txBox="1"/>
          <p:nvPr/>
        </p:nvSpPr>
        <p:spPr>
          <a:xfrm>
            <a:off x="949567" y="1050910"/>
            <a:ext cx="7993294" cy="301621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br>
              <a:rPr lang="en-US" dirty="0"/>
            </a:b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But what about the other characters?</a:t>
            </a:r>
          </a:p>
          <a:p>
            <a:pPr algn="just">
              <a:buClr>
                <a:schemeClr val="accent3"/>
              </a:buClr>
            </a:pPr>
            <a:b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Characters from the Persian language, Chinese, Arabic, even mathematical and musical symbols, and thousands of other characters. Is 7 bits, a part of which is already used for English characters, enough to define these characters</a:t>
            </a:r>
            <a:r>
              <a:rPr lang="en-US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?</a:t>
            </a:r>
          </a:p>
          <a:p>
            <a:pPr algn="just">
              <a:buClr>
                <a:schemeClr val="accent3"/>
              </a:buClr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fa-IR" sz="24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Answer?</a:t>
            </a:r>
            <a:endParaRPr lang="fa-IR" sz="2400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algn="just">
              <a:buClr>
                <a:schemeClr val="accent3"/>
              </a:buClr>
            </a:pPr>
            <a:endParaRPr lang="en-US" sz="2400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algn="just">
              <a:buClr>
                <a:schemeClr val="accent3"/>
              </a:buClr>
            </a:pPr>
            <a:r>
              <a:rPr lang="fa-IR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     </a:t>
            </a:r>
            <a:r>
              <a:rPr lang="en-US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Using more bits</a:t>
            </a:r>
            <a:endParaRPr lang="fa-IR" sz="1600" b="1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3EA73A-C074-84E3-CB8E-7EC2639CE49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C19A912F-B0F2-76F2-AF7F-B7102176E4EB}"/>
              </a:ext>
            </a:extLst>
          </p:cNvPr>
          <p:cNvSpPr txBox="1">
            <a:spLocks/>
          </p:cNvSpPr>
          <p:nvPr/>
        </p:nvSpPr>
        <p:spPr>
          <a:xfrm>
            <a:off x="949567" y="293770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Question?</a:t>
            </a:r>
          </a:p>
        </p:txBody>
      </p:sp>
    </p:spTree>
    <p:extLst>
      <p:ext uri="{BB962C8B-B14F-4D97-AF65-F5344CB8AC3E}">
        <p14:creationId xmlns:p14="http://schemas.microsoft.com/office/powerpoint/2010/main" val="3307228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C05130C-E068-2911-44D4-4F62B592F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79E64157-4957-EF0A-2E08-F053F44658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#5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EDF0D157-0FF3-FBC1-57ED-0291AB2155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6" y="91525"/>
            <a:ext cx="4978668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/>
            <a:r>
              <a:rPr lang="en-US" sz="1000" dirty="0">
                <a:cs typeface="B Nazanin" panose="00000400000000000000" pitchFamily="2" charset="-78"/>
              </a:rPr>
              <a:t>UTF-8</a:t>
            </a:r>
            <a:r>
              <a:rPr lang="en-US" sz="1000" dirty="0"/>
              <a:t>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99A9709F-AFE3-36AF-815D-4C5D4208FB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074B4-BFE2-BB09-05F5-922A46C0B91D}"/>
              </a:ext>
            </a:extLst>
          </p:cNvPr>
          <p:cNvSpPr txBox="1"/>
          <p:nvPr/>
        </p:nvSpPr>
        <p:spPr>
          <a:xfrm>
            <a:off x="-468267" y="1042077"/>
            <a:ext cx="7993294" cy="553998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br>
              <a:rPr lang="en-US" dirty="0"/>
            </a:br>
            <a:endParaRPr lang="fa-IR" sz="1600" b="1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D94132-B641-50BA-3A1A-F2182166BB7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FC8C8A7E-A728-C26F-B76D-9709958183FB}"/>
              </a:ext>
            </a:extLst>
          </p:cNvPr>
          <p:cNvSpPr txBox="1">
            <a:spLocks/>
          </p:cNvSpPr>
          <p:nvPr/>
        </p:nvSpPr>
        <p:spPr>
          <a:xfrm>
            <a:off x="1052308" y="512153"/>
            <a:ext cx="587779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 lang="fa-IR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UTF-8</a:t>
            </a:r>
            <a:endParaRPr lang="fa-IR" sz="2400" dirty="0">
              <a:solidFill>
                <a:schemeClr val="accent2"/>
              </a:solidFill>
            </a:endParaRPr>
          </a:p>
          <a:p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360A3D1-5169-379C-620C-24D266513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19" y="1128755"/>
            <a:ext cx="8075413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UTF-8 has a variable length of 1 to 4 bytes and can change depending on the number of bits required.</a:t>
            </a:r>
            <a:endParaRPr lang="fa-IR" alt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If only 7 bits are needed, a single byte is used where the most significant bit (MSB) is set to 0.</a:t>
            </a:r>
            <a:endParaRPr lang="fa-IR" alt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If more than 7 bits and up to 11 bits are required, two bytes are used: the first byte starts with </a:t>
            </a:r>
            <a:r>
              <a:rPr lang="en-US" altLang="en-US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110</a:t>
            </a: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(indicating it is two bytes long), and the second byte starts with </a:t>
            </a:r>
            <a:r>
              <a:rPr lang="en-US" altLang="en-US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.</a:t>
            </a:r>
            <a:endParaRPr lang="fa-IR" altLang="en-US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This pattern can extend up to 4 bytes, where the first byte starts with </a:t>
            </a:r>
            <a:r>
              <a:rPr lang="en-US" altLang="en-US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11110</a:t>
            </a: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and the remaining bytes start with </a:t>
            </a:r>
            <a:r>
              <a:rPr lang="en-US" altLang="en-US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alt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.</a:t>
            </a:r>
            <a:r>
              <a:rPr lang="en-US" alt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234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D4EBA6AB-E9D5-AF8A-481B-5801B5178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F9DED650-E819-A3DA-6A72-94DCD43430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#6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0E929927-604B-DF34-5CDC-7AF2249537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6" y="91525"/>
            <a:ext cx="4978668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/>
            <a:r>
              <a:rPr lang="en-US" sz="1000" dirty="0">
                <a:cs typeface="B Nazanin" panose="00000400000000000000" pitchFamily="2" charset="-78"/>
              </a:rPr>
              <a:t>UTF-8</a:t>
            </a:r>
            <a:r>
              <a:rPr lang="en-US" sz="1000" dirty="0"/>
              <a:t>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E9E5CE19-7D51-C58F-D41B-4FCF0D477B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D5E4D-640F-647D-63B9-9AFC92B3A081}"/>
              </a:ext>
            </a:extLst>
          </p:cNvPr>
          <p:cNvSpPr txBox="1"/>
          <p:nvPr/>
        </p:nvSpPr>
        <p:spPr>
          <a:xfrm>
            <a:off x="-468267" y="1042077"/>
            <a:ext cx="7993294" cy="553998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endParaRPr lang="en-US" dirty="0"/>
          </a:p>
          <a:p>
            <a:pPr>
              <a:buClr>
                <a:schemeClr val="accent3"/>
              </a:buClr>
            </a:pPr>
            <a:endParaRPr lang="fa-IR" sz="1600" b="1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6B4676-6B56-6061-F7F4-04CFB43E8D2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8BDDC61E-45F9-AD13-266D-348F38B6AA4F}"/>
              </a:ext>
            </a:extLst>
          </p:cNvPr>
          <p:cNvSpPr txBox="1">
            <a:spLocks/>
          </p:cNvSpPr>
          <p:nvPr/>
        </p:nvSpPr>
        <p:spPr>
          <a:xfrm>
            <a:off x="1070814" y="397247"/>
            <a:ext cx="587779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 lang="fa-IR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UTF-8</a:t>
            </a:r>
            <a:endParaRPr lang="fa-IR" sz="2400" dirty="0">
              <a:solidFill>
                <a:schemeClr val="accent2"/>
              </a:solidFill>
            </a:endParaRPr>
          </a:p>
          <a:p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4E7210F-B01C-8054-BFDE-985FF63E2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814" y="633935"/>
            <a:ext cx="8133119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Example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 byte code     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xxxxxxx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2 bytes code    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 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</a:t>
            </a: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bg1"/>
              </a:solidFill>
              <a:latin typeface="Dana" panose="020B0604020202020204" charset="-78"/>
              <a:ea typeface="Fira Code"/>
              <a:cs typeface="Dana" panose="020B0604020202020204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accent3"/>
                </a:solidFill>
                <a:latin typeface="Dana" panose="020B0604020202020204" charset="-78"/>
                <a:ea typeface="Fira Code"/>
                <a:cs typeface="Dana" panose="020B0604020202020204" charset="-78"/>
              </a:rPr>
              <a:t>3 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bytes</a:t>
            </a:r>
            <a:r>
              <a:rPr lang="en-US" altLang="en-US" sz="1600" dirty="0">
                <a:solidFill>
                  <a:schemeClr val="accent3"/>
                </a:solidFill>
                <a:latin typeface="Dana" panose="020B0604020202020204" charset="-78"/>
                <a:ea typeface="Fira Code"/>
                <a:cs typeface="Dana" panose="020B0604020202020204" charset="-78"/>
              </a:rPr>
              <a:t> 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code     </a:t>
            </a:r>
            <a:r>
              <a:rPr lang="en-US" sz="28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1110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 </a:t>
            </a:r>
            <a:r>
              <a:rPr lang="en-US" sz="24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</a:t>
            </a: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4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bytes code    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11110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 </a:t>
            </a:r>
            <a:r>
              <a:rPr lang="en-US" sz="2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 </a:t>
            </a:r>
            <a:r>
              <a:rPr lang="en-US" sz="24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10</a:t>
            </a:r>
            <a:r>
              <a:rPr lang="en-US" sz="1600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xxxxxx</a:t>
            </a: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accent3"/>
              </a:solidFill>
              <a:latin typeface="Dana" panose="020B0604020202020204" charset="-78"/>
              <a:ea typeface="Fira Code"/>
              <a:cs typeface="Dana" panose="020B0604020202020204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*</a:t>
            </a:r>
            <a:r>
              <a:rPr lang="en-US" sz="12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 You can also study the encoding of other systems</a:t>
            </a:r>
            <a:endParaRPr lang="en-US" altLang="en-US" sz="12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C044B17-76EC-1124-1BE3-1B1997ACF5CB}"/>
              </a:ext>
            </a:extLst>
          </p:cNvPr>
          <p:cNvSpPr/>
          <p:nvPr/>
        </p:nvSpPr>
        <p:spPr>
          <a:xfrm>
            <a:off x="2697621" y="1474456"/>
            <a:ext cx="434503" cy="3850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FCE8C2D-7B15-8F1A-3DB5-03A248B63318}"/>
              </a:ext>
            </a:extLst>
          </p:cNvPr>
          <p:cNvSpPr/>
          <p:nvPr/>
        </p:nvSpPr>
        <p:spPr>
          <a:xfrm>
            <a:off x="2697621" y="2101331"/>
            <a:ext cx="434503" cy="3850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1C03A65-795A-9165-DDC4-0887A7CC51F5}"/>
              </a:ext>
            </a:extLst>
          </p:cNvPr>
          <p:cNvSpPr/>
          <p:nvPr/>
        </p:nvSpPr>
        <p:spPr>
          <a:xfrm>
            <a:off x="2697621" y="2728969"/>
            <a:ext cx="434503" cy="3850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F0B4B31-CB24-AA7E-1FE0-3418CB0E92EA}"/>
              </a:ext>
            </a:extLst>
          </p:cNvPr>
          <p:cNvSpPr/>
          <p:nvPr/>
        </p:nvSpPr>
        <p:spPr>
          <a:xfrm>
            <a:off x="2697621" y="3354394"/>
            <a:ext cx="434503" cy="38506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4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D0D4419C-5E1A-E325-DC05-ABCD28535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C30085D9-9097-BFEA-993D-0130E868CC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#7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3DAB4C06-4A95-C905-0A3A-0C7D9431B39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task1.c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9C88217-DCE5-1776-E16D-39776B6E43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5CDA5-D42C-AB4E-87F1-9851D54CDCE9}"/>
              </a:ext>
            </a:extLst>
          </p:cNvPr>
          <p:cNvSpPr txBox="1"/>
          <p:nvPr/>
        </p:nvSpPr>
        <p:spPr>
          <a:xfrm>
            <a:off x="1005895" y="1071152"/>
            <a:ext cx="7993294" cy="255454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Write a program that first takes as input a number and an alphabetic character. Then shift the character by the given number. The program’s output should be the resulting character in both uppercase and lowercase forms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example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Input: 3,B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Output: </a:t>
            </a:r>
            <a:r>
              <a:rPr lang="en-US" altLang="en-US" sz="1600" dirty="0" err="1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E,e</a:t>
            </a:r>
            <a:endParaRPr lang="en-US" altLang="en-US" sz="16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D8B70A-E1B4-CD34-A2F5-BC4C6C78C38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4144F315-D665-4EBE-EBC2-8AAC24725DD3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b="1" dirty="0">
                <a:solidFill>
                  <a:schemeClr val="accent2"/>
                </a:solidFill>
              </a:rPr>
              <a:t>Task1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D246B0-FA51-EC27-76BA-372657687082}"/>
              </a:ext>
            </a:extLst>
          </p:cNvPr>
          <p:cNvSpPr txBox="1"/>
          <p:nvPr/>
        </p:nvSpPr>
        <p:spPr>
          <a:xfrm>
            <a:off x="1005895" y="3842656"/>
            <a:ext cx="75390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*</a:t>
            </a:r>
            <a:r>
              <a:rPr lang="en-US" sz="1100" dirty="0">
                <a:solidFill>
                  <a:srgbClr val="FF0000"/>
                </a:solidFill>
                <a:latin typeface="Fira Code"/>
                <a:ea typeface="Fira Code"/>
                <a:cs typeface="B Nazanin" panose="00000400000000000000" pitchFamily="2" charset="-78"/>
              </a:rPr>
              <a:t> If needed, you can refer to an online table that converts ASCII codes to characters</a:t>
            </a:r>
            <a:endParaRPr lang="en-US" altLang="en-US" sz="1100" dirty="0">
              <a:solidFill>
                <a:srgbClr val="FF0000"/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38389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43E5887-67FF-DA77-62D6-F039A251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01EBF75D-A6EC-7B33-50A3-13C11B4AF6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#8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C9B0D018-BE72-FDDD-ACF1-9F422941773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task</a:t>
            </a:r>
            <a:r>
              <a:rPr lang="fa-IR" sz="1000" dirty="0"/>
              <a:t>2</a:t>
            </a:r>
            <a:r>
              <a:rPr lang="en-US" sz="1000" dirty="0"/>
              <a:t>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142BA0F5-5E67-B1DA-444D-6AE6200E36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33C5F-46C9-C08B-8740-9464E4B23A43}"/>
              </a:ext>
            </a:extLst>
          </p:cNvPr>
          <p:cNvSpPr txBox="1"/>
          <p:nvPr/>
        </p:nvSpPr>
        <p:spPr>
          <a:xfrm>
            <a:off x="1005895" y="1071152"/>
            <a:ext cx="7993294" cy="206210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Write a program that takes a number of seconds as input and tells you how many days, hours, minutes, and seconds it corresponds to.</a:t>
            </a: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2. 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Now give </a:t>
            </a:r>
            <a:r>
              <a:rPr lang="en-US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9,876,543,210</a:t>
            </a:r>
            <a:r>
              <a:rPr lang="en-US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as the program’s input and check whether the output is correct or not</a:t>
            </a:r>
            <a:endParaRPr lang="en-US" alt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1D8422-C0F0-2EF7-6F15-8B84DE47530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3D771DA7-4C4F-4042-256D-9BBA1A9B6670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b="1" dirty="0">
                <a:solidFill>
                  <a:schemeClr val="accent2"/>
                </a:solidFill>
              </a:rPr>
              <a:t>Task</a:t>
            </a:r>
            <a:r>
              <a:rPr lang="fa-IR" sz="2400" b="1" dirty="0">
                <a:solidFill>
                  <a:schemeClr val="accent2"/>
                </a:solidFill>
              </a:rPr>
              <a:t>2</a:t>
            </a:r>
            <a:endParaRPr lang="en-US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113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39BD5BE6-EBBC-A5CF-1C8B-0A15ABBD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9A30F55D-8B81-0553-C9F1-68F8142A74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#9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3DAD92BB-0483-E570-1256-6B93CE771C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Random.c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851E2F98-84CD-22E3-CB67-20767B8DD2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D78410-1C39-FF2E-B4EE-FE3D8C06A6D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032486F5-9733-48A6-C7B9-F99F88512FA8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Random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94E9D7-E581-6C66-5DC5-B3B85EFD6A61}"/>
              </a:ext>
            </a:extLst>
          </p:cNvPr>
          <p:cNvSpPr txBox="1"/>
          <p:nvPr/>
        </p:nvSpPr>
        <p:spPr>
          <a:xfrm>
            <a:off x="1005892" y="887181"/>
            <a:ext cx="8014537" cy="131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Introduction to Random Numbers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Random numbers are numbers that are generated in such a way that each possible number has an equal chance of being chosen. They do not follow a specific pattern and are often used in computer programs to add variety or unpredictability.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0265A-3CCB-AE56-B3BB-7B439F0A8288}"/>
              </a:ext>
            </a:extLst>
          </p:cNvPr>
          <p:cNvSpPr txBox="1"/>
          <p:nvPr/>
        </p:nvSpPr>
        <p:spPr>
          <a:xfrm>
            <a:off x="1005892" y="2077377"/>
            <a:ext cx="8014537" cy="2115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Why Are Random Numbers Important?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Random numbers have many important uses in computer science, such as:</a:t>
            </a:r>
          </a:p>
          <a:p>
            <a:pPr algn="just">
              <a:buNone/>
            </a:pPr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/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Games: To make games fun and unpredictable (e.g., rolling dice, shuffling cards).</a:t>
            </a:r>
          </a:p>
          <a:p>
            <a:pPr algn="just"/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/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Simulations: To model real-world situations like weather, traffic, or population growth.</a:t>
            </a:r>
          </a:p>
          <a:p>
            <a:pPr algn="just"/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/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Security: To generate secure passwords or encryption keys that cannot be easily guessed.</a:t>
            </a:r>
          </a:p>
          <a:p>
            <a:pPr algn="just"/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algn="just"/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Testing: To check how a program performs under different, random conditions.</a:t>
            </a:r>
          </a:p>
        </p:txBody>
      </p:sp>
    </p:spTree>
    <p:extLst>
      <p:ext uri="{BB962C8B-B14F-4D97-AF65-F5344CB8AC3E}">
        <p14:creationId xmlns:p14="http://schemas.microsoft.com/office/powerpoint/2010/main" val="706914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C22885DA-DC93-583E-64EF-0743FA9F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3F7EF984-0413-B2FB-93E6-27339F7C9A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#10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BD3BF607-8B82-9444-4188-09454A28DA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Random.c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67CBBC45-1EA5-A65B-AA86-92DA3AB562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105BB8-4BEC-02E7-6F68-4B9C7D4AD75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AD307F8B-CC1C-C031-FF03-39554DEDDFF4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Random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3D955-FCBC-4157-EE75-7AB3855C4E28}"/>
              </a:ext>
            </a:extLst>
          </p:cNvPr>
          <p:cNvSpPr txBox="1"/>
          <p:nvPr/>
        </p:nvSpPr>
        <p:spPr>
          <a:xfrm>
            <a:off x="951471" y="848060"/>
            <a:ext cx="8126667" cy="1247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How Are Random Numbers Generated in Programming?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In programming, we usually use functions or libraries to generate what we call pseudo-random numbers. These are numbers that appear random but are actually generated using mathematical formulas. They are not truly random, but they are good enough for most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423286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C6AD2BA-8BD7-7334-5544-D5884DF1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6444C275-566D-81C3-3BDF-856328C1D3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#11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7BE410B4-A6E9-E97D-677F-E1812C8DA5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Task3.c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31A6A6E9-5C46-3DB0-8CBF-8C2CAA79F3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4739D1-9C29-37FB-0B09-F2131D9C367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814;p39">
            <a:extLst>
              <a:ext uri="{FF2B5EF4-FFF2-40B4-BE49-F238E27FC236}">
                <a16:creationId xmlns:a16="http://schemas.microsoft.com/office/drawing/2014/main" id="{1CFDB2B3-9542-A96D-04A9-73EA449002A2}"/>
              </a:ext>
            </a:extLst>
          </p:cNvPr>
          <p:cNvSpPr txBox="1">
            <a:spLocks/>
          </p:cNvSpPr>
          <p:nvPr/>
        </p:nvSpPr>
        <p:spPr>
          <a:xfrm>
            <a:off x="1005895" y="270175"/>
            <a:ext cx="5877790" cy="97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2400" dirty="0">
                <a:solidFill>
                  <a:schemeClr val="accent2"/>
                </a:solidFill>
              </a:rPr>
              <a:t>Task3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BF507-4CFA-2FCE-208D-567B2042577B}"/>
              </a:ext>
            </a:extLst>
          </p:cNvPr>
          <p:cNvSpPr txBox="1"/>
          <p:nvPr/>
        </p:nvSpPr>
        <p:spPr>
          <a:xfrm>
            <a:off x="1149230" y="1191390"/>
            <a:ext cx="7606764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1. Write a program that generates 5 random numbers every time it runs?</a:t>
            </a:r>
          </a:p>
          <a:p>
            <a:pPr marL="228600" indent="-228600">
              <a:buAutoNum type="arabicPeriod"/>
            </a:pPr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2. </a:t>
            </a:r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Why does the output become the same every time the program runs?</a:t>
            </a:r>
            <a:endParaRPr lang="fa-IR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endParaRPr lang="en-US" alt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28600" indent="-228600">
              <a:buAutoNum type="arabicPeriod"/>
            </a:pPr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3. Use </a:t>
            </a:r>
            <a:r>
              <a:rPr lang="en-US" sz="1100" b="1" dirty="0" err="1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srand</a:t>
            </a:r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and run the program again.</a:t>
            </a:r>
          </a:p>
          <a:p>
            <a:endParaRPr lang="fa-IR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endParaRPr lang="fa-IR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4. </a:t>
            </a:r>
            <a:r>
              <a:rPr lang="en-US" alt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Write a program that generates a random number between 0 and 100.</a:t>
            </a:r>
          </a:p>
          <a:p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pPr marL="228600" indent="-228600">
              <a:buAutoNum type="arabicPeriod"/>
            </a:pPr>
            <a:endParaRPr lang="en-US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r>
              <a:rPr lang="en-US" sz="11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</a:t>
            </a:r>
            <a:endParaRPr lang="fa-IR" sz="11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60007682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787</Words>
  <Application>Microsoft Office PowerPoint</Application>
  <PresentationFormat>On-screen Show (16:9)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B Nazanin</vt:lpstr>
      <vt:lpstr>Lalezar</vt:lpstr>
      <vt:lpstr>Dana</vt:lpstr>
      <vt:lpstr>Fira Code</vt:lpstr>
      <vt:lpstr>Arial</vt:lpstr>
      <vt:lpstr>Programming Language Workshop for Beginners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shayan naghizadeh</cp:lastModifiedBy>
  <cp:revision>22</cp:revision>
  <dcterms:modified xsi:type="dcterms:W3CDTF">2025-07-24T08:18:49Z</dcterms:modified>
</cp:coreProperties>
</file>